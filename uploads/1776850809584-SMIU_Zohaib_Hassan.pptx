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media/image6.svg" ContentType="image/svg"/>
  <Override PartName="/ppt/comments/comment1.xml" ContentType="application/vnd.openxmlformats-officedocument.presentationml.comments+xml"/>
  <Override PartName="/ppt/media/image9.svg" ContentType="image/svg"/>
  <Override PartName="/ppt/notesSlides/notesSlide1.xml" ContentType="application/vnd.openxmlformats-officedocument.presentationml.notesSlide+xml"/>
  <Override PartName="/ppt/comments/comment2.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71" r:id="rId2"/>
    <p:sldMasterId id="2147483683" r:id="rId3"/>
    <p:sldMasterId id="2147483695" r:id="rId4"/>
    <p:sldMasterId id="2147483707" r:id="rId5"/>
    <p:sldMasterId id="2147483719" r:id="rId6"/>
    <p:sldMasterId id="2147483731" r:id="rId7"/>
    <p:sldMasterId id="2147483744" r:id="rId8"/>
  </p:sldMasterIdLst>
  <p:notesMasterIdLst>
    <p:notesMasterId r:id="rId32"/>
  </p:notesMasterIdLst>
  <p:sldIdLst>
    <p:sldId id="259" r:id="rId9"/>
    <p:sldId id="262" r:id="rId10"/>
    <p:sldId id="265" r:id="rId11"/>
    <p:sldId id="268" r:id="rId12"/>
    <p:sldId id="271" r:id="rId13"/>
    <p:sldId id="274" r:id="rId14"/>
    <p:sldId id="277" r:id="rId15"/>
    <p:sldId id="280" r:id="rId16"/>
    <p:sldId id="317" r:id="rId17"/>
    <p:sldId id="318" r:id="rId18"/>
    <p:sldId id="319" r:id="rId19"/>
    <p:sldId id="283" r:id="rId20"/>
    <p:sldId id="286" r:id="rId21"/>
    <p:sldId id="310" r:id="rId22"/>
    <p:sldId id="313" r:id="rId23"/>
    <p:sldId id="316" r:id="rId24"/>
    <p:sldId id="289" r:id="rId25"/>
    <p:sldId id="292" r:id="rId26"/>
    <p:sldId id="295" r:id="rId27"/>
    <p:sldId id="298" r:id="rId28"/>
    <p:sldId id="301" r:id="rId29"/>
    <p:sldId id="304" r:id="rId30"/>
    <p:sldId id="307" r:id="rId31"/>
  </p:sldIdLst>
  <p:sldSz cx="18288000" cy="10287000"/>
  <p:notesSz cx="6858000" cy="9144000"/>
  <p:embeddedFontLst>
    <p:embeddedFont>
      <p:font typeface="Aprila Bold" panose="020B0604020202020204" charset="0"/>
      <p:regular r:id="rId33"/>
    </p:embeddedFont>
    <p:embeddedFont>
      <p:font typeface="Arial Black" panose="020B0A04020102020204" pitchFamily="34" charset="0"/>
      <p:bold r:id="rId34"/>
    </p:embeddedFont>
    <p:embeddedFont>
      <p:font typeface="Book Antiqua" panose="02040602050305030304" pitchFamily="18" charset="0"/>
      <p:regular r:id="rId35"/>
      <p:bold r:id="rId36"/>
      <p:italic r:id="rId37"/>
      <p:boldItalic r:id="rId38"/>
    </p:embeddedFont>
    <p:embeddedFont>
      <p:font typeface="Calibri" panose="020F0502020204030204" pitchFamily="34" charset="0"/>
      <p:regular r:id="rId39"/>
      <p:bold r:id="rId40"/>
      <p:italic r:id="rId41"/>
      <p:boldItalic r:id="rId42"/>
    </p:embeddedFont>
    <p:embeddedFont>
      <p:font typeface="Livvic" panose="020B0604020202020204" charset="0"/>
      <p:regular r:id="rId43"/>
    </p:embeddedFont>
  </p:embeddedFontLst>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rachi Region" initials="KR"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9" autoAdjust="0"/>
    <p:restoredTop sz="0"/>
  </p:normalViewPr>
  <p:slideViewPr>
    <p:cSldViewPr>
      <p:cViewPr>
        <p:scale>
          <a:sx n="50" d="100"/>
          <a:sy n="50" d="100"/>
        </p:scale>
        <p:origin x="240" y="-330"/>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font" Target="fonts/font7.fntdata"/><Relationship Id="rId21" Type="http://schemas.openxmlformats.org/officeDocument/2006/relationships/slide" Target="slides/slide13.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font" Target="fonts/font4.fntdata"/><Relationship Id="rId49"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4-20T21:31:07.738" idx="1">
    <p:pos x="10" y="10"/>
    <p:text/>
    <p:extLst>
      <p:ext uri="{C676402C-5697-4E1C-873F-D02D1690AC5C}">
        <p15:threadingInfo xmlns:p15="http://schemas.microsoft.com/office/powerpoint/2012/main" timeZoneBias="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6-04-20T21:31:07.738" idx="2">
    <p:pos x="-2117" y="926"/>
    <p:text/>
    <p:extLst>
      <p:ext uri="{C676402C-5697-4E1C-873F-D02D1690AC5C}">
        <p15:threadingInfo xmlns:p15="http://schemas.microsoft.com/office/powerpoint/2012/main" timeZoneBias="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6-04-20T21:31:07.738" idx="3">
    <p:pos x="-2117" y="926"/>
    <p:text/>
    <p:extLst>
      <p:ext uri="{C676402C-5697-4E1C-873F-D02D1690AC5C}">
        <p15:threadingInfo xmlns:p15="http://schemas.microsoft.com/office/powerpoint/2012/main" timeZoneBias="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6271F8-D190-4937-89D1-46AE7D20AC52}"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40516-8331-45F5-8BE8-9C39D4D6F89B}" type="slidenum">
              <a:rPr lang="en-US" smtClean="0"/>
              <a:t>‹#›</a:t>
            </a:fld>
            <a:endParaRPr lang="en-US"/>
          </a:p>
        </p:txBody>
      </p:sp>
    </p:spTree>
    <p:extLst>
      <p:ext uri="{BB962C8B-B14F-4D97-AF65-F5344CB8AC3E}">
        <p14:creationId xmlns:p14="http://schemas.microsoft.com/office/powerpoint/2010/main" val="1994127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940516-8331-45F5-8BE8-9C39D4D6F89B}" type="slidenum">
              <a:rPr lang="en-US" smtClean="0"/>
              <a:t>13</a:t>
            </a:fld>
            <a:endParaRPr lang="en-US"/>
          </a:p>
        </p:txBody>
      </p:sp>
    </p:spTree>
    <p:extLst>
      <p:ext uri="{BB962C8B-B14F-4D97-AF65-F5344CB8AC3E}">
        <p14:creationId xmlns:p14="http://schemas.microsoft.com/office/powerpoint/2010/main" val="3251089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940516-8331-45F5-8BE8-9C39D4D6F89B}" type="slidenum">
              <a:rPr lang="en-US" smtClean="0"/>
              <a:t>14</a:t>
            </a:fld>
            <a:endParaRPr lang="en-US"/>
          </a:p>
        </p:txBody>
      </p:sp>
    </p:spTree>
    <p:extLst>
      <p:ext uri="{BB962C8B-B14F-4D97-AF65-F5344CB8AC3E}">
        <p14:creationId xmlns:p14="http://schemas.microsoft.com/office/powerpoint/2010/main" val="564491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940516-8331-45F5-8BE8-9C39D4D6F89B}" type="slidenum">
              <a:rPr lang="en-US" smtClean="0"/>
              <a:t>15</a:t>
            </a:fld>
            <a:endParaRPr lang="en-US"/>
          </a:p>
        </p:txBody>
      </p:sp>
    </p:spTree>
    <p:extLst>
      <p:ext uri="{BB962C8B-B14F-4D97-AF65-F5344CB8AC3E}">
        <p14:creationId xmlns:p14="http://schemas.microsoft.com/office/powerpoint/2010/main" val="3251089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68485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DF1F8DDA-3DF1-468F-B3C8-CB7151740F12}" type="datetimeFigureOut">
              <a:rPr lang="en-US" smtClean="0"/>
              <a:t>4/22/2026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145772EF-F57A-4628-82F2-775F5B6661D9}" type="datetimeFigureOut">
              <a:rPr lang="en-US" smtClean="0"/>
              <a:t>4/22/2026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1BC48F3E-E225-4F16-B28D-5170FCEF7947}" type="datetimeFigureOut">
              <a:rPr lang="en-US" smtClean="0"/>
              <a:t>4/22/2026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8B9F3BB4-652A-4CFE-951B-D7EF936B53F6}" type="datetimeFigureOut">
              <a:rPr lang="en-US" smtClean="0"/>
              <a:t>4/22/2026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9E048DEB-3E64-4409-8ACB-B463018661E9}" type="datetimeFigureOut">
              <a:rPr lang="en-US" smtClean="0"/>
              <a:t>4/22/2026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540C8461-47DE-4DC6-B711-EB9CB7928D55}" type="datetimeFigureOut">
              <a:rPr lang="en-US" smtClean="0"/>
              <a:t>4/22/2026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A83E868F-0BA5-4367-B519-EB393F2A7C43}" type="datetimeFigureOut">
              <a:rPr lang="en-US" smtClean="0"/>
              <a:t>4/22/2026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535196F5-FD47-4A9A-9733-9C087C252080}" type="datetimeFigureOut">
              <a:rPr lang="en-US" smtClean="0"/>
              <a:t>4/22/2026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F4630A20-A597-4175-92E1-44B81BFAAADE}" type="datetimeFigureOut">
              <a:rPr lang="en-US" smtClean="0"/>
              <a:t>4/22/2026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63A7A4C4-7A37-4DD7-A6B5-7FA239324E51}" type="datetimeFigureOut">
              <a:rPr lang="en-US" smtClean="0"/>
              <a:t>4/22/2026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C4B05C8C-3923-4378-A8AA-868A652DE162}" type="datetimeFigureOut">
              <a:rPr lang="en-US" smtClean="0"/>
              <a:t>4/22/2026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4"/>
            <a:ext cx="7772400" cy="1470024"/>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2" y="4406900"/>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2" y="2906712"/>
            <a:ext cx="7772400" cy="150018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3" y="1535112"/>
            <a:ext cx="404177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3" y="2174874"/>
            <a:ext cx="404177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4" cy="46910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6"/>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9913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8.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D8BD707-D9CF-40AE-B4C6-C98DA3205C09}"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D8BD707-D9CF-40AE-B4C6-C98DA3205C09}"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D8BD707-D9CF-40AE-B4C6-C98DA3205C09}"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D8BD707-D9CF-40AE-B4C6-C98DA3205C09}"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D8BD707-D9CF-40AE-B4C6-C98DA3205C09}"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D8BD707-D9CF-40AE-B4C6-C98DA3205C09}"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D8BD707-D9CF-40AE-B4C6-C98DA3205C09}"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p:cNvSpPr>
            <a:spLocks noGrp="1"/>
          </p:cNvSpPr>
          <p:nvPr>
            <p:ph type="sldNum" sz="quarter" idx="4"/>
          </p:nvPr>
        </p:nvSpPr>
        <p:spPr>
          <a:xfrm>
            <a:off x="6553200" y="6356350"/>
            <a:ext cx="2133600" cy="36512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8.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4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9.xml"/></Relationships>
</file>

<file path=ppt/slides/_rels/slide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5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2.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3.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3.xml"/><Relationship Id="rId6" Type="http://schemas.openxmlformats.org/officeDocument/2006/relationships/image" Target="../media/image5.png"/><Relationship Id="rId5" Type="http://schemas.openxmlformats.org/officeDocument/2006/relationships/image" Target="../media/image9.sv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jpeg"/><Relationship Id="rId7" Type="http://schemas.openxmlformats.org/officeDocument/2006/relationships/image" Target="../media/image9.svg"/><Relationship Id="rId2" Type="http://schemas.openxmlformats.org/officeDocument/2006/relationships/image" Target="../media/image18.jpeg"/><Relationship Id="rId1" Type="http://schemas.openxmlformats.org/officeDocument/2006/relationships/slideLayout" Target="../slideLayouts/slideLayout73.xml"/><Relationship Id="rId6" Type="http://schemas.openxmlformats.org/officeDocument/2006/relationships/image" Target="../media/image8.png"/><Relationship Id="rId5" Type="http://schemas.openxmlformats.org/officeDocument/2006/relationships/image" Target="../media/image21.jpeg"/><Relationship Id="rId4" Type="http://schemas.openxmlformats.org/officeDocument/2006/relationships/image" Target="../media/image20.jpeg"/><Relationship Id="rId9" Type="http://schemas.openxmlformats.org/officeDocument/2006/relationships/image" Target="../media/image6.sv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2.jpeg"/><Relationship Id="rId1" Type="http://schemas.openxmlformats.org/officeDocument/2006/relationships/slideLayout" Target="../slideLayouts/slideLayout73.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TextBox 2"/>
          <p:cNvSpPr txBox="1"/>
          <p:nvPr/>
        </p:nvSpPr>
        <p:spPr>
          <a:xfrm>
            <a:off x="-418995" y="1702866"/>
            <a:ext cx="18954641" cy="2269852"/>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3597"/>
              </a:lnSpc>
            </a:pPr>
            <a:r>
              <a:rPr lang="en-US" sz="6000" b="1" i="1">
                <a:solidFill>
                  <a:srgbClr val="392503"/>
                </a:solidFill>
                <a:latin typeface="Aprila Bold"/>
                <a:ea typeface="Aprila Bold"/>
                <a:cs typeface="Aprila Bold"/>
                <a:sym typeface="Aprila Bold"/>
              </a:rPr>
              <a:t>7 HABITS OF HIGHLY EFFECTIVE PEOPLE</a:t>
            </a:r>
          </a:p>
        </p:txBody>
      </p:sp>
      <p:sp>
        <p:nvSpPr>
          <p:cNvPr id="3" name="Freeform 3"/>
          <p:cNvSpPr/>
          <p:nvPr/>
        </p:nvSpPr>
        <p:spPr>
          <a:xfrm>
            <a:off x="-42837" y="4189929"/>
            <a:ext cx="1914474" cy="1716534"/>
          </a:xfrm>
          <a:custGeom>
            <a:avLst/>
            <a:gdLst/>
            <a:ahLst/>
            <a:cxnLst/>
            <a:rect l="l" t="t" r="r" b="b"/>
            <a:pathLst>
              <a:path w="2576528" h="2576528">
                <a:moveTo>
                  <a:pt x="0" y="0"/>
                </a:moveTo>
                <a:lnTo>
                  <a:pt x="2576527" y="0"/>
                </a:lnTo>
                <a:lnTo>
                  <a:pt x="2576527" y="2576527"/>
                </a:lnTo>
                <a:lnTo>
                  <a:pt x="0" y="25765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 name="Freeform 4"/>
          <p:cNvSpPr/>
          <p:nvPr/>
        </p:nvSpPr>
        <p:spPr>
          <a:xfrm>
            <a:off x="1986768" y="2202466"/>
            <a:ext cx="1028025" cy="1028025"/>
          </a:xfrm>
          <a:custGeom>
            <a:avLst/>
            <a:gdLst/>
            <a:ahLst/>
            <a:cxnLst/>
            <a:rect l="l" t="t" r="r" b="b"/>
            <a:pathLst>
              <a:path w="1028025" h="1028025">
                <a:moveTo>
                  <a:pt x="0" y="0"/>
                </a:moveTo>
                <a:lnTo>
                  <a:pt x="1028025" y="0"/>
                </a:lnTo>
                <a:lnTo>
                  <a:pt x="1028025" y="1028025"/>
                </a:lnTo>
                <a:lnTo>
                  <a:pt x="0" y="1028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5" name="Group 5"/>
          <p:cNvGrpSpPr/>
          <p:nvPr/>
        </p:nvGrpSpPr>
        <p:grpSpPr>
          <a:xfrm>
            <a:off x="6340655" y="1392285"/>
            <a:ext cx="5841939" cy="1265463"/>
            <a:chOff x="0" y="0"/>
            <a:chExt cx="1802910" cy="406400"/>
          </a:xfrm>
        </p:grpSpPr>
        <p:sp>
          <p:nvSpPr>
            <p:cNvPr id="6" name="Freeform 6"/>
            <p:cNvSpPr/>
            <p:nvPr/>
          </p:nvSpPr>
          <p:spPr>
            <a:xfrm>
              <a:off x="0" y="0"/>
              <a:ext cx="1802910" cy="406400"/>
            </a:xfrm>
            <a:custGeom>
              <a:avLst/>
              <a:gdLst/>
              <a:ahLst/>
              <a:cxnLst/>
              <a:rect l="l" t="t" r="r" b="b"/>
              <a:pathLst>
                <a:path w="1802910" h="406400">
                  <a:moveTo>
                    <a:pt x="1599710" y="0"/>
                  </a:moveTo>
                  <a:cubicBezTo>
                    <a:pt x="1711934" y="0"/>
                    <a:pt x="1802910" y="90976"/>
                    <a:pt x="1802910" y="203200"/>
                  </a:cubicBezTo>
                  <a:cubicBezTo>
                    <a:pt x="1802910" y="315424"/>
                    <a:pt x="1711934" y="406400"/>
                    <a:pt x="1599710" y="406400"/>
                  </a:cubicBezTo>
                  <a:lnTo>
                    <a:pt x="203200" y="406400"/>
                  </a:lnTo>
                  <a:cubicBezTo>
                    <a:pt x="90976" y="406400"/>
                    <a:pt x="0" y="315424"/>
                    <a:pt x="0" y="203200"/>
                  </a:cubicBezTo>
                  <a:cubicBezTo>
                    <a:pt x="0" y="90976"/>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 name="TextBox 7"/>
            <p:cNvSpPr txBox="1"/>
            <p:nvPr/>
          </p:nvSpPr>
          <p:spPr>
            <a:xfrm>
              <a:off x="0" y="-38100"/>
              <a:ext cx="1802910" cy="4445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spcBef>
                  <a:spcPct val="0"/>
                </a:spcBef>
              </a:pPr>
              <a:endParaRPr/>
            </a:p>
          </p:txBody>
        </p:sp>
      </p:grpSp>
      <p:grpSp>
        <p:nvGrpSpPr>
          <p:cNvPr id="13" name="Group 13"/>
          <p:cNvGrpSpPr/>
          <p:nvPr/>
        </p:nvGrpSpPr>
        <p:grpSpPr>
          <a:xfrm>
            <a:off x="0" y="-1786777"/>
            <a:ext cx="18288000" cy="2887820"/>
            <a:chOff x="0" y="0"/>
            <a:chExt cx="24384000" cy="3850426"/>
          </a:xfrm>
        </p:grpSpPr>
        <p:grpSp>
          <p:nvGrpSpPr>
            <p:cNvPr id="14" name="Group 14"/>
            <p:cNvGrpSpPr/>
            <p:nvPr/>
          </p:nvGrpSpPr>
          <p:grpSpPr>
            <a:xfrm rot="-5400000">
              <a:off x="1732387" y="706013"/>
              <a:ext cx="3850426" cy="2438400"/>
              <a:chOff x="0" y="0"/>
              <a:chExt cx="1284254" cy="813293"/>
            </a:xfrm>
          </p:grpSpPr>
          <p:sp>
            <p:nvSpPr>
              <p:cNvPr id="15" name="Freeform 1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 name="TextBox 1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7" name="Group 17"/>
            <p:cNvGrpSpPr/>
            <p:nvPr/>
          </p:nvGrpSpPr>
          <p:grpSpPr>
            <a:xfrm rot="-5400000">
              <a:off x="4170787" y="706013"/>
              <a:ext cx="3850426" cy="2438400"/>
              <a:chOff x="0" y="0"/>
              <a:chExt cx="1284254" cy="813293"/>
            </a:xfrm>
          </p:grpSpPr>
          <p:sp>
            <p:nvSpPr>
              <p:cNvPr id="18" name="Freeform 1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 name="TextBox 1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0" name="Group 20"/>
            <p:cNvGrpSpPr/>
            <p:nvPr/>
          </p:nvGrpSpPr>
          <p:grpSpPr>
            <a:xfrm rot="-5400000">
              <a:off x="6609187" y="706013"/>
              <a:ext cx="3850426" cy="2438400"/>
              <a:chOff x="0" y="0"/>
              <a:chExt cx="1284254" cy="813293"/>
            </a:xfrm>
          </p:grpSpPr>
          <p:sp>
            <p:nvSpPr>
              <p:cNvPr id="21" name="Freeform 2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 name="TextBox 2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3" name="Group 23"/>
            <p:cNvGrpSpPr/>
            <p:nvPr/>
          </p:nvGrpSpPr>
          <p:grpSpPr>
            <a:xfrm rot="-5400000">
              <a:off x="-706013" y="706013"/>
              <a:ext cx="3850426" cy="2438400"/>
              <a:chOff x="0" y="0"/>
              <a:chExt cx="1284254" cy="813293"/>
            </a:xfrm>
          </p:grpSpPr>
          <p:sp>
            <p:nvSpPr>
              <p:cNvPr id="24" name="Freeform 2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 name="TextBox 2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6" name="Group 26"/>
            <p:cNvGrpSpPr/>
            <p:nvPr/>
          </p:nvGrpSpPr>
          <p:grpSpPr>
            <a:xfrm rot="-5400000">
              <a:off x="9047587" y="706013"/>
              <a:ext cx="3850426" cy="2438400"/>
              <a:chOff x="0" y="0"/>
              <a:chExt cx="1284254" cy="813293"/>
            </a:xfrm>
          </p:grpSpPr>
          <p:sp>
            <p:nvSpPr>
              <p:cNvPr id="27" name="Freeform 2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TextBox 2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9" name="Group 29"/>
            <p:cNvGrpSpPr/>
            <p:nvPr/>
          </p:nvGrpSpPr>
          <p:grpSpPr>
            <a:xfrm rot="-5400000">
              <a:off x="11485987" y="706013"/>
              <a:ext cx="3850426" cy="2438400"/>
              <a:chOff x="0" y="0"/>
              <a:chExt cx="1284254" cy="813293"/>
            </a:xfrm>
          </p:grpSpPr>
          <p:sp>
            <p:nvSpPr>
              <p:cNvPr id="30" name="Freeform 3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 name="TextBox 3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2" name="Group 32"/>
            <p:cNvGrpSpPr/>
            <p:nvPr/>
          </p:nvGrpSpPr>
          <p:grpSpPr>
            <a:xfrm rot="-5400000">
              <a:off x="13924387" y="706013"/>
              <a:ext cx="3850426" cy="2438400"/>
              <a:chOff x="0" y="0"/>
              <a:chExt cx="1284254" cy="813293"/>
            </a:xfrm>
          </p:grpSpPr>
          <p:sp>
            <p:nvSpPr>
              <p:cNvPr id="33" name="Freeform 3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TextBox 3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5" name="Group 35"/>
            <p:cNvGrpSpPr/>
            <p:nvPr/>
          </p:nvGrpSpPr>
          <p:grpSpPr>
            <a:xfrm rot="-5400000">
              <a:off x="16362787" y="706013"/>
              <a:ext cx="3850426" cy="2438400"/>
              <a:chOff x="0" y="0"/>
              <a:chExt cx="1284254" cy="813293"/>
            </a:xfrm>
          </p:grpSpPr>
          <p:sp>
            <p:nvSpPr>
              <p:cNvPr id="36" name="Freeform 3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TextBox 3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8" name="Group 38"/>
            <p:cNvGrpSpPr/>
            <p:nvPr/>
          </p:nvGrpSpPr>
          <p:grpSpPr>
            <a:xfrm rot="-5400000">
              <a:off x="18801187" y="706013"/>
              <a:ext cx="3850426" cy="2438400"/>
              <a:chOff x="0" y="0"/>
              <a:chExt cx="1284254" cy="813293"/>
            </a:xfrm>
          </p:grpSpPr>
          <p:sp>
            <p:nvSpPr>
              <p:cNvPr id="39" name="Freeform 3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Box 4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1" name="Group 41"/>
            <p:cNvGrpSpPr/>
            <p:nvPr/>
          </p:nvGrpSpPr>
          <p:grpSpPr>
            <a:xfrm rot="-5400000">
              <a:off x="21239587" y="706013"/>
              <a:ext cx="3850426" cy="2438400"/>
              <a:chOff x="0" y="0"/>
              <a:chExt cx="1284254" cy="813293"/>
            </a:xfrm>
          </p:grpSpPr>
          <p:sp>
            <p:nvSpPr>
              <p:cNvPr id="42" name="Freeform 4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3" name="TextBox 4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grpSp>
        <p:nvGrpSpPr>
          <p:cNvPr id="44" name="Group 44"/>
          <p:cNvGrpSpPr/>
          <p:nvPr/>
        </p:nvGrpSpPr>
        <p:grpSpPr>
          <a:xfrm>
            <a:off x="0" y="9258300"/>
            <a:ext cx="18288000" cy="2887820"/>
            <a:chOff x="0" y="0"/>
            <a:chExt cx="24384000" cy="3850426"/>
          </a:xfrm>
        </p:grpSpPr>
        <p:grpSp>
          <p:nvGrpSpPr>
            <p:cNvPr id="45" name="Group 45"/>
            <p:cNvGrpSpPr/>
            <p:nvPr/>
          </p:nvGrpSpPr>
          <p:grpSpPr>
            <a:xfrm rot="-5400000">
              <a:off x="1732387" y="706013"/>
              <a:ext cx="3850426" cy="2438400"/>
              <a:chOff x="0" y="0"/>
              <a:chExt cx="1284254" cy="813293"/>
            </a:xfrm>
          </p:grpSpPr>
          <p:sp>
            <p:nvSpPr>
              <p:cNvPr id="46" name="Freeform 4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7" name="TextBox 4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8" name="Group 48"/>
            <p:cNvGrpSpPr/>
            <p:nvPr/>
          </p:nvGrpSpPr>
          <p:grpSpPr>
            <a:xfrm rot="-5400000">
              <a:off x="4170787" y="706013"/>
              <a:ext cx="3850426" cy="2438400"/>
              <a:chOff x="0" y="0"/>
              <a:chExt cx="1284254" cy="813293"/>
            </a:xfrm>
          </p:grpSpPr>
          <p:sp>
            <p:nvSpPr>
              <p:cNvPr id="49" name="Freeform 4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0" name="TextBox 5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1" name="Group 51"/>
            <p:cNvGrpSpPr/>
            <p:nvPr/>
          </p:nvGrpSpPr>
          <p:grpSpPr>
            <a:xfrm rot="-5400000">
              <a:off x="6609187" y="706013"/>
              <a:ext cx="3850426" cy="2438400"/>
              <a:chOff x="0" y="0"/>
              <a:chExt cx="1284254" cy="813293"/>
            </a:xfrm>
          </p:grpSpPr>
          <p:sp>
            <p:nvSpPr>
              <p:cNvPr id="52" name="Freeform 5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3" name="TextBox 5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4" name="Group 54"/>
            <p:cNvGrpSpPr/>
            <p:nvPr/>
          </p:nvGrpSpPr>
          <p:grpSpPr>
            <a:xfrm rot="-5400000">
              <a:off x="-706013" y="706013"/>
              <a:ext cx="3850426" cy="2438400"/>
              <a:chOff x="0" y="0"/>
              <a:chExt cx="1284254" cy="813293"/>
            </a:xfrm>
          </p:grpSpPr>
          <p:sp>
            <p:nvSpPr>
              <p:cNvPr id="55" name="Freeform 5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6" name="TextBox 5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7" name="Group 57"/>
            <p:cNvGrpSpPr/>
            <p:nvPr/>
          </p:nvGrpSpPr>
          <p:grpSpPr>
            <a:xfrm rot="-5400000">
              <a:off x="9047587" y="706013"/>
              <a:ext cx="3850426" cy="2438400"/>
              <a:chOff x="0" y="0"/>
              <a:chExt cx="1284254" cy="813293"/>
            </a:xfrm>
          </p:grpSpPr>
          <p:sp>
            <p:nvSpPr>
              <p:cNvPr id="58" name="Freeform 5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9" name="TextBox 5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0" name="Group 60"/>
            <p:cNvGrpSpPr/>
            <p:nvPr/>
          </p:nvGrpSpPr>
          <p:grpSpPr>
            <a:xfrm rot="-5400000">
              <a:off x="11485987" y="706013"/>
              <a:ext cx="3850426" cy="2438400"/>
              <a:chOff x="0" y="0"/>
              <a:chExt cx="1284254" cy="813293"/>
            </a:xfrm>
          </p:grpSpPr>
          <p:sp>
            <p:nvSpPr>
              <p:cNvPr id="61" name="Freeform 6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2" name="TextBox 6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3" name="Group 63"/>
            <p:cNvGrpSpPr/>
            <p:nvPr/>
          </p:nvGrpSpPr>
          <p:grpSpPr>
            <a:xfrm rot="-5400000">
              <a:off x="13924387" y="706013"/>
              <a:ext cx="3850426" cy="2438400"/>
              <a:chOff x="0" y="0"/>
              <a:chExt cx="1284254" cy="813293"/>
            </a:xfrm>
          </p:grpSpPr>
          <p:sp>
            <p:nvSpPr>
              <p:cNvPr id="64" name="Freeform 6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5" name="TextBox 6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6" name="Group 66"/>
            <p:cNvGrpSpPr/>
            <p:nvPr/>
          </p:nvGrpSpPr>
          <p:grpSpPr>
            <a:xfrm rot="-5400000">
              <a:off x="16362787" y="706013"/>
              <a:ext cx="3850426" cy="2438400"/>
              <a:chOff x="0" y="0"/>
              <a:chExt cx="1284254" cy="813293"/>
            </a:xfrm>
          </p:grpSpPr>
          <p:sp>
            <p:nvSpPr>
              <p:cNvPr id="67" name="Freeform 6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8" name="TextBox 6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9" name="Group 69"/>
            <p:cNvGrpSpPr/>
            <p:nvPr/>
          </p:nvGrpSpPr>
          <p:grpSpPr>
            <a:xfrm rot="-5400000">
              <a:off x="18801187" y="706013"/>
              <a:ext cx="3850426" cy="2438400"/>
              <a:chOff x="0" y="0"/>
              <a:chExt cx="1284254" cy="813293"/>
            </a:xfrm>
          </p:grpSpPr>
          <p:sp>
            <p:nvSpPr>
              <p:cNvPr id="70" name="Freeform 7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1" name="TextBox 7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72" name="Group 72"/>
            <p:cNvGrpSpPr/>
            <p:nvPr/>
          </p:nvGrpSpPr>
          <p:grpSpPr>
            <a:xfrm rot="-5400000">
              <a:off x="21239587" y="706013"/>
              <a:ext cx="3850426" cy="2438400"/>
              <a:chOff x="0" y="0"/>
              <a:chExt cx="1284254" cy="813293"/>
            </a:xfrm>
          </p:grpSpPr>
          <p:sp>
            <p:nvSpPr>
              <p:cNvPr id="73" name="Freeform 7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4" name="TextBox 7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75" name="Freeform 75"/>
          <p:cNvSpPr/>
          <p:nvPr/>
        </p:nvSpPr>
        <p:spPr>
          <a:xfrm>
            <a:off x="16859586" y="2363298"/>
            <a:ext cx="1028025" cy="1028025"/>
          </a:xfrm>
          <a:custGeom>
            <a:avLst/>
            <a:gdLst/>
            <a:ahLst/>
            <a:cxnLst/>
            <a:rect l="l" t="t" r="r" b="b"/>
            <a:pathLst>
              <a:path w="1028025" h="1028025">
                <a:moveTo>
                  <a:pt x="0" y="0"/>
                </a:moveTo>
                <a:lnTo>
                  <a:pt x="1028025" y="0"/>
                </a:lnTo>
                <a:lnTo>
                  <a:pt x="1028025" y="1028026"/>
                </a:lnTo>
                <a:lnTo>
                  <a:pt x="0" y="1028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80" name="Group 9">
            <a:extLst>
              <a:ext uri="{FF2B5EF4-FFF2-40B4-BE49-F238E27FC236}">
                <a16:creationId xmlns:a16="http://schemas.microsoft.com/office/drawing/2014/main" id="{D2822562-1F2D-09DD-9C4E-D6C573D97E3E}"/>
              </a:ext>
            </a:extLst>
          </p:cNvPr>
          <p:cNvGrpSpPr/>
          <p:nvPr/>
        </p:nvGrpSpPr>
        <p:grpSpPr>
          <a:xfrm>
            <a:off x="1263950" y="3972719"/>
            <a:ext cx="16384386" cy="5040634"/>
            <a:chOff x="0" y="-38100"/>
            <a:chExt cx="3222835" cy="444500"/>
          </a:xfrm>
        </p:grpSpPr>
        <p:sp>
          <p:nvSpPr>
            <p:cNvPr id="78" name="Freeform 10">
              <a:extLst>
                <a:ext uri="{FF2B5EF4-FFF2-40B4-BE49-F238E27FC236}">
                  <a16:creationId xmlns:a16="http://schemas.microsoft.com/office/drawing/2014/main" id="{5E89BBF4-6A07-A84A-78B4-F76E95D1F3C8}"/>
                </a:ext>
              </a:extLst>
            </p:cNvPr>
            <p:cNvSpPr/>
            <p:nvPr/>
          </p:nvSpPr>
          <p:spPr>
            <a:xfrm>
              <a:off x="0" y="0"/>
              <a:ext cx="3222835" cy="406400"/>
            </a:xfrm>
            <a:custGeom>
              <a:avLst/>
              <a:gdLst/>
              <a:ahLst/>
              <a:cxnLst/>
              <a:rect l="l" t="t" r="r" b="b"/>
              <a:pathLst>
                <a:path w="3222835" h="406400">
                  <a:moveTo>
                    <a:pt x="3019635" y="0"/>
                  </a:moveTo>
                  <a:cubicBezTo>
                    <a:pt x="3131859" y="0"/>
                    <a:pt x="3222835" y="90976"/>
                    <a:pt x="3222835" y="203200"/>
                  </a:cubicBezTo>
                  <a:cubicBezTo>
                    <a:pt x="3222835" y="315424"/>
                    <a:pt x="3131859" y="406400"/>
                    <a:pt x="3019635" y="406400"/>
                  </a:cubicBezTo>
                  <a:lnTo>
                    <a:pt x="203200" y="406400"/>
                  </a:lnTo>
                  <a:cubicBezTo>
                    <a:pt x="90976" y="406400"/>
                    <a:pt x="0" y="315424"/>
                    <a:pt x="0" y="203200"/>
                  </a:cubicBezTo>
                  <a:cubicBezTo>
                    <a:pt x="0" y="90976"/>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9" name="TextBox 11">
              <a:extLst>
                <a:ext uri="{FF2B5EF4-FFF2-40B4-BE49-F238E27FC236}">
                  <a16:creationId xmlns:a16="http://schemas.microsoft.com/office/drawing/2014/main" id="{A5C54335-5144-A010-F03F-F9FAC048149E}"/>
                </a:ext>
              </a:extLst>
            </p:cNvPr>
            <p:cNvSpPr txBox="1"/>
            <p:nvPr/>
          </p:nvSpPr>
          <p:spPr>
            <a:xfrm>
              <a:off x="0" y="-38100"/>
              <a:ext cx="3222835" cy="4445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spcBef>
                  <a:spcPct val="0"/>
                </a:spcBef>
              </a:pPr>
              <a:endParaRPr/>
            </a:p>
          </p:txBody>
        </p:sp>
      </p:grpSp>
      <p:sp>
        <p:nvSpPr>
          <p:cNvPr id="81" name="TextBox 80">
            <a:extLst>
              <a:ext uri="{FF2B5EF4-FFF2-40B4-BE49-F238E27FC236}">
                <a16:creationId xmlns:a16="http://schemas.microsoft.com/office/drawing/2014/main" id="{D5AD0726-1B46-0CC1-9D86-9D08C557399E}"/>
              </a:ext>
            </a:extLst>
          </p:cNvPr>
          <p:cNvSpPr txBox="1"/>
          <p:nvPr/>
        </p:nvSpPr>
        <p:spPr>
          <a:xfrm>
            <a:off x="6743724" y="1655412"/>
            <a:ext cx="507206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b="1"/>
              <a:t>Exploring the book</a:t>
            </a:r>
          </a:p>
        </p:txBody>
      </p:sp>
      <p:sp>
        <p:nvSpPr>
          <p:cNvPr id="83" name="Freeform 10">
            <a:extLst>
              <a:ext uri="{FF2B5EF4-FFF2-40B4-BE49-F238E27FC236}">
                <a16:creationId xmlns:a16="http://schemas.microsoft.com/office/drawing/2014/main" id="{5D0EA919-B8AA-EC78-DE9A-14A49FDCDED8}"/>
              </a:ext>
            </a:extLst>
          </p:cNvPr>
          <p:cNvSpPr/>
          <p:nvPr/>
        </p:nvSpPr>
        <p:spPr>
          <a:xfrm>
            <a:off x="1416350" y="4633149"/>
            <a:ext cx="16092086" cy="4261565"/>
          </a:xfrm>
          <a:custGeom>
            <a:avLst/>
            <a:gdLst/>
            <a:ahLst/>
            <a:cxnLst/>
            <a:rect l="l" t="t" r="r" b="b"/>
            <a:pathLst>
              <a:path w="3222835" h="406400">
                <a:moveTo>
                  <a:pt x="3019635" y="0"/>
                </a:moveTo>
                <a:cubicBezTo>
                  <a:pt x="3131859" y="0"/>
                  <a:pt x="3222835" y="90976"/>
                  <a:pt x="3222835" y="203200"/>
                </a:cubicBezTo>
                <a:cubicBezTo>
                  <a:pt x="3222835" y="315424"/>
                  <a:pt x="3131859" y="406400"/>
                  <a:pt x="3019635" y="406400"/>
                </a:cubicBezTo>
                <a:lnTo>
                  <a:pt x="203200" y="406400"/>
                </a:lnTo>
                <a:cubicBezTo>
                  <a:pt x="90976" y="406400"/>
                  <a:pt x="0" y="315424"/>
                  <a:pt x="0" y="203200"/>
                </a:cubicBezTo>
                <a:cubicBezTo>
                  <a:pt x="0" y="90976"/>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4" name="TextBox 83">
            <a:extLst>
              <a:ext uri="{FF2B5EF4-FFF2-40B4-BE49-F238E27FC236}">
                <a16:creationId xmlns:a16="http://schemas.microsoft.com/office/drawing/2014/main" id="{273C7263-2F56-7EA0-21C8-8CADF2C86F93}"/>
              </a:ext>
            </a:extLst>
          </p:cNvPr>
          <p:cNvSpPr txBox="1"/>
          <p:nvPr/>
        </p:nvSpPr>
        <p:spPr>
          <a:xfrm>
            <a:off x="1707604" y="5752590"/>
            <a:ext cx="16384388" cy="28315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i="1"/>
              <a:t>° ZOHAIB HASSAN (BUS-24F-600)</a:t>
            </a:r>
          </a:p>
          <a:p>
            <a:pPr algn="l"/>
            <a:r>
              <a:rPr lang="en-US" sz="4000" i="1"/>
              <a:t>° MAHNOOR BUKHARI (BUS-24F-641)         ° NIMRA (BUS-24F-613)</a:t>
            </a:r>
          </a:p>
          <a:p>
            <a:pPr algn="l"/>
            <a:r>
              <a:rPr lang="en-US" sz="4000" i="1"/>
              <a:t>° M. MUDASSIR ( BUS-24F-636)                    ° HEMAN RAJU (BUS-24F-600)</a:t>
            </a:r>
          </a:p>
          <a:p>
            <a:pPr algn="l"/>
            <a:r>
              <a:rPr lang="en-US" sz="4000" i="1"/>
              <a:t>° AYESHA JAVED (BUS-24F-637)                    ° DHARA KUMARI (BUS-24F-600)</a:t>
            </a:r>
          </a:p>
          <a:p>
            <a:pPr algn="l"/>
            <a:endParaRPr lang="en-US"/>
          </a:p>
        </p:txBody>
      </p:sp>
      <p:sp>
        <p:nvSpPr>
          <p:cNvPr id="85" name="TextBox 84">
            <a:extLst>
              <a:ext uri="{FF2B5EF4-FFF2-40B4-BE49-F238E27FC236}">
                <a16:creationId xmlns:a16="http://schemas.microsoft.com/office/drawing/2014/main" id="{F22B8D62-560F-164C-7F12-4EEC81D0F8AC}"/>
              </a:ext>
            </a:extLst>
          </p:cNvPr>
          <p:cNvSpPr txBox="1"/>
          <p:nvPr/>
        </p:nvSpPr>
        <p:spPr>
          <a:xfrm>
            <a:off x="7473961" y="4795679"/>
            <a:ext cx="4572051"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600" b="1" u="sng"/>
              <a:t>* GROUP MEMBERS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4" name="Group 4"/>
          <p:cNvGrpSpPr/>
          <p:nvPr/>
        </p:nvGrpSpPr>
        <p:grpSpPr>
          <a:xfrm>
            <a:off x="8852580" y="193937"/>
            <a:ext cx="9435420" cy="9784350"/>
            <a:chOff x="0" y="-114231"/>
            <a:chExt cx="12700000" cy="14287431"/>
          </a:xfrm>
        </p:grpSpPr>
        <p:grpSp>
          <p:nvGrpSpPr>
            <p:cNvPr id="5" name="Group 5"/>
            <p:cNvGrpSpPr/>
            <p:nvPr/>
          </p:nvGrpSpPr>
          <p:grpSpPr>
            <a:xfrm>
              <a:off x="0" y="-114231"/>
              <a:ext cx="12700000" cy="2552631"/>
              <a:chOff x="0" y="-38100"/>
              <a:chExt cx="4235900" cy="851393"/>
            </a:xfrm>
          </p:grpSpPr>
          <p:sp>
            <p:nvSpPr>
              <p:cNvPr id="6" name="Freeform 6"/>
              <p:cNvSpPr/>
              <p:nvPr/>
            </p:nvSpPr>
            <p:spPr>
              <a:xfrm>
                <a:off x="0" y="-30108"/>
                <a:ext cx="4235900" cy="813293"/>
              </a:xfrm>
              <a:custGeom>
                <a:avLst/>
                <a:gdLst/>
                <a:ahLst/>
                <a:cxnLst/>
                <a:rect l="l" t="t" r="r" b="b"/>
                <a:pathLst>
                  <a:path w="4235900" h="813293">
                    <a:moveTo>
                      <a:pt x="4032700" y="0"/>
                    </a:moveTo>
                    <a:cubicBezTo>
                      <a:pt x="4144925" y="0"/>
                      <a:pt x="4235900" y="182062"/>
                      <a:pt x="4235900" y="406646"/>
                    </a:cubicBezTo>
                    <a:cubicBezTo>
                      <a:pt x="4235900" y="631231"/>
                      <a:pt x="4144925" y="813293"/>
                      <a:pt x="4032700"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3600" b="1" i="1" u="sng" dirty="0"/>
              </a:p>
              <a:p>
                <a:pPr algn="ctr"/>
                <a:r>
                  <a:rPr lang="en-US" sz="3600" b="1" i="1" u="sng" dirty="0"/>
                  <a:t>Begins with the End Of Mind</a:t>
                </a:r>
                <a:endParaRPr lang="en-US" sz="3600" dirty="0"/>
              </a:p>
            </p:txBody>
          </p:sp>
          <p:sp>
            <p:nvSpPr>
              <p:cNvPr id="7" name="TextBox 7"/>
              <p:cNvSpPr txBox="1"/>
              <p:nvPr/>
            </p:nvSpPr>
            <p:spPr>
              <a:xfrm>
                <a:off x="0" y="-38100"/>
                <a:ext cx="4235900"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sz="2000"/>
              </a:p>
            </p:txBody>
          </p:sp>
        </p:grpSp>
        <p:grpSp>
          <p:nvGrpSpPr>
            <p:cNvPr id="8" name="Group 8"/>
            <p:cNvGrpSpPr/>
            <p:nvPr/>
          </p:nvGrpSpPr>
          <p:grpSpPr>
            <a:xfrm>
              <a:off x="0" y="2346960"/>
              <a:ext cx="12700000" cy="2438400"/>
              <a:chOff x="0" y="0"/>
              <a:chExt cx="4235900" cy="813293"/>
            </a:xfrm>
          </p:grpSpPr>
          <p:sp>
            <p:nvSpPr>
              <p:cNvPr id="9" name="Freeform 9"/>
              <p:cNvSpPr/>
              <p:nvPr/>
            </p:nvSpPr>
            <p:spPr>
              <a:xfrm>
                <a:off x="0" y="0"/>
                <a:ext cx="4235900" cy="813293"/>
              </a:xfrm>
              <a:custGeom>
                <a:avLst/>
                <a:gdLst/>
                <a:ahLst/>
                <a:cxnLst/>
                <a:rect l="l" t="t" r="r" b="b"/>
                <a:pathLst>
                  <a:path w="4235900" h="813293">
                    <a:moveTo>
                      <a:pt x="4032700" y="0"/>
                    </a:moveTo>
                    <a:cubicBezTo>
                      <a:pt x="4144925" y="0"/>
                      <a:pt x="4235900" y="182062"/>
                      <a:pt x="4235900" y="406646"/>
                    </a:cubicBezTo>
                    <a:cubicBezTo>
                      <a:pt x="4235900" y="631231"/>
                      <a:pt x="4144925" y="813293"/>
                      <a:pt x="4032700"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t>
                </a:r>
              </a:p>
              <a:p>
                <a:endParaRPr lang="en-US" dirty="0"/>
              </a:p>
              <a:p>
                <a:pPr algn="ctr"/>
                <a:r>
                  <a:rPr lang="en-US" sz="4400" b="1" u="sng" dirty="0"/>
                  <a:t>First Thing First</a:t>
                </a:r>
              </a:p>
            </p:txBody>
          </p:sp>
          <p:sp>
            <p:nvSpPr>
              <p:cNvPr id="10" name="TextBox 10"/>
              <p:cNvSpPr txBox="1"/>
              <p:nvPr/>
            </p:nvSpPr>
            <p:spPr>
              <a:xfrm>
                <a:off x="0" y="-38100"/>
                <a:ext cx="4235900"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sz="2000"/>
              </a:p>
            </p:txBody>
          </p:sp>
        </p:grpSp>
        <p:grpSp>
          <p:nvGrpSpPr>
            <p:cNvPr id="11" name="Group 11"/>
            <p:cNvGrpSpPr/>
            <p:nvPr/>
          </p:nvGrpSpPr>
          <p:grpSpPr>
            <a:xfrm>
              <a:off x="0" y="4579689"/>
              <a:ext cx="12700000" cy="2552631"/>
              <a:chOff x="0" y="-38100"/>
              <a:chExt cx="4235900" cy="851393"/>
            </a:xfrm>
          </p:grpSpPr>
          <p:sp>
            <p:nvSpPr>
              <p:cNvPr id="12" name="Freeform 12"/>
              <p:cNvSpPr/>
              <p:nvPr/>
            </p:nvSpPr>
            <p:spPr>
              <a:xfrm>
                <a:off x="0" y="0"/>
                <a:ext cx="4235900" cy="813293"/>
              </a:xfrm>
              <a:custGeom>
                <a:avLst/>
                <a:gdLst/>
                <a:ahLst/>
                <a:cxnLst/>
                <a:rect l="l" t="t" r="r" b="b"/>
                <a:pathLst>
                  <a:path w="4235900" h="813293">
                    <a:moveTo>
                      <a:pt x="4032700" y="0"/>
                    </a:moveTo>
                    <a:cubicBezTo>
                      <a:pt x="4144925" y="0"/>
                      <a:pt x="4235900" y="182062"/>
                      <a:pt x="4235900" y="406646"/>
                    </a:cubicBezTo>
                    <a:cubicBezTo>
                      <a:pt x="4235900" y="631231"/>
                      <a:pt x="4144925" y="813293"/>
                      <a:pt x="4032700"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3200" b="1" i="1" u="sng" dirty="0"/>
              </a:p>
              <a:p>
                <a:pPr algn="ctr"/>
                <a:r>
                  <a:rPr lang="en-US" sz="4000" b="1" i="1" u="sng" dirty="0"/>
                  <a:t>Think Win-Win</a:t>
                </a:r>
                <a:endParaRPr sz="4000" b="1" i="1" u="sng" dirty="0"/>
              </a:p>
            </p:txBody>
          </p:sp>
          <p:sp>
            <p:nvSpPr>
              <p:cNvPr id="13" name="TextBox 13"/>
              <p:cNvSpPr txBox="1"/>
              <p:nvPr/>
            </p:nvSpPr>
            <p:spPr>
              <a:xfrm>
                <a:off x="0" y="-38100"/>
                <a:ext cx="4235900"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sz="2000"/>
              </a:p>
            </p:txBody>
          </p:sp>
        </p:grpSp>
        <p:grpSp>
          <p:nvGrpSpPr>
            <p:cNvPr id="14" name="Group 14"/>
            <p:cNvGrpSpPr/>
            <p:nvPr/>
          </p:nvGrpSpPr>
          <p:grpSpPr>
            <a:xfrm>
              <a:off x="0" y="7040880"/>
              <a:ext cx="12700000" cy="2438400"/>
              <a:chOff x="0" y="0"/>
              <a:chExt cx="4235900" cy="813293"/>
            </a:xfrm>
          </p:grpSpPr>
          <p:sp>
            <p:nvSpPr>
              <p:cNvPr id="15" name="Freeform 15"/>
              <p:cNvSpPr/>
              <p:nvPr/>
            </p:nvSpPr>
            <p:spPr>
              <a:xfrm>
                <a:off x="0" y="0"/>
                <a:ext cx="4235900" cy="813293"/>
              </a:xfrm>
              <a:custGeom>
                <a:avLst/>
                <a:gdLst/>
                <a:ahLst/>
                <a:cxnLst/>
                <a:rect l="l" t="t" r="r" b="b"/>
                <a:pathLst>
                  <a:path w="4235900" h="813293">
                    <a:moveTo>
                      <a:pt x="4032700" y="0"/>
                    </a:moveTo>
                    <a:cubicBezTo>
                      <a:pt x="4144925" y="0"/>
                      <a:pt x="4235900" y="182062"/>
                      <a:pt x="4235900" y="406646"/>
                    </a:cubicBezTo>
                    <a:cubicBezTo>
                      <a:pt x="4235900" y="631231"/>
                      <a:pt x="4144925" y="813293"/>
                      <a:pt x="4032700"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p>
              <a:p>
                <a:pPr algn="ctr"/>
                <a:endParaRPr lang="en-US" dirty="0"/>
              </a:p>
              <a:p>
                <a:pPr algn="ctr"/>
                <a:r>
                  <a:rPr lang="en-US" sz="4400" b="1" i="1" u="sng" dirty="0"/>
                  <a:t>First To Understood</a:t>
                </a:r>
                <a:endParaRPr sz="4400" b="1" i="1" u="sng" dirty="0"/>
              </a:p>
            </p:txBody>
          </p:sp>
          <p:sp>
            <p:nvSpPr>
              <p:cNvPr id="16" name="TextBox 16"/>
              <p:cNvSpPr txBox="1"/>
              <p:nvPr/>
            </p:nvSpPr>
            <p:spPr>
              <a:xfrm>
                <a:off x="0" y="-38100"/>
                <a:ext cx="4235900"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sz="2000"/>
              </a:p>
            </p:txBody>
          </p:sp>
        </p:grpSp>
        <p:grpSp>
          <p:nvGrpSpPr>
            <p:cNvPr id="17" name="Group 17"/>
            <p:cNvGrpSpPr/>
            <p:nvPr/>
          </p:nvGrpSpPr>
          <p:grpSpPr>
            <a:xfrm>
              <a:off x="0" y="9387840"/>
              <a:ext cx="12700000" cy="2438400"/>
              <a:chOff x="0" y="0"/>
              <a:chExt cx="4235900" cy="813293"/>
            </a:xfrm>
          </p:grpSpPr>
          <p:sp>
            <p:nvSpPr>
              <p:cNvPr id="18" name="Freeform 18"/>
              <p:cNvSpPr/>
              <p:nvPr/>
            </p:nvSpPr>
            <p:spPr>
              <a:xfrm>
                <a:off x="0" y="0"/>
                <a:ext cx="4235900" cy="813293"/>
              </a:xfrm>
              <a:custGeom>
                <a:avLst/>
                <a:gdLst/>
                <a:ahLst/>
                <a:cxnLst/>
                <a:rect l="l" t="t" r="r" b="b"/>
                <a:pathLst>
                  <a:path w="4235900" h="813293">
                    <a:moveTo>
                      <a:pt x="4032700" y="0"/>
                    </a:moveTo>
                    <a:cubicBezTo>
                      <a:pt x="4144925" y="0"/>
                      <a:pt x="4235900" y="182062"/>
                      <a:pt x="4235900" y="406646"/>
                    </a:cubicBezTo>
                    <a:cubicBezTo>
                      <a:pt x="4235900" y="631231"/>
                      <a:pt x="4144925" y="813293"/>
                      <a:pt x="4032700"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p>
              <a:p>
                <a:pPr algn="ctr"/>
                <a:endParaRPr lang="en-US" dirty="0"/>
              </a:p>
              <a:p>
                <a:pPr algn="ctr"/>
                <a:r>
                  <a:rPr lang="en-US" sz="4000" b="1" i="1" u="sng" dirty="0"/>
                  <a:t>Synergize</a:t>
                </a:r>
                <a:endParaRPr sz="4000" b="1" i="1" u="sng" dirty="0"/>
              </a:p>
            </p:txBody>
          </p:sp>
          <p:sp>
            <p:nvSpPr>
              <p:cNvPr id="19" name="TextBox 19"/>
              <p:cNvSpPr txBox="1"/>
              <p:nvPr/>
            </p:nvSpPr>
            <p:spPr>
              <a:xfrm>
                <a:off x="0" y="-38100"/>
                <a:ext cx="4235900"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sz="2000"/>
              </a:p>
            </p:txBody>
          </p:sp>
        </p:grpSp>
        <p:grpSp>
          <p:nvGrpSpPr>
            <p:cNvPr id="20" name="Group 20"/>
            <p:cNvGrpSpPr/>
            <p:nvPr/>
          </p:nvGrpSpPr>
          <p:grpSpPr>
            <a:xfrm>
              <a:off x="0" y="11734800"/>
              <a:ext cx="12700000" cy="2438400"/>
              <a:chOff x="0" y="0"/>
              <a:chExt cx="4235900" cy="813293"/>
            </a:xfrm>
          </p:grpSpPr>
          <p:sp>
            <p:nvSpPr>
              <p:cNvPr id="21" name="Freeform 21"/>
              <p:cNvSpPr/>
              <p:nvPr/>
            </p:nvSpPr>
            <p:spPr>
              <a:xfrm>
                <a:off x="0" y="0"/>
                <a:ext cx="4235900" cy="813293"/>
              </a:xfrm>
              <a:custGeom>
                <a:avLst/>
                <a:gdLst/>
                <a:ahLst/>
                <a:cxnLst/>
                <a:rect l="l" t="t" r="r" b="b"/>
                <a:pathLst>
                  <a:path w="4235900" h="813293">
                    <a:moveTo>
                      <a:pt x="4032700" y="0"/>
                    </a:moveTo>
                    <a:cubicBezTo>
                      <a:pt x="4144925" y="0"/>
                      <a:pt x="4235900" y="182062"/>
                      <a:pt x="4235900" y="406646"/>
                    </a:cubicBezTo>
                    <a:cubicBezTo>
                      <a:pt x="4235900" y="631231"/>
                      <a:pt x="4144925" y="813293"/>
                      <a:pt x="4032700"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p>
              <a:p>
                <a:pPr algn="ctr"/>
                <a:endParaRPr lang="en-US" dirty="0"/>
              </a:p>
              <a:p>
                <a:pPr algn="ctr"/>
                <a:r>
                  <a:rPr lang="en-US" sz="3600" b="1" i="1" u="sng" dirty="0"/>
                  <a:t>Sharpen The saw</a:t>
                </a:r>
                <a:endParaRPr sz="3600" b="1" i="1" u="sng" dirty="0"/>
              </a:p>
            </p:txBody>
          </p:sp>
          <p:sp>
            <p:nvSpPr>
              <p:cNvPr id="22" name="TextBox 22"/>
              <p:cNvSpPr txBox="1"/>
              <p:nvPr/>
            </p:nvSpPr>
            <p:spPr>
              <a:xfrm>
                <a:off x="0" y="-38100"/>
                <a:ext cx="4235900"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sz="2000"/>
              </a:p>
            </p:txBody>
          </p:sp>
        </p:grpSp>
      </p:grpSp>
      <p:sp>
        <p:nvSpPr>
          <p:cNvPr id="23" name="Freeform 23"/>
          <p:cNvSpPr/>
          <p:nvPr/>
        </p:nvSpPr>
        <p:spPr>
          <a:xfrm>
            <a:off x="7824380" y="308713"/>
            <a:ext cx="1319620" cy="1319620"/>
          </a:xfrm>
          <a:custGeom>
            <a:avLst/>
            <a:gdLst/>
            <a:ahLst/>
            <a:cxnLst/>
            <a:rect l="l" t="t" r="r" b="b"/>
            <a:pathLst>
              <a:path w="1319620" h="1319620">
                <a:moveTo>
                  <a:pt x="0" y="0"/>
                </a:moveTo>
                <a:lnTo>
                  <a:pt x="1319620" y="0"/>
                </a:lnTo>
                <a:lnTo>
                  <a:pt x="1319620" y="1319620"/>
                </a:lnTo>
                <a:lnTo>
                  <a:pt x="0" y="13196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 name="Freeform 24"/>
          <p:cNvSpPr/>
          <p:nvPr/>
        </p:nvSpPr>
        <p:spPr>
          <a:xfrm>
            <a:off x="368890" y="8817056"/>
            <a:ext cx="882489" cy="882489"/>
          </a:xfrm>
          <a:custGeom>
            <a:avLst/>
            <a:gdLst/>
            <a:ahLst/>
            <a:cxnLst/>
            <a:rect l="l" t="t" r="r" b="b"/>
            <a:pathLst>
              <a:path w="882489" h="882489">
                <a:moveTo>
                  <a:pt x="0" y="0"/>
                </a:moveTo>
                <a:lnTo>
                  <a:pt x="882489" y="0"/>
                </a:lnTo>
                <a:lnTo>
                  <a:pt x="882489" y="882488"/>
                </a:lnTo>
                <a:lnTo>
                  <a:pt x="0" y="8824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 name="Freeform 12">
            <a:extLst>
              <a:ext uri="{FF2B5EF4-FFF2-40B4-BE49-F238E27FC236}">
                <a16:creationId xmlns:a16="http://schemas.microsoft.com/office/drawing/2014/main" id="{9D138097-AE5A-420C-90F8-E73D3F64F1AC}"/>
              </a:ext>
            </a:extLst>
          </p:cNvPr>
          <p:cNvSpPr/>
          <p:nvPr/>
        </p:nvSpPr>
        <p:spPr>
          <a:xfrm>
            <a:off x="228600" y="3003526"/>
            <a:ext cx="7823880" cy="2636150"/>
          </a:xfrm>
          <a:custGeom>
            <a:avLst/>
            <a:gdLst/>
            <a:ahLst/>
            <a:cxnLst/>
            <a:rect l="l" t="t" r="r" b="b"/>
            <a:pathLst>
              <a:path w="4235900" h="813293">
                <a:moveTo>
                  <a:pt x="4032700" y="0"/>
                </a:moveTo>
                <a:cubicBezTo>
                  <a:pt x="4144925" y="0"/>
                  <a:pt x="4235900" y="182062"/>
                  <a:pt x="4235900" y="406646"/>
                </a:cubicBezTo>
                <a:cubicBezTo>
                  <a:pt x="4235900" y="631231"/>
                  <a:pt x="4144925" y="813293"/>
                  <a:pt x="4032700"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1200"/>
              </a:lnSpc>
            </a:pPr>
            <a:r>
              <a:rPr lang="en-US" sz="4800" b="1" i="1" u="sng" dirty="0">
                <a:solidFill>
                  <a:srgbClr val="392503"/>
                </a:solidFill>
                <a:latin typeface="Aprila Bold"/>
                <a:ea typeface="Aprila Bold"/>
                <a:cs typeface="Aprila Bold"/>
                <a:sym typeface="Aprila Bold"/>
              </a:rPr>
              <a:t>BE PROACTIVE</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TextBox 2"/>
          <p:cNvSpPr txBox="1"/>
          <p:nvPr/>
        </p:nvSpPr>
        <p:spPr>
          <a:xfrm>
            <a:off x="3694817" y="1521639"/>
            <a:ext cx="10898365" cy="107721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1200"/>
              </a:lnSpc>
            </a:pPr>
            <a:r>
              <a:rPr lang="en-US" sz="5400" b="1">
                <a:solidFill>
                  <a:srgbClr val="392503"/>
                </a:solidFill>
                <a:latin typeface="Aprila Bold"/>
                <a:ea typeface="Aprila Bold"/>
                <a:cs typeface="Aprila Bold"/>
                <a:sym typeface="Aprila Bold"/>
              </a:rPr>
              <a:t>BE PROACTIVE</a:t>
            </a:r>
          </a:p>
        </p:txBody>
      </p:sp>
      <p:grpSp>
        <p:nvGrpSpPr>
          <p:cNvPr id="25" name="Group 25"/>
          <p:cNvGrpSpPr/>
          <p:nvPr/>
        </p:nvGrpSpPr>
        <p:grpSpPr>
          <a:xfrm>
            <a:off x="-194547" y="-3926739"/>
            <a:ext cx="18677096" cy="5238828"/>
            <a:chOff x="0" y="0"/>
            <a:chExt cx="24902793" cy="6985104"/>
          </a:xfrm>
        </p:grpSpPr>
        <p:grpSp>
          <p:nvGrpSpPr>
            <p:cNvPr id="26" name="Group 26"/>
            <p:cNvGrpSpPr/>
            <p:nvPr/>
          </p:nvGrpSpPr>
          <p:grpSpPr>
            <a:xfrm rot="-5400000">
              <a:off x="1972355" y="3840691"/>
              <a:ext cx="3850426" cy="2438400"/>
              <a:chOff x="0" y="0"/>
              <a:chExt cx="1284254" cy="813293"/>
            </a:xfrm>
          </p:grpSpPr>
          <p:sp>
            <p:nvSpPr>
              <p:cNvPr id="27" name="Freeform 2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TextBox 2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9" name="Group 29"/>
            <p:cNvGrpSpPr/>
            <p:nvPr/>
          </p:nvGrpSpPr>
          <p:grpSpPr>
            <a:xfrm rot="-5400000">
              <a:off x="4410755" y="3840691"/>
              <a:ext cx="3850426" cy="2438400"/>
              <a:chOff x="0" y="0"/>
              <a:chExt cx="1284254" cy="813293"/>
            </a:xfrm>
          </p:grpSpPr>
          <p:sp>
            <p:nvSpPr>
              <p:cNvPr id="30" name="Freeform 3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 name="TextBox 3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2" name="Group 32"/>
            <p:cNvGrpSpPr/>
            <p:nvPr/>
          </p:nvGrpSpPr>
          <p:grpSpPr>
            <a:xfrm rot="-5400000">
              <a:off x="6849155" y="3840691"/>
              <a:ext cx="3850426" cy="2438400"/>
              <a:chOff x="0" y="0"/>
              <a:chExt cx="1284254" cy="813293"/>
            </a:xfrm>
          </p:grpSpPr>
          <p:sp>
            <p:nvSpPr>
              <p:cNvPr id="33" name="Freeform 3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TextBox 3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5" name="Group 35"/>
            <p:cNvGrpSpPr/>
            <p:nvPr/>
          </p:nvGrpSpPr>
          <p:grpSpPr>
            <a:xfrm rot="-5400000">
              <a:off x="-466045" y="3840691"/>
              <a:ext cx="3850426" cy="2438400"/>
              <a:chOff x="0" y="0"/>
              <a:chExt cx="1284254" cy="813293"/>
            </a:xfrm>
          </p:grpSpPr>
          <p:sp>
            <p:nvSpPr>
              <p:cNvPr id="36" name="Freeform 3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TextBox 3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8" name="Group 38"/>
            <p:cNvGrpSpPr/>
            <p:nvPr/>
          </p:nvGrpSpPr>
          <p:grpSpPr>
            <a:xfrm rot="-5400000">
              <a:off x="9287555" y="3840691"/>
              <a:ext cx="3850426" cy="2438400"/>
              <a:chOff x="0" y="0"/>
              <a:chExt cx="1284254" cy="813293"/>
            </a:xfrm>
          </p:grpSpPr>
          <p:sp>
            <p:nvSpPr>
              <p:cNvPr id="39" name="Freeform 3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Box 4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1" name="Group 41"/>
            <p:cNvGrpSpPr/>
            <p:nvPr/>
          </p:nvGrpSpPr>
          <p:grpSpPr>
            <a:xfrm rot="-5400000">
              <a:off x="11725955" y="3840691"/>
              <a:ext cx="3850426" cy="2438400"/>
              <a:chOff x="0" y="0"/>
              <a:chExt cx="1284254" cy="813293"/>
            </a:xfrm>
          </p:grpSpPr>
          <p:sp>
            <p:nvSpPr>
              <p:cNvPr id="42" name="Freeform 4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3" name="TextBox 4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4" name="Group 44"/>
            <p:cNvGrpSpPr/>
            <p:nvPr/>
          </p:nvGrpSpPr>
          <p:grpSpPr>
            <a:xfrm rot="-5400000">
              <a:off x="14164356" y="3840691"/>
              <a:ext cx="3850426" cy="2438400"/>
              <a:chOff x="0" y="0"/>
              <a:chExt cx="1284254" cy="813293"/>
            </a:xfrm>
          </p:grpSpPr>
          <p:sp>
            <p:nvSpPr>
              <p:cNvPr id="45" name="Freeform 4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6" name="TextBox 4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7" name="Group 47"/>
            <p:cNvGrpSpPr/>
            <p:nvPr/>
          </p:nvGrpSpPr>
          <p:grpSpPr>
            <a:xfrm rot="-5400000">
              <a:off x="16602756" y="3840691"/>
              <a:ext cx="3850426" cy="2438400"/>
              <a:chOff x="0" y="0"/>
              <a:chExt cx="1284254" cy="813293"/>
            </a:xfrm>
          </p:grpSpPr>
          <p:sp>
            <p:nvSpPr>
              <p:cNvPr id="48" name="Freeform 4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9" name="TextBox 4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0" name="Group 50"/>
            <p:cNvGrpSpPr/>
            <p:nvPr/>
          </p:nvGrpSpPr>
          <p:grpSpPr>
            <a:xfrm rot="-5400000">
              <a:off x="19041156" y="3840691"/>
              <a:ext cx="3850426" cy="2438400"/>
              <a:chOff x="0" y="0"/>
              <a:chExt cx="1284254" cy="813293"/>
            </a:xfrm>
          </p:grpSpPr>
          <p:sp>
            <p:nvSpPr>
              <p:cNvPr id="51" name="Freeform 5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2" name="TextBox 5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3" name="Group 53"/>
            <p:cNvGrpSpPr/>
            <p:nvPr/>
          </p:nvGrpSpPr>
          <p:grpSpPr>
            <a:xfrm rot="-5400000">
              <a:off x="21479556" y="3840691"/>
              <a:ext cx="3850426" cy="2438400"/>
              <a:chOff x="0" y="0"/>
              <a:chExt cx="1284254" cy="813293"/>
            </a:xfrm>
          </p:grpSpPr>
          <p:sp>
            <p:nvSpPr>
              <p:cNvPr id="54" name="Freeform 5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5" name="TextBox 5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6" name="Group 56"/>
            <p:cNvGrpSpPr/>
            <p:nvPr/>
          </p:nvGrpSpPr>
          <p:grpSpPr>
            <a:xfrm>
              <a:off x="0" y="0"/>
              <a:ext cx="24902793" cy="6269356"/>
              <a:chOff x="0" y="0"/>
              <a:chExt cx="4919070" cy="1238391"/>
            </a:xfrm>
          </p:grpSpPr>
          <p:sp>
            <p:nvSpPr>
              <p:cNvPr id="57" name="Freeform 57"/>
              <p:cNvSpPr/>
              <p:nvPr/>
            </p:nvSpPr>
            <p:spPr>
              <a:xfrm>
                <a:off x="0" y="0"/>
                <a:ext cx="4919070" cy="1238391"/>
              </a:xfrm>
              <a:custGeom>
                <a:avLst/>
                <a:gdLst/>
                <a:ahLst/>
                <a:cxnLst/>
                <a:rect l="l" t="t" r="r" b="b"/>
                <a:pathLst>
                  <a:path w="4919070" h="1238391">
                    <a:moveTo>
                      <a:pt x="0" y="0"/>
                    </a:moveTo>
                    <a:lnTo>
                      <a:pt x="4919070" y="0"/>
                    </a:lnTo>
                    <a:lnTo>
                      <a:pt x="4919070" y="1238391"/>
                    </a:lnTo>
                    <a:lnTo>
                      <a:pt x="0" y="1238391"/>
                    </a:ln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8" name="TextBox 58"/>
              <p:cNvSpPr txBox="1"/>
              <p:nvPr/>
            </p:nvSpPr>
            <p:spPr>
              <a:xfrm>
                <a:off x="0" y="-38100"/>
                <a:ext cx="4919070" cy="1276491"/>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3" name="TextBox 2">
            <a:extLst>
              <a:ext uri="{FF2B5EF4-FFF2-40B4-BE49-F238E27FC236}">
                <a16:creationId xmlns:a16="http://schemas.microsoft.com/office/drawing/2014/main" id="{97853311-224E-4377-8A9D-C4DD005B8E48}"/>
              </a:ext>
            </a:extLst>
          </p:cNvPr>
          <p:cNvSpPr txBox="1"/>
          <p:nvPr/>
        </p:nvSpPr>
        <p:spPr>
          <a:xfrm>
            <a:off x="318855" y="3390900"/>
            <a:ext cx="12468174" cy="6400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TextBox 8">
            <a:extLst>
              <a:ext uri="{FF2B5EF4-FFF2-40B4-BE49-F238E27FC236}">
                <a16:creationId xmlns:a16="http://schemas.microsoft.com/office/drawing/2014/main" id="{39162735-1A84-4666-8BE9-86D4EF3F9546}"/>
              </a:ext>
            </a:extLst>
          </p:cNvPr>
          <p:cNvSpPr txBox="1"/>
          <p:nvPr/>
        </p:nvSpPr>
        <p:spPr>
          <a:xfrm rot="10800000" flipH="1" flipV="1">
            <a:off x="457201" y="3921507"/>
            <a:ext cx="13030200" cy="59093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5400" b="1"/>
              <a:t>1. </a:t>
            </a:r>
            <a:r>
              <a:rPr lang="en-US" sz="5400" b="1" u="sng"/>
              <a:t>R. COVEY  CORE IDEA</a:t>
            </a:r>
            <a:r>
              <a:rPr lang="en-US" sz="5400" b="1"/>
              <a:t>: Between stimulus and response, you have the freedom to choose </a:t>
            </a:r>
          </a:p>
          <a:p>
            <a:r>
              <a:rPr lang="en-US" sz="5400" b="1"/>
              <a:t> 2. </a:t>
            </a:r>
            <a:r>
              <a:rPr lang="en-US" sz="5400" b="1" u="sng"/>
              <a:t>PROACTIVE PEOPLE</a:t>
            </a:r>
            <a:r>
              <a:rPr lang="en-US" sz="5400" b="1"/>
              <a:t>: Focus energy on things they can control or influence </a:t>
            </a:r>
          </a:p>
          <a:p>
            <a:r>
              <a:rPr lang="en-US" sz="5400" b="1"/>
              <a:t> 3. </a:t>
            </a:r>
            <a:r>
              <a:rPr lang="en-US" sz="5400" b="1" u="sng"/>
              <a:t>REACTIVE PEOPLE</a:t>
            </a:r>
            <a:r>
              <a:rPr lang="en-US" sz="5400" b="1"/>
              <a:t>: Focus on things they can’t control – blame, complain, wait</a:t>
            </a:r>
          </a:p>
        </p:txBody>
      </p:sp>
      <p:pic>
        <p:nvPicPr>
          <p:cNvPr id="16" name="Picture 15">
            <a:extLst>
              <a:ext uri="{FF2B5EF4-FFF2-40B4-BE49-F238E27FC236}">
                <a16:creationId xmlns:a16="http://schemas.microsoft.com/office/drawing/2014/main" id="{344C6754-D08F-4F0A-ADE3-5D8557EE6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1355" y="3390900"/>
            <a:ext cx="4800549" cy="7531688"/>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TextBox 2"/>
          <p:cNvSpPr txBox="1"/>
          <p:nvPr/>
        </p:nvSpPr>
        <p:spPr>
          <a:xfrm>
            <a:off x="5086350" y="1085850"/>
            <a:ext cx="8115300" cy="228219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8880"/>
              </a:lnSpc>
            </a:pPr>
            <a:r>
              <a:rPr lang="en-US" sz="8000" b="1">
                <a:solidFill>
                  <a:srgbClr val="392503"/>
                </a:solidFill>
                <a:latin typeface="Aprila Bold"/>
                <a:ea typeface="Aprila Bold"/>
                <a:cs typeface="Aprila Bold"/>
                <a:sym typeface="Aprila Bold"/>
              </a:rPr>
              <a:t>Learning Objectives</a:t>
            </a:r>
          </a:p>
        </p:txBody>
      </p:sp>
      <p:grpSp>
        <p:nvGrpSpPr>
          <p:cNvPr id="3" name="Group 3"/>
          <p:cNvGrpSpPr/>
          <p:nvPr/>
        </p:nvGrpSpPr>
        <p:grpSpPr>
          <a:xfrm rot="-5400000">
            <a:off x="10502706" y="4216204"/>
            <a:ext cx="7188590" cy="6096001"/>
            <a:chOff x="0" y="0"/>
            <a:chExt cx="1284254" cy="813293"/>
          </a:xfrm>
        </p:grpSpPr>
        <p:sp>
          <p:nvSpPr>
            <p:cNvPr id="4" name="Freeform 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 name="TextBox 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9" name="Group 9"/>
          <p:cNvGrpSpPr/>
          <p:nvPr/>
        </p:nvGrpSpPr>
        <p:grpSpPr>
          <a:xfrm rot="-5400000">
            <a:off x="1592959" y="3917058"/>
            <a:ext cx="6600336" cy="6672947"/>
            <a:chOff x="0" y="-38100"/>
            <a:chExt cx="1284254" cy="851393"/>
          </a:xfrm>
        </p:grpSpPr>
        <p:sp>
          <p:nvSpPr>
            <p:cNvPr id="10" name="Freeform 1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TextBox 1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sp>
        <p:nvSpPr>
          <p:cNvPr id="18" name="TextBox 18"/>
          <p:cNvSpPr txBox="1"/>
          <p:nvPr/>
        </p:nvSpPr>
        <p:spPr>
          <a:xfrm>
            <a:off x="14592300" y="4997574"/>
            <a:ext cx="1296061" cy="115824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8880"/>
              </a:lnSpc>
            </a:pPr>
            <a:endParaRPr lang="en-US" sz="8000" b="1">
              <a:solidFill>
                <a:srgbClr val="392503"/>
              </a:solidFill>
              <a:latin typeface="Aprila Bold"/>
              <a:ea typeface="Aprila Bold"/>
              <a:cs typeface="Aprila Bold"/>
              <a:sym typeface="Aprila Bold"/>
            </a:endParaRPr>
          </a:p>
        </p:txBody>
      </p:sp>
      <p:sp>
        <p:nvSpPr>
          <p:cNvPr id="19" name="Freeform 19"/>
          <p:cNvSpPr/>
          <p:nvPr/>
        </p:nvSpPr>
        <p:spPr>
          <a:xfrm>
            <a:off x="15200716" y="371424"/>
            <a:ext cx="2576528" cy="2576528"/>
          </a:xfrm>
          <a:custGeom>
            <a:avLst/>
            <a:gdLst/>
            <a:ahLst/>
            <a:cxnLst/>
            <a:rect l="l" t="t" r="r" b="b"/>
            <a:pathLst>
              <a:path w="2576528" h="2576528">
                <a:moveTo>
                  <a:pt x="0" y="0"/>
                </a:moveTo>
                <a:lnTo>
                  <a:pt x="2576528" y="0"/>
                </a:lnTo>
                <a:lnTo>
                  <a:pt x="2576528" y="2576528"/>
                </a:lnTo>
                <a:lnTo>
                  <a:pt x="0" y="25765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 name="Freeform 20"/>
          <p:cNvSpPr/>
          <p:nvPr/>
        </p:nvSpPr>
        <p:spPr>
          <a:xfrm>
            <a:off x="594946" y="2286664"/>
            <a:ext cx="1527414" cy="1527414"/>
          </a:xfrm>
          <a:custGeom>
            <a:avLst/>
            <a:gdLst/>
            <a:ahLst/>
            <a:cxnLst/>
            <a:rect l="l" t="t" r="r" b="b"/>
            <a:pathLst>
              <a:path w="1527414" h="1527414">
                <a:moveTo>
                  <a:pt x="0" y="0"/>
                </a:moveTo>
                <a:lnTo>
                  <a:pt x="1527414" y="0"/>
                </a:lnTo>
                <a:lnTo>
                  <a:pt x="1527414" y="1527414"/>
                </a:lnTo>
                <a:lnTo>
                  <a:pt x="0" y="1527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 name="Freeform 21"/>
          <p:cNvSpPr/>
          <p:nvPr/>
        </p:nvSpPr>
        <p:spPr>
          <a:xfrm>
            <a:off x="1608347" y="839538"/>
            <a:ext cx="1028025" cy="1028025"/>
          </a:xfrm>
          <a:custGeom>
            <a:avLst/>
            <a:gdLst/>
            <a:ahLst/>
            <a:cxnLst/>
            <a:rect l="l" t="t" r="r" b="b"/>
            <a:pathLst>
              <a:path w="1028025" h="1028025">
                <a:moveTo>
                  <a:pt x="0" y="0"/>
                </a:moveTo>
                <a:lnTo>
                  <a:pt x="1028026" y="0"/>
                </a:lnTo>
                <a:lnTo>
                  <a:pt x="1028026" y="1028026"/>
                </a:lnTo>
                <a:lnTo>
                  <a:pt x="0" y="1028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2" name="TextBox 11">
            <a:extLst>
              <a:ext uri="{FF2B5EF4-FFF2-40B4-BE49-F238E27FC236}">
                <a16:creationId xmlns:a16="http://schemas.microsoft.com/office/drawing/2014/main" id="{8883B884-3DE7-46C7-A073-5116FD23C398}"/>
              </a:ext>
            </a:extLst>
          </p:cNvPr>
          <p:cNvSpPr txBox="1"/>
          <p:nvPr/>
        </p:nvSpPr>
        <p:spPr>
          <a:xfrm>
            <a:off x="1842229" y="5576694"/>
            <a:ext cx="5667633" cy="452431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buFont typeface="Wingdings" panose="05000000000000000000" pitchFamily="2" charset="2"/>
              <a:buChar char="§"/>
            </a:pPr>
            <a:r>
              <a:rPr lang="en-US" sz="3200" b="1"/>
              <a:t>Key Concepts of Proactivity  </a:t>
            </a:r>
          </a:p>
          <a:p>
            <a:pPr marL="457200" indent="-457200" algn="just">
              <a:buFont typeface="Wingdings" panose="05000000000000000000" pitchFamily="2" charset="2"/>
              <a:buChar char="Ø"/>
            </a:pPr>
            <a:r>
              <a:rPr lang="en-US" sz="3200" b="1"/>
              <a:t>Circle of Influence vs Circle of Concern  </a:t>
            </a:r>
          </a:p>
          <a:p>
            <a:pPr marL="571500" indent="-571500" algn="just">
              <a:buFont typeface="+mj-lt"/>
              <a:buAutoNum type="romanUcPeriod"/>
            </a:pPr>
            <a:r>
              <a:rPr lang="en-US" sz="3200" b="1"/>
              <a:t>Proactive = expand influence by acting where you have power</a:t>
            </a:r>
          </a:p>
          <a:p>
            <a:pPr marL="571500" indent="-571500" algn="just">
              <a:buFont typeface="+mj-lt"/>
              <a:buAutoNum type="romanUcPeriod"/>
            </a:pPr>
            <a:r>
              <a:rPr lang="en-US" sz="3200" b="1"/>
              <a:t>  Reactive = shrink influence by         worrying about concerns</a:t>
            </a:r>
          </a:p>
        </p:txBody>
      </p:sp>
      <p:pic>
        <p:nvPicPr>
          <p:cNvPr id="15" name="Picture 14">
            <a:extLst>
              <a:ext uri="{FF2B5EF4-FFF2-40B4-BE49-F238E27FC236}">
                <a16:creationId xmlns:a16="http://schemas.microsoft.com/office/drawing/2014/main" id="{5C970C55-9109-436E-9D00-EE220D0CBB6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186168" y="4674167"/>
            <a:ext cx="5821666" cy="5612833"/>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4881671" y="-977021"/>
            <a:ext cx="17658750" cy="8563792"/>
            <a:chOff x="0" y="0"/>
            <a:chExt cx="24384000" cy="11812109"/>
          </a:xfrm>
        </p:grpSpPr>
        <p:grpSp>
          <p:nvGrpSpPr>
            <p:cNvPr id="3" name="Group 3"/>
            <p:cNvGrpSpPr/>
            <p:nvPr/>
          </p:nvGrpSpPr>
          <p:grpSpPr>
            <a:xfrm rot="-5400000">
              <a:off x="8964042" y="-1123017"/>
              <a:ext cx="11225459" cy="14644793"/>
              <a:chOff x="0" y="0"/>
              <a:chExt cx="2217375" cy="2892799"/>
            </a:xfrm>
          </p:grpSpPr>
          <p:sp>
            <p:nvSpPr>
              <p:cNvPr id="4" name="Freeform 4"/>
              <p:cNvSpPr/>
              <p:nvPr/>
            </p:nvSpPr>
            <p:spPr>
              <a:xfrm>
                <a:off x="0" y="0"/>
                <a:ext cx="2217375" cy="2892799"/>
              </a:xfrm>
              <a:custGeom>
                <a:avLst/>
                <a:gdLst/>
                <a:ahLst/>
                <a:cxnLst/>
                <a:rect l="l" t="t" r="r" b="b"/>
                <a:pathLst>
                  <a:path w="2217375" h="2892799">
                    <a:moveTo>
                      <a:pt x="0" y="0"/>
                    </a:moveTo>
                    <a:lnTo>
                      <a:pt x="2217375" y="0"/>
                    </a:lnTo>
                    <a:lnTo>
                      <a:pt x="2217375" y="2892799"/>
                    </a:lnTo>
                    <a:lnTo>
                      <a:pt x="0" y="2892799"/>
                    </a:ln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 name="TextBox 5"/>
              <p:cNvSpPr txBox="1"/>
              <p:nvPr/>
            </p:nvSpPr>
            <p:spPr>
              <a:xfrm>
                <a:off x="0" y="-38100"/>
                <a:ext cx="2217375" cy="293089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 name="Group 6"/>
            <p:cNvGrpSpPr/>
            <p:nvPr/>
          </p:nvGrpSpPr>
          <p:grpSpPr>
            <a:xfrm rot="-5400000">
              <a:off x="1732387" y="706013"/>
              <a:ext cx="3850426" cy="2438400"/>
              <a:chOff x="0" y="0"/>
              <a:chExt cx="1284254" cy="813293"/>
            </a:xfrm>
          </p:grpSpPr>
          <p:sp>
            <p:nvSpPr>
              <p:cNvPr id="7" name="Freeform 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8" name="TextBox 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9" name="Group 9"/>
            <p:cNvGrpSpPr/>
            <p:nvPr/>
          </p:nvGrpSpPr>
          <p:grpSpPr>
            <a:xfrm rot="-5400000">
              <a:off x="4170787" y="706013"/>
              <a:ext cx="3850426" cy="2438400"/>
              <a:chOff x="0" y="0"/>
              <a:chExt cx="1284254" cy="813293"/>
            </a:xfrm>
          </p:grpSpPr>
          <p:sp>
            <p:nvSpPr>
              <p:cNvPr id="10" name="Freeform 1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1" name="TextBox 1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 name="Group 12"/>
            <p:cNvGrpSpPr/>
            <p:nvPr/>
          </p:nvGrpSpPr>
          <p:grpSpPr>
            <a:xfrm rot="-5400000">
              <a:off x="6609187" y="706013"/>
              <a:ext cx="3850426" cy="2438400"/>
              <a:chOff x="0" y="0"/>
              <a:chExt cx="1284254" cy="813293"/>
            </a:xfrm>
          </p:grpSpPr>
          <p:sp>
            <p:nvSpPr>
              <p:cNvPr id="13" name="Freeform 1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 name="TextBox 1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5" name="Group 15"/>
            <p:cNvGrpSpPr/>
            <p:nvPr/>
          </p:nvGrpSpPr>
          <p:grpSpPr>
            <a:xfrm rot="-5400000">
              <a:off x="-706013" y="706013"/>
              <a:ext cx="3850426" cy="2438400"/>
              <a:chOff x="0" y="0"/>
              <a:chExt cx="1284254" cy="813293"/>
            </a:xfrm>
          </p:grpSpPr>
          <p:sp>
            <p:nvSpPr>
              <p:cNvPr id="16" name="Freeform 1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 name="TextBox 1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8" name="Group 18"/>
            <p:cNvGrpSpPr/>
            <p:nvPr/>
          </p:nvGrpSpPr>
          <p:grpSpPr>
            <a:xfrm rot="-5400000">
              <a:off x="9047587" y="706013"/>
              <a:ext cx="3850426" cy="2438400"/>
              <a:chOff x="0" y="0"/>
              <a:chExt cx="1284254" cy="813293"/>
            </a:xfrm>
          </p:grpSpPr>
          <p:sp>
            <p:nvSpPr>
              <p:cNvPr id="19" name="Freeform 1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 name="TextBox 2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1" name="Group 21"/>
            <p:cNvGrpSpPr/>
            <p:nvPr/>
          </p:nvGrpSpPr>
          <p:grpSpPr>
            <a:xfrm rot="-5400000">
              <a:off x="11485987" y="706013"/>
              <a:ext cx="3850426" cy="2438400"/>
              <a:chOff x="0" y="0"/>
              <a:chExt cx="1284254" cy="813293"/>
            </a:xfrm>
          </p:grpSpPr>
          <p:sp>
            <p:nvSpPr>
              <p:cNvPr id="22" name="Freeform 2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 name="TextBox 2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4" name="Group 24"/>
            <p:cNvGrpSpPr/>
            <p:nvPr/>
          </p:nvGrpSpPr>
          <p:grpSpPr>
            <a:xfrm rot="-5400000">
              <a:off x="13924387" y="706013"/>
              <a:ext cx="3850426" cy="2438400"/>
              <a:chOff x="0" y="0"/>
              <a:chExt cx="1284254" cy="813293"/>
            </a:xfrm>
          </p:grpSpPr>
          <p:sp>
            <p:nvSpPr>
              <p:cNvPr id="25" name="Freeform 2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 name="TextBox 2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7" name="Group 27"/>
            <p:cNvGrpSpPr/>
            <p:nvPr/>
          </p:nvGrpSpPr>
          <p:grpSpPr>
            <a:xfrm rot="-5400000">
              <a:off x="16362787" y="706013"/>
              <a:ext cx="3850426" cy="2438400"/>
              <a:chOff x="0" y="0"/>
              <a:chExt cx="1284254" cy="813293"/>
            </a:xfrm>
          </p:grpSpPr>
          <p:sp>
            <p:nvSpPr>
              <p:cNvPr id="28" name="Freeform 2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 name="TextBox 2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0" name="Group 30"/>
            <p:cNvGrpSpPr/>
            <p:nvPr/>
          </p:nvGrpSpPr>
          <p:grpSpPr>
            <a:xfrm rot="-5400000">
              <a:off x="18801187" y="706013"/>
              <a:ext cx="3850426" cy="2438400"/>
              <a:chOff x="0" y="0"/>
              <a:chExt cx="1284254" cy="813293"/>
            </a:xfrm>
          </p:grpSpPr>
          <p:sp>
            <p:nvSpPr>
              <p:cNvPr id="31" name="Freeform 3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 name="TextBox 3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3" name="Group 33"/>
            <p:cNvGrpSpPr/>
            <p:nvPr/>
          </p:nvGrpSpPr>
          <p:grpSpPr>
            <a:xfrm rot="-5400000">
              <a:off x="21239587" y="706013"/>
              <a:ext cx="3850426" cy="2438400"/>
              <a:chOff x="0" y="0"/>
              <a:chExt cx="1284254" cy="813293"/>
            </a:xfrm>
          </p:grpSpPr>
          <p:sp>
            <p:nvSpPr>
              <p:cNvPr id="34" name="Freeform 3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5" name="TextBox 3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36" name="TextBox 36"/>
          <p:cNvSpPr txBox="1"/>
          <p:nvPr/>
        </p:nvSpPr>
        <p:spPr>
          <a:xfrm>
            <a:off x="-334192" y="190500"/>
            <a:ext cx="8138469" cy="9602629"/>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4000" b="1" u="sng">
                <a:solidFill>
                  <a:srgbClr val="392503"/>
                </a:solidFill>
                <a:latin typeface="Times New Roman" panose="02020603050405020304" pitchFamily="18" charset="0"/>
                <a:ea typeface="Aprila Bold"/>
                <a:cs typeface="Times New Roman" panose="02020603050405020304" pitchFamily="18" charset="0"/>
                <a:sym typeface="Aprila Bold"/>
              </a:rPr>
              <a:t>How to Build the Proactive Habit</a:t>
            </a:r>
          </a:p>
          <a:p>
            <a:pPr algn="l"/>
            <a:endParaRPr lang="en-US" sz="4000" b="1" u="sng">
              <a:solidFill>
                <a:srgbClr val="392503"/>
              </a:solidFill>
              <a:latin typeface="Times New Roman" panose="02020603050405020304" pitchFamily="18" charset="0"/>
              <a:ea typeface="Aprila Bold"/>
              <a:cs typeface="Times New Roman" panose="02020603050405020304" pitchFamily="18" charset="0"/>
              <a:sym typeface="Aprila Bold"/>
            </a:endParaRPr>
          </a:p>
          <a:p>
            <a:pPr algn="l"/>
            <a:r>
              <a:rPr lang="en-US" sz="4000" b="1" u="sng">
                <a:solidFill>
                  <a:srgbClr val="392503"/>
                </a:solidFill>
                <a:latin typeface="Times New Roman" panose="02020603050405020304" pitchFamily="18" charset="0"/>
                <a:ea typeface="Aprila Bold"/>
                <a:cs typeface="Times New Roman" panose="02020603050405020304" pitchFamily="18" charset="0"/>
                <a:sym typeface="Aprila Bold"/>
              </a:rPr>
              <a:t>  </a:t>
            </a:r>
          </a:p>
          <a:p>
            <a:pPr marL="742950" indent="-742950" algn="l">
              <a:buFont typeface="+mj-lt"/>
              <a:buAutoNum type="arabicPeriod"/>
            </a:pPr>
            <a:r>
              <a:rPr lang="en-US" sz="3600" b="1" u="sng">
                <a:solidFill>
                  <a:srgbClr val="392503"/>
                </a:solidFill>
                <a:latin typeface="Times New Roman" panose="02020603050405020304" pitchFamily="18" charset="0"/>
                <a:ea typeface="Aprila Bold"/>
                <a:cs typeface="Times New Roman" panose="02020603050405020304" pitchFamily="18" charset="0"/>
                <a:sym typeface="Aprila Bold"/>
              </a:rPr>
              <a:t>Pause &amp; Choose</a:t>
            </a:r>
            <a:r>
              <a:rPr lang="en-US" sz="3600" b="1">
                <a:solidFill>
                  <a:srgbClr val="392503"/>
                </a:solidFill>
                <a:latin typeface="Times New Roman" panose="02020603050405020304" pitchFamily="18" charset="0"/>
                <a:ea typeface="Aprila Bold"/>
                <a:cs typeface="Times New Roman" panose="02020603050405020304" pitchFamily="18" charset="0"/>
                <a:sym typeface="Aprila Bold"/>
              </a:rPr>
              <a:t>: Use self-awareness to stop automatic reactions </a:t>
            </a:r>
          </a:p>
          <a:p>
            <a:pPr marL="742950" indent="-742950" algn="l">
              <a:buFont typeface="+mj-lt"/>
              <a:buAutoNum type="arabicPeriod"/>
            </a:pPr>
            <a:endParaRPr lang="en-US" sz="3600" b="1">
              <a:solidFill>
                <a:srgbClr val="392503"/>
              </a:solidFill>
              <a:latin typeface="Times New Roman" panose="02020603050405020304" pitchFamily="18" charset="0"/>
              <a:ea typeface="Aprila Bold"/>
              <a:cs typeface="Times New Roman" panose="02020603050405020304" pitchFamily="18" charset="0"/>
              <a:sym typeface="Aprila Bold"/>
            </a:endParaRPr>
          </a:p>
          <a:p>
            <a:pPr marL="742950" indent="-742950" algn="l">
              <a:buFont typeface="+mj-lt"/>
              <a:buAutoNum type="arabicPeriod"/>
            </a:pPr>
            <a:r>
              <a:rPr lang="en-US" sz="3600" b="1" u="sng">
                <a:solidFill>
                  <a:srgbClr val="392503"/>
                </a:solidFill>
                <a:latin typeface="Times New Roman" panose="02020603050405020304" pitchFamily="18" charset="0"/>
                <a:ea typeface="Aprila Bold"/>
                <a:cs typeface="Times New Roman" panose="02020603050405020304" pitchFamily="18" charset="0"/>
                <a:sym typeface="Aprila Bold"/>
              </a:rPr>
              <a:t> Make &amp; Keep Commitments</a:t>
            </a:r>
            <a:r>
              <a:rPr lang="en-US" sz="3600" b="1">
                <a:solidFill>
                  <a:srgbClr val="392503"/>
                </a:solidFill>
                <a:latin typeface="Times New Roman" panose="02020603050405020304" pitchFamily="18" charset="0"/>
                <a:ea typeface="Aprila Bold"/>
                <a:cs typeface="Times New Roman" panose="02020603050405020304" pitchFamily="18" charset="0"/>
                <a:sym typeface="Aprila Bold"/>
              </a:rPr>
              <a:t>: Start small – build integrity with yourself  </a:t>
            </a:r>
          </a:p>
          <a:p>
            <a:pPr marL="742950" indent="-742950" algn="l">
              <a:buFont typeface="+mj-lt"/>
              <a:buAutoNum type="arabicPeriod"/>
            </a:pPr>
            <a:endParaRPr lang="en-US" sz="3600" b="1">
              <a:solidFill>
                <a:srgbClr val="392503"/>
              </a:solidFill>
              <a:latin typeface="Times New Roman" panose="02020603050405020304" pitchFamily="18" charset="0"/>
              <a:ea typeface="Aprila Bold"/>
              <a:cs typeface="Times New Roman" panose="02020603050405020304" pitchFamily="18" charset="0"/>
              <a:sym typeface="Aprila Bold"/>
            </a:endParaRPr>
          </a:p>
          <a:p>
            <a:pPr marL="742950" indent="-742950" algn="l">
              <a:buFont typeface="+mj-lt"/>
              <a:buAutoNum type="arabicPeriod"/>
            </a:pPr>
            <a:r>
              <a:rPr lang="en-US" sz="3600" b="1" u="sng">
                <a:solidFill>
                  <a:srgbClr val="392503"/>
                </a:solidFill>
                <a:latin typeface="Times New Roman" panose="02020603050405020304" pitchFamily="18" charset="0"/>
                <a:ea typeface="Aprila Bold"/>
                <a:cs typeface="Times New Roman" panose="02020603050405020304" pitchFamily="18" charset="0"/>
                <a:sym typeface="Aprila Bold"/>
              </a:rPr>
              <a:t>Focus on Influence</a:t>
            </a:r>
            <a:r>
              <a:rPr lang="en-US" sz="3600" b="1">
                <a:solidFill>
                  <a:srgbClr val="392503"/>
                </a:solidFill>
                <a:latin typeface="Times New Roman" panose="02020603050405020304" pitchFamily="18" charset="0"/>
                <a:ea typeface="Aprila Bold"/>
                <a:cs typeface="Times New Roman" panose="02020603050405020304" pitchFamily="18" charset="0"/>
                <a:sym typeface="Aprila Bold"/>
              </a:rPr>
              <a:t>: List 1 problem → Identify actions in your control → Do it this week  </a:t>
            </a:r>
          </a:p>
          <a:p>
            <a:pPr marL="742950" indent="-742950" algn="l">
              <a:buFont typeface="+mj-lt"/>
              <a:buAutoNum type="arabicPeriod"/>
            </a:pPr>
            <a:endParaRPr lang="en-US" sz="3600" b="1">
              <a:solidFill>
                <a:srgbClr val="392503"/>
              </a:solidFill>
              <a:latin typeface="Times New Roman" panose="02020603050405020304" pitchFamily="18" charset="0"/>
              <a:ea typeface="Aprila Bold"/>
              <a:cs typeface="Times New Roman" panose="02020603050405020304" pitchFamily="18" charset="0"/>
              <a:sym typeface="Aprila Bold"/>
            </a:endParaRPr>
          </a:p>
          <a:p>
            <a:pPr marL="742950" indent="-742950" algn="l">
              <a:buFont typeface="+mj-lt"/>
              <a:buAutoNum type="arabicPeriod"/>
            </a:pPr>
            <a:r>
              <a:rPr lang="en-US" sz="3600" b="1" u="sng">
                <a:solidFill>
                  <a:srgbClr val="392503"/>
                </a:solidFill>
                <a:latin typeface="Times New Roman" panose="02020603050405020304" pitchFamily="18" charset="0"/>
                <a:ea typeface="Aprila Bold"/>
                <a:cs typeface="Times New Roman" panose="02020603050405020304" pitchFamily="18" charset="0"/>
                <a:sym typeface="Aprila Bold"/>
              </a:rPr>
              <a:t>Carry Your Own Weather</a:t>
            </a:r>
            <a:r>
              <a:rPr lang="en-US" sz="3600" b="1">
                <a:solidFill>
                  <a:srgbClr val="392503"/>
                </a:solidFill>
                <a:latin typeface="Times New Roman" panose="02020603050405020304" pitchFamily="18" charset="0"/>
                <a:ea typeface="Aprila Bold"/>
                <a:cs typeface="Times New Roman" panose="02020603050405020304" pitchFamily="18" charset="0"/>
                <a:sym typeface="Aprila Bold"/>
              </a:rPr>
              <a:t>: Don’t let others’ moods or external events decide your attitude  Result: More control, less stress, better outcomes</a:t>
            </a:r>
          </a:p>
        </p:txBody>
      </p:sp>
      <p:pic>
        <p:nvPicPr>
          <p:cNvPr id="38" name="Picture 37">
            <a:extLst>
              <a:ext uri="{FF2B5EF4-FFF2-40B4-BE49-F238E27FC236}">
                <a16:creationId xmlns:a16="http://schemas.microsoft.com/office/drawing/2014/main" id="{2EC306B1-9F74-4DCE-965A-AD2274CF6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2258" y="889355"/>
            <a:ext cx="10055742" cy="9341108"/>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4" name="Freeform 24"/>
          <p:cNvSpPr/>
          <p:nvPr/>
        </p:nvSpPr>
        <p:spPr>
          <a:xfrm>
            <a:off x="368890" y="8817056"/>
            <a:ext cx="882489" cy="882489"/>
          </a:xfrm>
          <a:custGeom>
            <a:avLst/>
            <a:gdLst/>
            <a:ahLst/>
            <a:cxnLst/>
            <a:rect l="l" t="t" r="r" b="b"/>
            <a:pathLst>
              <a:path w="882489" h="882489">
                <a:moveTo>
                  <a:pt x="0" y="0"/>
                </a:moveTo>
                <a:lnTo>
                  <a:pt x="882489" y="0"/>
                </a:lnTo>
                <a:lnTo>
                  <a:pt x="882489" y="882488"/>
                </a:lnTo>
                <a:lnTo>
                  <a:pt x="0" y="8824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2">
            <a:extLst>
              <a:ext uri="{FF2B5EF4-FFF2-40B4-BE49-F238E27FC236}">
                <a16:creationId xmlns:a16="http://schemas.microsoft.com/office/drawing/2014/main" id="{EF547E0D-0494-18B2-756F-6A029329B18B}"/>
              </a:ext>
            </a:extLst>
          </p:cNvPr>
          <p:cNvSpPr txBox="1"/>
          <p:nvPr/>
        </p:nvSpPr>
        <p:spPr>
          <a:xfrm>
            <a:off x="5936458" y="238245"/>
            <a:ext cx="6143624"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u="sng" dirty="0"/>
              <a:t>2</a:t>
            </a:r>
            <a:r>
              <a:rPr lang="en-US" sz="2800" b="1" u="sng" baseline="30000" dirty="0"/>
              <a:t>nd</a:t>
            </a:r>
            <a:r>
              <a:rPr lang="en-US" sz="2800" b="1" u="sng" dirty="0"/>
              <a:t> </a:t>
            </a:r>
            <a:r>
              <a:rPr lang="en-US" sz="2800" b="1" u="sng" dirty="0" err="1"/>
              <a:t>Habbit</a:t>
            </a:r>
            <a:r>
              <a:rPr lang="en-US" sz="2800" b="1" u="sng" dirty="0"/>
              <a:t>:</a:t>
            </a:r>
            <a:r>
              <a:rPr lang="en-US" sz="2800" b="1" i="1" u="sng" dirty="0"/>
              <a:t> Begins with the End Of Mind</a:t>
            </a:r>
          </a:p>
        </p:txBody>
      </p:sp>
      <p:sp>
        <p:nvSpPr>
          <p:cNvPr id="4" name="TextBox 3">
            <a:extLst>
              <a:ext uri="{FF2B5EF4-FFF2-40B4-BE49-F238E27FC236}">
                <a16:creationId xmlns:a16="http://schemas.microsoft.com/office/drawing/2014/main" id="{448C4DF1-F3CF-0D68-C3FA-8AC87A63A949}"/>
              </a:ext>
            </a:extLst>
          </p:cNvPr>
          <p:cNvSpPr txBox="1"/>
          <p:nvPr/>
        </p:nvSpPr>
        <p:spPr>
          <a:xfrm>
            <a:off x="7593806" y="951935"/>
            <a:ext cx="3100388"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i="1" u="sng"/>
              <a:t>Introduction:</a:t>
            </a:r>
          </a:p>
        </p:txBody>
      </p:sp>
      <p:sp>
        <p:nvSpPr>
          <p:cNvPr id="5" name="TextBox 4">
            <a:extLst>
              <a:ext uri="{FF2B5EF4-FFF2-40B4-BE49-F238E27FC236}">
                <a16:creationId xmlns:a16="http://schemas.microsoft.com/office/drawing/2014/main" id="{38C1D44B-F8A5-49D5-BD2B-13D4493A36BB}"/>
              </a:ext>
            </a:extLst>
          </p:cNvPr>
          <p:cNvSpPr txBox="1"/>
          <p:nvPr/>
        </p:nvSpPr>
        <p:spPr>
          <a:xfrm>
            <a:off x="1251379" y="1665625"/>
            <a:ext cx="13058775" cy="440120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400"/>
              <a:t> “</a:t>
            </a:r>
            <a:r>
              <a:rPr lang="en-US" sz="2800"/>
              <a:t>Begin with the End in Mind” is from Stephen R. Covey’s book “The 7 Habits of Highly Effective People.” It means that before starting any work, we should think about our goal and the result we want to achieve.</a:t>
            </a:r>
          </a:p>
          <a:p>
            <a:pPr algn="l"/>
            <a:r>
              <a:rPr lang="en-US" sz="2800"/>
              <a:t>
This habit teaches us to plan our life and actions according to our future goals. When we know our destination, it becomes easier to decide what steps we should take.</a:t>
            </a:r>
          </a:p>
          <a:p>
            <a:pPr algn="l"/>
            <a:r>
              <a:rPr lang="en-US" sz="2800"/>
              <a:t>
</a:t>
            </a:r>
            <a:r>
              <a:rPr lang="en-US" sz="2800" b="1" i="1" u="sng"/>
              <a:t>Explanation:</a:t>
            </a:r>
            <a:r>
              <a:rPr lang="en-US" sz="2800"/>
              <a:t>
“Begin with the End in Mind” means that we should imagine our success or final result first, and then work toward it. It helps us stay focused and make better decisions.</a:t>
            </a:r>
          </a:p>
        </p:txBody>
      </p:sp>
      <p:sp>
        <p:nvSpPr>
          <p:cNvPr id="2" name="TextBox 1">
            <a:extLst>
              <a:ext uri="{FF2B5EF4-FFF2-40B4-BE49-F238E27FC236}">
                <a16:creationId xmlns:a16="http://schemas.microsoft.com/office/drawing/2014/main" id="{D4B7E711-0C88-3DE2-861C-8C719BB00703}"/>
              </a:ext>
            </a:extLst>
          </p:cNvPr>
          <p:cNvSpPr txBox="1"/>
          <p:nvPr/>
        </p:nvSpPr>
        <p:spPr>
          <a:xfrm>
            <a:off x="1251379" y="6257300"/>
            <a:ext cx="7115174"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200" b="1" u="sng"/>
              <a:t>1.</a:t>
            </a:r>
            <a:r>
              <a:rPr lang="en-US" sz="3200" b="1" i="1" u="sng"/>
              <a:t> Clear Goal:</a:t>
            </a:r>
          </a:p>
        </p:txBody>
      </p:sp>
      <p:sp>
        <p:nvSpPr>
          <p:cNvPr id="6" name="TextBox 5">
            <a:extLst>
              <a:ext uri="{FF2B5EF4-FFF2-40B4-BE49-F238E27FC236}">
                <a16:creationId xmlns:a16="http://schemas.microsoft.com/office/drawing/2014/main" id="{42CA2A70-C56A-0A1D-8E2A-34D121C50F7A}"/>
              </a:ext>
            </a:extLst>
          </p:cNvPr>
          <p:cNvSpPr txBox="1"/>
          <p:nvPr/>
        </p:nvSpPr>
        <p:spPr>
          <a:xfrm>
            <a:off x="1251379" y="6854265"/>
            <a:ext cx="10007171"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a:t>Always knows what you want to achieve before starting anything.</a:t>
            </a:r>
          </a:p>
        </p:txBody>
      </p:sp>
      <p:sp>
        <p:nvSpPr>
          <p:cNvPr id="7" name="TextBox 6">
            <a:extLst>
              <a:ext uri="{FF2B5EF4-FFF2-40B4-BE49-F238E27FC236}">
                <a16:creationId xmlns:a16="http://schemas.microsoft.com/office/drawing/2014/main" id="{2F04E10C-4BA1-27F9-B3FC-2889A41529F0}"/>
              </a:ext>
            </a:extLst>
          </p:cNvPr>
          <p:cNvSpPr txBox="1"/>
          <p:nvPr/>
        </p:nvSpPr>
        <p:spPr>
          <a:xfrm>
            <a:off x="1251379" y="7337122"/>
            <a:ext cx="5257799"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200" b="1" i="1"/>
              <a:t>2. </a:t>
            </a:r>
            <a:r>
              <a:rPr lang="en-US" sz="3200" b="1" i="1" u="sng"/>
              <a:t>Think About the Future:</a:t>
            </a:r>
            <a:endParaRPr lang="en-US" sz="3200" b="1" i="1"/>
          </a:p>
        </p:txBody>
      </p:sp>
      <p:sp>
        <p:nvSpPr>
          <p:cNvPr id="8" name="TextBox 7">
            <a:extLst>
              <a:ext uri="{FF2B5EF4-FFF2-40B4-BE49-F238E27FC236}">
                <a16:creationId xmlns:a16="http://schemas.microsoft.com/office/drawing/2014/main" id="{A964EF50-A0C5-00BE-6F81-8E60F12C1F79}"/>
              </a:ext>
            </a:extLst>
          </p:cNvPr>
          <p:cNvSpPr txBox="1"/>
          <p:nvPr/>
        </p:nvSpPr>
        <p:spPr>
          <a:xfrm>
            <a:off x="1178723" y="8143144"/>
            <a:ext cx="9515471"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a:t>Imagine your final result or success first, then plan your actions.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8" name="Group 8"/>
          <p:cNvGrpSpPr/>
          <p:nvPr/>
        </p:nvGrpSpPr>
        <p:grpSpPr>
          <a:xfrm>
            <a:off x="0" y="-1859120"/>
            <a:ext cx="18288000" cy="2887820"/>
            <a:chOff x="0" y="0"/>
            <a:chExt cx="24384000" cy="3850426"/>
          </a:xfrm>
        </p:grpSpPr>
        <p:grpSp>
          <p:nvGrpSpPr>
            <p:cNvPr id="9" name="Group 9"/>
            <p:cNvGrpSpPr/>
            <p:nvPr/>
          </p:nvGrpSpPr>
          <p:grpSpPr>
            <a:xfrm rot="-5400000">
              <a:off x="1732387" y="706013"/>
              <a:ext cx="3850426" cy="2438400"/>
              <a:chOff x="0" y="0"/>
              <a:chExt cx="1284254" cy="813293"/>
            </a:xfrm>
          </p:grpSpPr>
          <p:sp>
            <p:nvSpPr>
              <p:cNvPr id="10" name="Freeform 1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1" name="TextBox 1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 name="Group 12"/>
            <p:cNvGrpSpPr/>
            <p:nvPr/>
          </p:nvGrpSpPr>
          <p:grpSpPr>
            <a:xfrm rot="-5400000">
              <a:off x="4170787" y="706013"/>
              <a:ext cx="3850426" cy="2438400"/>
              <a:chOff x="0" y="0"/>
              <a:chExt cx="1284254" cy="813293"/>
            </a:xfrm>
          </p:grpSpPr>
          <p:sp>
            <p:nvSpPr>
              <p:cNvPr id="13" name="Freeform 1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 name="TextBox 1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5" name="Group 15"/>
            <p:cNvGrpSpPr/>
            <p:nvPr/>
          </p:nvGrpSpPr>
          <p:grpSpPr>
            <a:xfrm rot="-5400000">
              <a:off x="6609187" y="706013"/>
              <a:ext cx="3850426" cy="2438400"/>
              <a:chOff x="0" y="0"/>
              <a:chExt cx="1284254" cy="813293"/>
            </a:xfrm>
          </p:grpSpPr>
          <p:sp>
            <p:nvSpPr>
              <p:cNvPr id="16" name="Freeform 1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 name="TextBox 1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8" name="Group 18"/>
            <p:cNvGrpSpPr/>
            <p:nvPr/>
          </p:nvGrpSpPr>
          <p:grpSpPr>
            <a:xfrm rot="-5400000">
              <a:off x="-706013" y="706013"/>
              <a:ext cx="3850426" cy="2438400"/>
              <a:chOff x="0" y="0"/>
              <a:chExt cx="1284254" cy="813293"/>
            </a:xfrm>
          </p:grpSpPr>
          <p:sp>
            <p:nvSpPr>
              <p:cNvPr id="19" name="Freeform 1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 name="TextBox 2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1" name="Group 21"/>
            <p:cNvGrpSpPr/>
            <p:nvPr/>
          </p:nvGrpSpPr>
          <p:grpSpPr>
            <a:xfrm rot="-5400000">
              <a:off x="9047587" y="706013"/>
              <a:ext cx="3850426" cy="2438400"/>
              <a:chOff x="0" y="0"/>
              <a:chExt cx="1284254" cy="813293"/>
            </a:xfrm>
          </p:grpSpPr>
          <p:sp>
            <p:nvSpPr>
              <p:cNvPr id="22" name="Freeform 2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 name="TextBox 2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4" name="Group 24"/>
            <p:cNvGrpSpPr/>
            <p:nvPr/>
          </p:nvGrpSpPr>
          <p:grpSpPr>
            <a:xfrm rot="-5400000">
              <a:off x="11485987" y="706013"/>
              <a:ext cx="3850426" cy="2438400"/>
              <a:chOff x="0" y="0"/>
              <a:chExt cx="1284254" cy="813293"/>
            </a:xfrm>
          </p:grpSpPr>
          <p:sp>
            <p:nvSpPr>
              <p:cNvPr id="25" name="Freeform 2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 name="TextBox 2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7" name="Group 27"/>
            <p:cNvGrpSpPr/>
            <p:nvPr/>
          </p:nvGrpSpPr>
          <p:grpSpPr>
            <a:xfrm rot="-5400000">
              <a:off x="13924387" y="706013"/>
              <a:ext cx="3850426" cy="2438400"/>
              <a:chOff x="0" y="0"/>
              <a:chExt cx="1284254" cy="813293"/>
            </a:xfrm>
          </p:grpSpPr>
          <p:sp>
            <p:nvSpPr>
              <p:cNvPr id="28" name="Freeform 2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 name="TextBox 2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0" name="Group 30"/>
            <p:cNvGrpSpPr/>
            <p:nvPr/>
          </p:nvGrpSpPr>
          <p:grpSpPr>
            <a:xfrm rot="-5400000">
              <a:off x="16362787" y="706013"/>
              <a:ext cx="3850426" cy="2438400"/>
              <a:chOff x="0" y="0"/>
              <a:chExt cx="1284254" cy="813293"/>
            </a:xfrm>
          </p:grpSpPr>
          <p:sp>
            <p:nvSpPr>
              <p:cNvPr id="31" name="Freeform 3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 name="TextBox 3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3" name="Group 33"/>
            <p:cNvGrpSpPr/>
            <p:nvPr/>
          </p:nvGrpSpPr>
          <p:grpSpPr>
            <a:xfrm rot="-5400000">
              <a:off x="18801187" y="706013"/>
              <a:ext cx="3850426" cy="2438400"/>
              <a:chOff x="0" y="0"/>
              <a:chExt cx="1284254" cy="813293"/>
            </a:xfrm>
          </p:grpSpPr>
          <p:sp>
            <p:nvSpPr>
              <p:cNvPr id="34" name="Freeform 3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5" name="TextBox 3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6" name="Group 36"/>
            <p:cNvGrpSpPr/>
            <p:nvPr/>
          </p:nvGrpSpPr>
          <p:grpSpPr>
            <a:xfrm rot="-5400000">
              <a:off x="21239587" y="706013"/>
              <a:ext cx="3850426" cy="2438400"/>
              <a:chOff x="0" y="0"/>
              <a:chExt cx="1284254" cy="813293"/>
            </a:xfrm>
          </p:grpSpPr>
          <p:sp>
            <p:nvSpPr>
              <p:cNvPr id="37" name="Freeform 3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8" name="TextBox 3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grpSp>
        <p:nvGrpSpPr>
          <p:cNvPr id="39" name="Group 39"/>
          <p:cNvGrpSpPr/>
          <p:nvPr/>
        </p:nvGrpSpPr>
        <p:grpSpPr>
          <a:xfrm>
            <a:off x="0" y="9258300"/>
            <a:ext cx="18288000" cy="2887820"/>
            <a:chOff x="0" y="0"/>
            <a:chExt cx="24384000" cy="3850426"/>
          </a:xfrm>
        </p:grpSpPr>
        <p:grpSp>
          <p:nvGrpSpPr>
            <p:cNvPr id="40" name="Group 40"/>
            <p:cNvGrpSpPr/>
            <p:nvPr/>
          </p:nvGrpSpPr>
          <p:grpSpPr>
            <a:xfrm rot="-5400000">
              <a:off x="1732387" y="706013"/>
              <a:ext cx="3850426" cy="2438400"/>
              <a:chOff x="0" y="0"/>
              <a:chExt cx="1284254" cy="813293"/>
            </a:xfrm>
          </p:grpSpPr>
          <p:sp>
            <p:nvSpPr>
              <p:cNvPr id="41" name="Freeform 4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2" name="TextBox 4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3" name="Group 43"/>
            <p:cNvGrpSpPr/>
            <p:nvPr/>
          </p:nvGrpSpPr>
          <p:grpSpPr>
            <a:xfrm rot="-5400000">
              <a:off x="4170787" y="706013"/>
              <a:ext cx="3850426" cy="2438400"/>
              <a:chOff x="0" y="0"/>
              <a:chExt cx="1284254" cy="813293"/>
            </a:xfrm>
          </p:grpSpPr>
          <p:sp>
            <p:nvSpPr>
              <p:cNvPr id="44" name="Freeform 4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5" name="TextBox 4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6" name="Group 46"/>
            <p:cNvGrpSpPr/>
            <p:nvPr/>
          </p:nvGrpSpPr>
          <p:grpSpPr>
            <a:xfrm rot="-5400000">
              <a:off x="6609187" y="706013"/>
              <a:ext cx="3850426" cy="2438400"/>
              <a:chOff x="0" y="0"/>
              <a:chExt cx="1284254" cy="813293"/>
            </a:xfrm>
          </p:grpSpPr>
          <p:sp>
            <p:nvSpPr>
              <p:cNvPr id="47" name="Freeform 4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8" name="TextBox 4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9" name="Group 49"/>
            <p:cNvGrpSpPr/>
            <p:nvPr/>
          </p:nvGrpSpPr>
          <p:grpSpPr>
            <a:xfrm rot="-5400000">
              <a:off x="-706013" y="706013"/>
              <a:ext cx="3850426" cy="2438400"/>
              <a:chOff x="0" y="0"/>
              <a:chExt cx="1284254" cy="813293"/>
            </a:xfrm>
          </p:grpSpPr>
          <p:sp>
            <p:nvSpPr>
              <p:cNvPr id="50" name="Freeform 5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1" name="TextBox 5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2" name="Group 52"/>
            <p:cNvGrpSpPr/>
            <p:nvPr/>
          </p:nvGrpSpPr>
          <p:grpSpPr>
            <a:xfrm rot="-5400000">
              <a:off x="9047587" y="706013"/>
              <a:ext cx="3850426" cy="2438400"/>
              <a:chOff x="0" y="0"/>
              <a:chExt cx="1284254" cy="813293"/>
            </a:xfrm>
          </p:grpSpPr>
          <p:sp>
            <p:nvSpPr>
              <p:cNvPr id="53" name="Freeform 5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4" name="TextBox 5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5" name="Group 55"/>
            <p:cNvGrpSpPr/>
            <p:nvPr/>
          </p:nvGrpSpPr>
          <p:grpSpPr>
            <a:xfrm rot="-5400000">
              <a:off x="11485987" y="706013"/>
              <a:ext cx="3850426" cy="2438400"/>
              <a:chOff x="0" y="0"/>
              <a:chExt cx="1284254" cy="813293"/>
            </a:xfrm>
          </p:grpSpPr>
          <p:sp>
            <p:nvSpPr>
              <p:cNvPr id="56" name="Freeform 5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7" name="TextBox 5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8" name="Group 58"/>
            <p:cNvGrpSpPr/>
            <p:nvPr/>
          </p:nvGrpSpPr>
          <p:grpSpPr>
            <a:xfrm rot="-5400000">
              <a:off x="13924387" y="706013"/>
              <a:ext cx="3850426" cy="2438400"/>
              <a:chOff x="0" y="0"/>
              <a:chExt cx="1284254" cy="813293"/>
            </a:xfrm>
          </p:grpSpPr>
          <p:sp>
            <p:nvSpPr>
              <p:cNvPr id="59" name="Freeform 5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0" name="TextBox 6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1" name="Group 61"/>
            <p:cNvGrpSpPr/>
            <p:nvPr/>
          </p:nvGrpSpPr>
          <p:grpSpPr>
            <a:xfrm rot="-5400000">
              <a:off x="16362787" y="706013"/>
              <a:ext cx="3850426" cy="2438400"/>
              <a:chOff x="0" y="0"/>
              <a:chExt cx="1284254" cy="813293"/>
            </a:xfrm>
          </p:grpSpPr>
          <p:sp>
            <p:nvSpPr>
              <p:cNvPr id="62" name="Freeform 6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3" name="TextBox 6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4" name="Group 64"/>
            <p:cNvGrpSpPr/>
            <p:nvPr/>
          </p:nvGrpSpPr>
          <p:grpSpPr>
            <a:xfrm rot="-5400000">
              <a:off x="18801187" y="706013"/>
              <a:ext cx="3850426" cy="2438400"/>
              <a:chOff x="0" y="0"/>
              <a:chExt cx="1284254" cy="813293"/>
            </a:xfrm>
          </p:grpSpPr>
          <p:sp>
            <p:nvSpPr>
              <p:cNvPr id="65" name="Freeform 6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6" name="TextBox 6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7" name="Group 67"/>
            <p:cNvGrpSpPr/>
            <p:nvPr/>
          </p:nvGrpSpPr>
          <p:grpSpPr>
            <a:xfrm rot="-5400000">
              <a:off x="21239587" y="706013"/>
              <a:ext cx="3850426" cy="2438400"/>
              <a:chOff x="0" y="0"/>
              <a:chExt cx="1284254" cy="813293"/>
            </a:xfrm>
          </p:grpSpPr>
          <p:sp>
            <p:nvSpPr>
              <p:cNvPr id="68" name="Freeform 6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9" name="TextBox 6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71" name="Freeform 71"/>
          <p:cNvSpPr/>
          <p:nvPr/>
        </p:nvSpPr>
        <p:spPr>
          <a:xfrm>
            <a:off x="13993068" y="5596420"/>
            <a:ext cx="2576528" cy="2576528"/>
          </a:xfrm>
          <a:custGeom>
            <a:avLst/>
            <a:gdLst/>
            <a:ahLst/>
            <a:cxnLst/>
            <a:rect l="l" t="t" r="r" b="b"/>
            <a:pathLst>
              <a:path w="2576528" h="2576528">
                <a:moveTo>
                  <a:pt x="0" y="0"/>
                </a:moveTo>
                <a:lnTo>
                  <a:pt x="2576527" y="0"/>
                </a:lnTo>
                <a:lnTo>
                  <a:pt x="2576527" y="2576528"/>
                </a:lnTo>
                <a:lnTo>
                  <a:pt x="0" y="25765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3" name="TextBox 72">
            <a:extLst>
              <a:ext uri="{FF2B5EF4-FFF2-40B4-BE49-F238E27FC236}">
                <a16:creationId xmlns:a16="http://schemas.microsoft.com/office/drawing/2014/main" id="{92C76290-F473-5BE9-65F4-AB5C8CC1B75D}"/>
              </a:ext>
            </a:extLst>
          </p:cNvPr>
          <p:cNvSpPr txBox="1"/>
          <p:nvPr/>
        </p:nvSpPr>
        <p:spPr>
          <a:xfrm rot="10800000" flipH="1" flipV="1">
            <a:off x="571500" y="1371599"/>
            <a:ext cx="9086850"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200" b="1" i="1"/>
              <a:t>3. </a:t>
            </a:r>
            <a:r>
              <a:rPr lang="en-US" sz="3200" b="1" i="1" u="sng"/>
              <a:t>Life has Direction:</a:t>
            </a:r>
            <a:endParaRPr lang="en-US" sz="3200" b="1" i="1"/>
          </a:p>
        </p:txBody>
      </p:sp>
      <p:sp>
        <p:nvSpPr>
          <p:cNvPr id="74" name="TextBox 73">
            <a:extLst>
              <a:ext uri="{FF2B5EF4-FFF2-40B4-BE49-F238E27FC236}">
                <a16:creationId xmlns:a16="http://schemas.microsoft.com/office/drawing/2014/main" id="{FF9355E7-B59B-EF64-51C9-D806523E5444}"/>
              </a:ext>
            </a:extLst>
          </p:cNvPr>
          <p:cNvSpPr txBox="1"/>
          <p:nvPr/>
        </p:nvSpPr>
        <p:spPr>
          <a:xfrm>
            <a:off x="571500" y="2094843"/>
            <a:ext cx="9086850"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a:t>This habit gives your life a clear direction and purpose.</a:t>
            </a:r>
          </a:p>
        </p:txBody>
      </p:sp>
      <p:sp>
        <p:nvSpPr>
          <p:cNvPr id="75" name="TextBox 74">
            <a:extLst>
              <a:ext uri="{FF2B5EF4-FFF2-40B4-BE49-F238E27FC236}">
                <a16:creationId xmlns:a16="http://schemas.microsoft.com/office/drawing/2014/main" id="{C41D588C-4AFC-5D63-8A53-4AA004B9381B}"/>
              </a:ext>
            </a:extLst>
          </p:cNvPr>
          <p:cNvSpPr txBox="1"/>
          <p:nvPr/>
        </p:nvSpPr>
        <p:spPr>
          <a:xfrm>
            <a:off x="478630" y="2756531"/>
            <a:ext cx="6357938"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200" b="1" i="1"/>
              <a:t>4.</a:t>
            </a:r>
            <a:r>
              <a:rPr lang="en-US" sz="3200" b="1" i="1" u="sng"/>
              <a:t> Better Decision Making:</a:t>
            </a:r>
            <a:endParaRPr lang="en-US" sz="3200" b="1" i="1"/>
          </a:p>
        </p:txBody>
      </p:sp>
      <p:sp>
        <p:nvSpPr>
          <p:cNvPr id="76" name="TextBox 75">
            <a:extLst>
              <a:ext uri="{FF2B5EF4-FFF2-40B4-BE49-F238E27FC236}">
                <a16:creationId xmlns:a16="http://schemas.microsoft.com/office/drawing/2014/main" id="{F51430E1-3EA8-A8C1-947E-DD1E096DC92C}"/>
              </a:ext>
            </a:extLst>
          </p:cNvPr>
          <p:cNvSpPr txBox="1"/>
          <p:nvPr/>
        </p:nvSpPr>
        <p:spPr>
          <a:xfrm>
            <a:off x="302402" y="3618242"/>
            <a:ext cx="991552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a:t>When your goal is clear, you can make right and smart decisions.</a:t>
            </a:r>
          </a:p>
        </p:txBody>
      </p:sp>
      <p:sp>
        <p:nvSpPr>
          <p:cNvPr id="77" name="TextBox 76">
            <a:extLst>
              <a:ext uri="{FF2B5EF4-FFF2-40B4-BE49-F238E27FC236}">
                <a16:creationId xmlns:a16="http://schemas.microsoft.com/office/drawing/2014/main" id="{3C457FFD-326B-87C3-FA80-0469F268E3D1}"/>
              </a:ext>
            </a:extLst>
          </p:cNvPr>
          <p:cNvSpPr txBox="1"/>
          <p:nvPr/>
        </p:nvSpPr>
        <p:spPr>
          <a:xfrm>
            <a:off x="392904" y="4372551"/>
            <a:ext cx="6212698"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200" b="1" i="1"/>
              <a:t>5. </a:t>
            </a:r>
            <a:r>
              <a:rPr lang="en-US" sz="3200" b="1" i="1" u="sng"/>
              <a:t>Personal mission Statement:</a:t>
            </a:r>
            <a:endParaRPr lang="en-US" sz="3200" b="1" i="1"/>
          </a:p>
        </p:txBody>
      </p:sp>
      <p:sp>
        <p:nvSpPr>
          <p:cNvPr id="78" name="TextBox 77">
            <a:extLst>
              <a:ext uri="{FF2B5EF4-FFF2-40B4-BE49-F238E27FC236}">
                <a16:creationId xmlns:a16="http://schemas.microsoft.com/office/drawing/2014/main" id="{8AB0ED6C-7D16-4BB4-73C2-F1434F3431A7}"/>
              </a:ext>
            </a:extLst>
          </p:cNvPr>
          <p:cNvSpPr txBox="1"/>
          <p:nvPr/>
        </p:nvSpPr>
        <p:spPr>
          <a:xfrm>
            <a:off x="914400" y="5094286"/>
            <a:ext cx="4743449" cy="181588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a:t>Create a statement about:</a:t>
            </a:r>
          </a:p>
          <a:p>
            <a:pPr marL="457200" indent="-457200" algn="l">
              <a:buFont typeface="Arial" pitchFamily="34" charset="0"/>
              <a:buChar char="•"/>
            </a:pPr>
            <a:r>
              <a:rPr lang="en-US" sz="2800"/>
              <a:t>Your goals</a:t>
            </a:r>
          </a:p>
          <a:p>
            <a:pPr marL="457200" indent="-457200" algn="l">
              <a:buFont typeface="Arial" pitchFamily="34" charset="0"/>
              <a:buChar char="•"/>
            </a:pPr>
            <a:r>
              <a:rPr lang="en-US" sz="2800"/>
              <a:t>Your values.</a:t>
            </a:r>
          </a:p>
          <a:p>
            <a:pPr marL="457200" indent="-457200" algn="l">
              <a:buFont typeface="Arial" pitchFamily="34" charset="0"/>
              <a:buChar char="•"/>
            </a:pPr>
            <a:r>
              <a:rPr lang="en-US" sz="2800"/>
              <a:t>What you want to become.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12" name="Group 12"/>
          <p:cNvGrpSpPr/>
          <p:nvPr/>
        </p:nvGrpSpPr>
        <p:grpSpPr>
          <a:xfrm>
            <a:off x="2288714" y="6999866"/>
            <a:ext cx="13710572" cy="983579"/>
            <a:chOff x="0" y="0"/>
            <a:chExt cx="5665004" cy="406400"/>
          </a:xfrm>
        </p:grpSpPr>
        <p:sp>
          <p:nvSpPr>
            <p:cNvPr id="13" name="Freeform 13"/>
            <p:cNvSpPr/>
            <p:nvPr/>
          </p:nvSpPr>
          <p:spPr>
            <a:xfrm>
              <a:off x="0" y="0"/>
              <a:ext cx="5665004" cy="406400"/>
            </a:xfrm>
            <a:custGeom>
              <a:avLst/>
              <a:gdLst/>
              <a:ahLst/>
              <a:cxnLst/>
              <a:rect l="l" t="t" r="r" b="b"/>
              <a:pathLst>
                <a:path w="5665004" h="406400">
                  <a:moveTo>
                    <a:pt x="5461804" y="0"/>
                  </a:moveTo>
                  <a:cubicBezTo>
                    <a:pt x="5574028" y="0"/>
                    <a:pt x="5665004" y="90976"/>
                    <a:pt x="5665004" y="203200"/>
                  </a:cubicBezTo>
                  <a:cubicBezTo>
                    <a:pt x="5665004" y="315424"/>
                    <a:pt x="5574028" y="406400"/>
                    <a:pt x="5461804" y="406400"/>
                  </a:cubicBezTo>
                  <a:lnTo>
                    <a:pt x="203200" y="406400"/>
                  </a:lnTo>
                  <a:cubicBezTo>
                    <a:pt x="90976" y="406400"/>
                    <a:pt x="0" y="315424"/>
                    <a:pt x="0" y="203200"/>
                  </a:cubicBezTo>
                  <a:cubicBezTo>
                    <a:pt x="0" y="90976"/>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 name="TextBox 14"/>
            <p:cNvSpPr txBox="1"/>
            <p:nvPr/>
          </p:nvSpPr>
          <p:spPr>
            <a:xfrm>
              <a:off x="0" y="-38100"/>
              <a:ext cx="5665004" cy="4445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spcBef>
                  <a:spcPct val="0"/>
                </a:spcBef>
              </a:pPr>
              <a:endParaRPr/>
            </a:p>
          </p:txBody>
        </p:sp>
      </p:grpSp>
      <p:grpSp>
        <p:nvGrpSpPr>
          <p:cNvPr id="16" name="Group 16"/>
          <p:cNvGrpSpPr/>
          <p:nvPr/>
        </p:nvGrpSpPr>
        <p:grpSpPr>
          <a:xfrm>
            <a:off x="-7390394" y="-345440"/>
            <a:ext cx="8926633" cy="10983595"/>
            <a:chOff x="0" y="0"/>
            <a:chExt cx="11902177" cy="14644793"/>
          </a:xfrm>
        </p:grpSpPr>
        <p:grpSp>
          <p:nvGrpSpPr>
            <p:cNvPr id="17" name="Group 17"/>
            <p:cNvGrpSpPr/>
            <p:nvPr/>
          </p:nvGrpSpPr>
          <p:grpSpPr>
            <a:xfrm>
              <a:off x="0" y="0"/>
              <a:ext cx="11225459" cy="14644793"/>
              <a:chOff x="0" y="0"/>
              <a:chExt cx="2217375" cy="2892799"/>
            </a:xfrm>
          </p:grpSpPr>
          <p:sp>
            <p:nvSpPr>
              <p:cNvPr id="18" name="Freeform 18"/>
              <p:cNvSpPr/>
              <p:nvPr/>
            </p:nvSpPr>
            <p:spPr>
              <a:xfrm>
                <a:off x="0" y="0"/>
                <a:ext cx="2217375" cy="2892799"/>
              </a:xfrm>
              <a:custGeom>
                <a:avLst/>
                <a:gdLst/>
                <a:ahLst/>
                <a:cxnLst/>
                <a:rect l="l" t="t" r="r" b="b"/>
                <a:pathLst>
                  <a:path w="2217375" h="2892799">
                    <a:moveTo>
                      <a:pt x="0" y="0"/>
                    </a:moveTo>
                    <a:lnTo>
                      <a:pt x="2217375" y="0"/>
                    </a:lnTo>
                    <a:lnTo>
                      <a:pt x="2217375" y="2892799"/>
                    </a:lnTo>
                    <a:lnTo>
                      <a:pt x="0" y="2892799"/>
                    </a:ln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 name="TextBox 19"/>
              <p:cNvSpPr txBox="1"/>
              <p:nvPr/>
            </p:nvSpPr>
            <p:spPr>
              <a:xfrm>
                <a:off x="0" y="-38100"/>
                <a:ext cx="2217375" cy="293089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0" name="Group 20"/>
            <p:cNvGrpSpPr/>
            <p:nvPr/>
          </p:nvGrpSpPr>
          <p:grpSpPr>
            <a:xfrm>
              <a:off x="8051751" y="2438400"/>
              <a:ext cx="3850426" cy="2438400"/>
              <a:chOff x="0" y="0"/>
              <a:chExt cx="1284254" cy="813293"/>
            </a:xfrm>
          </p:grpSpPr>
          <p:sp>
            <p:nvSpPr>
              <p:cNvPr id="21" name="Freeform 2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 name="TextBox 2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3" name="Group 23"/>
            <p:cNvGrpSpPr/>
            <p:nvPr/>
          </p:nvGrpSpPr>
          <p:grpSpPr>
            <a:xfrm>
              <a:off x="8051751" y="4876800"/>
              <a:ext cx="3850426" cy="2438400"/>
              <a:chOff x="0" y="0"/>
              <a:chExt cx="1284254" cy="813293"/>
            </a:xfrm>
          </p:grpSpPr>
          <p:sp>
            <p:nvSpPr>
              <p:cNvPr id="24" name="Freeform 2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 name="TextBox 2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6" name="Group 26"/>
            <p:cNvGrpSpPr/>
            <p:nvPr/>
          </p:nvGrpSpPr>
          <p:grpSpPr>
            <a:xfrm>
              <a:off x="8051751" y="7315200"/>
              <a:ext cx="3850426" cy="2438400"/>
              <a:chOff x="0" y="0"/>
              <a:chExt cx="1284254" cy="813293"/>
            </a:xfrm>
          </p:grpSpPr>
          <p:sp>
            <p:nvSpPr>
              <p:cNvPr id="27" name="Freeform 2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TextBox 2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9" name="Group 29"/>
            <p:cNvGrpSpPr/>
            <p:nvPr/>
          </p:nvGrpSpPr>
          <p:grpSpPr>
            <a:xfrm>
              <a:off x="8051751" y="0"/>
              <a:ext cx="3850426" cy="2438400"/>
              <a:chOff x="0" y="0"/>
              <a:chExt cx="1284254" cy="813293"/>
            </a:xfrm>
          </p:grpSpPr>
          <p:sp>
            <p:nvSpPr>
              <p:cNvPr id="30" name="Freeform 3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 name="TextBox 3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2" name="Group 32"/>
            <p:cNvGrpSpPr/>
            <p:nvPr/>
          </p:nvGrpSpPr>
          <p:grpSpPr>
            <a:xfrm>
              <a:off x="8051751" y="9753600"/>
              <a:ext cx="3850426" cy="2438400"/>
              <a:chOff x="0" y="0"/>
              <a:chExt cx="1284254" cy="813293"/>
            </a:xfrm>
          </p:grpSpPr>
          <p:sp>
            <p:nvSpPr>
              <p:cNvPr id="33" name="Freeform 3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TextBox 3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5" name="Group 35"/>
            <p:cNvGrpSpPr/>
            <p:nvPr/>
          </p:nvGrpSpPr>
          <p:grpSpPr>
            <a:xfrm>
              <a:off x="8051751" y="12192000"/>
              <a:ext cx="3850426" cy="2438400"/>
              <a:chOff x="0" y="0"/>
              <a:chExt cx="1284254" cy="813293"/>
            </a:xfrm>
          </p:grpSpPr>
          <p:sp>
            <p:nvSpPr>
              <p:cNvPr id="36" name="Freeform 3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TextBox 3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grpSp>
        <p:nvGrpSpPr>
          <p:cNvPr id="38" name="Group 38"/>
          <p:cNvGrpSpPr/>
          <p:nvPr/>
        </p:nvGrpSpPr>
        <p:grpSpPr>
          <a:xfrm>
            <a:off x="16751760" y="-345440"/>
            <a:ext cx="8923919" cy="10983595"/>
            <a:chOff x="0" y="0"/>
            <a:chExt cx="11898559" cy="14644793"/>
          </a:xfrm>
        </p:grpSpPr>
        <p:grpSp>
          <p:nvGrpSpPr>
            <p:cNvPr id="39" name="Group 39"/>
            <p:cNvGrpSpPr/>
            <p:nvPr/>
          </p:nvGrpSpPr>
          <p:grpSpPr>
            <a:xfrm rot="-10800000">
              <a:off x="673100" y="0"/>
              <a:ext cx="11225459" cy="14644793"/>
              <a:chOff x="0" y="0"/>
              <a:chExt cx="2217375" cy="2892799"/>
            </a:xfrm>
          </p:grpSpPr>
          <p:sp>
            <p:nvSpPr>
              <p:cNvPr id="40" name="Freeform 40"/>
              <p:cNvSpPr/>
              <p:nvPr/>
            </p:nvSpPr>
            <p:spPr>
              <a:xfrm>
                <a:off x="0" y="0"/>
                <a:ext cx="2217375" cy="2892799"/>
              </a:xfrm>
              <a:custGeom>
                <a:avLst/>
                <a:gdLst/>
                <a:ahLst/>
                <a:cxnLst/>
                <a:rect l="l" t="t" r="r" b="b"/>
                <a:pathLst>
                  <a:path w="2217375" h="2892799">
                    <a:moveTo>
                      <a:pt x="0" y="0"/>
                    </a:moveTo>
                    <a:lnTo>
                      <a:pt x="2217375" y="0"/>
                    </a:lnTo>
                    <a:lnTo>
                      <a:pt x="2217375" y="2892799"/>
                    </a:lnTo>
                    <a:lnTo>
                      <a:pt x="0" y="2892799"/>
                    </a:ln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1" name="TextBox 41"/>
              <p:cNvSpPr txBox="1"/>
              <p:nvPr/>
            </p:nvSpPr>
            <p:spPr>
              <a:xfrm>
                <a:off x="0" y="-38100"/>
                <a:ext cx="2217375" cy="293089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2" name="Group 42"/>
            <p:cNvGrpSpPr/>
            <p:nvPr/>
          </p:nvGrpSpPr>
          <p:grpSpPr>
            <a:xfrm rot="-10800000">
              <a:off x="0" y="12192000"/>
              <a:ext cx="3850426" cy="2438400"/>
              <a:chOff x="0" y="0"/>
              <a:chExt cx="1284254" cy="813293"/>
            </a:xfrm>
          </p:grpSpPr>
          <p:sp>
            <p:nvSpPr>
              <p:cNvPr id="43" name="Freeform 4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4" name="TextBox 4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5" name="Group 45"/>
            <p:cNvGrpSpPr/>
            <p:nvPr/>
          </p:nvGrpSpPr>
          <p:grpSpPr>
            <a:xfrm rot="-10800000">
              <a:off x="0" y="9753600"/>
              <a:ext cx="3850426" cy="2438400"/>
              <a:chOff x="0" y="0"/>
              <a:chExt cx="1284254" cy="813293"/>
            </a:xfrm>
          </p:grpSpPr>
          <p:sp>
            <p:nvSpPr>
              <p:cNvPr id="46" name="Freeform 4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7" name="TextBox 4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8" name="Group 48"/>
            <p:cNvGrpSpPr/>
            <p:nvPr/>
          </p:nvGrpSpPr>
          <p:grpSpPr>
            <a:xfrm rot="-10800000">
              <a:off x="0" y="7315200"/>
              <a:ext cx="3850426" cy="2438400"/>
              <a:chOff x="0" y="0"/>
              <a:chExt cx="1284254" cy="813293"/>
            </a:xfrm>
          </p:grpSpPr>
          <p:sp>
            <p:nvSpPr>
              <p:cNvPr id="49" name="Freeform 4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0" name="TextBox 5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1" name="Group 51"/>
            <p:cNvGrpSpPr/>
            <p:nvPr/>
          </p:nvGrpSpPr>
          <p:grpSpPr>
            <a:xfrm rot="-10800000">
              <a:off x="0" y="4876800"/>
              <a:ext cx="3850426" cy="2438400"/>
              <a:chOff x="0" y="0"/>
              <a:chExt cx="1284254" cy="813293"/>
            </a:xfrm>
          </p:grpSpPr>
          <p:sp>
            <p:nvSpPr>
              <p:cNvPr id="52" name="Freeform 5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3" name="TextBox 5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4" name="Group 54"/>
            <p:cNvGrpSpPr/>
            <p:nvPr/>
          </p:nvGrpSpPr>
          <p:grpSpPr>
            <a:xfrm rot="-10800000">
              <a:off x="0" y="2438400"/>
              <a:ext cx="3850426" cy="2438400"/>
              <a:chOff x="0" y="0"/>
              <a:chExt cx="1284254" cy="813293"/>
            </a:xfrm>
          </p:grpSpPr>
          <p:sp>
            <p:nvSpPr>
              <p:cNvPr id="55" name="Freeform 5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6" name="TextBox 5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7" name="Group 57"/>
            <p:cNvGrpSpPr/>
            <p:nvPr/>
          </p:nvGrpSpPr>
          <p:grpSpPr>
            <a:xfrm rot="-10800000">
              <a:off x="0" y="0"/>
              <a:ext cx="3850426" cy="2438400"/>
              <a:chOff x="0" y="0"/>
              <a:chExt cx="1284254" cy="813293"/>
            </a:xfrm>
          </p:grpSpPr>
          <p:sp>
            <p:nvSpPr>
              <p:cNvPr id="58" name="Freeform 5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9" name="TextBox 5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4" name="TextBox 3">
            <a:extLst>
              <a:ext uri="{FF2B5EF4-FFF2-40B4-BE49-F238E27FC236}">
                <a16:creationId xmlns:a16="http://schemas.microsoft.com/office/drawing/2014/main" id="{F93DFDC9-5330-F302-FB5E-AA0BF380E5D1}"/>
              </a:ext>
            </a:extLst>
          </p:cNvPr>
          <p:cNvSpPr txBox="1"/>
          <p:nvPr/>
        </p:nvSpPr>
        <p:spPr>
          <a:xfrm>
            <a:off x="8229600" y="4229100"/>
            <a:ext cx="1828800" cy="18288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a:p>
        </p:txBody>
      </p:sp>
      <p:sp>
        <p:nvSpPr>
          <p:cNvPr id="5" name="TextBox 4">
            <a:extLst>
              <a:ext uri="{FF2B5EF4-FFF2-40B4-BE49-F238E27FC236}">
                <a16:creationId xmlns:a16="http://schemas.microsoft.com/office/drawing/2014/main" id="{10C3E7FD-E2E7-9429-CAF3-42C9376FC66E}"/>
              </a:ext>
            </a:extLst>
          </p:cNvPr>
          <p:cNvSpPr txBox="1"/>
          <p:nvPr/>
        </p:nvSpPr>
        <p:spPr>
          <a:xfrm>
            <a:off x="2431589" y="264513"/>
            <a:ext cx="425767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i="1"/>
              <a:t>6. </a:t>
            </a:r>
            <a:r>
              <a:rPr lang="en-US" sz="2800" b="1" i="1" u="sng"/>
              <a:t>Stay Focused:</a:t>
            </a:r>
            <a:endParaRPr lang="en-US" sz="2800" b="1" i="1"/>
          </a:p>
        </p:txBody>
      </p:sp>
      <p:sp>
        <p:nvSpPr>
          <p:cNvPr id="6" name="TextBox 5">
            <a:extLst>
              <a:ext uri="{FF2B5EF4-FFF2-40B4-BE49-F238E27FC236}">
                <a16:creationId xmlns:a16="http://schemas.microsoft.com/office/drawing/2014/main" id="{FE9F6A4B-D0CC-3321-7EEB-07B76E792D1A}"/>
              </a:ext>
            </a:extLst>
          </p:cNvPr>
          <p:cNvSpPr txBox="1"/>
          <p:nvPr/>
        </p:nvSpPr>
        <p:spPr>
          <a:xfrm>
            <a:off x="2033589" y="874467"/>
            <a:ext cx="9686924"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a:t>It helps your avoid distractions and stay focused on your goal.</a:t>
            </a:r>
          </a:p>
        </p:txBody>
      </p:sp>
      <p:sp>
        <p:nvSpPr>
          <p:cNvPr id="10" name="TextBox 9">
            <a:extLst>
              <a:ext uri="{FF2B5EF4-FFF2-40B4-BE49-F238E27FC236}">
                <a16:creationId xmlns:a16="http://schemas.microsoft.com/office/drawing/2014/main" id="{F897B983-7F93-C68E-A995-AA281D889C0E}"/>
              </a:ext>
            </a:extLst>
          </p:cNvPr>
          <p:cNvSpPr txBox="1"/>
          <p:nvPr/>
        </p:nvSpPr>
        <p:spPr>
          <a:xfrm>
            <a:off x="2117263" y="1489898"/>
            <a:ext cx="4886325"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200" b="1" i="1"/>
              <a:t>7. </a:t>
            </a:r>
            <a:r>
              <a:rPr lang="en-US" sz="3200" b="1" i="1" u="sng"/>
              <a:t>Plan Before Action:</a:t>
            </a:r>
            <a:endParaRPr lang="en-US" sz="3200" b="1" i="1"/>
          </a:p>
        </p:txBody>
      </p:sp>
      <p:sp>
        <p:nvSpPr>
          <p:cNvPr id="11" name="TextBox 10">
            <a:extLst>
              <a:ext uri="{FF2B5EF4-FFF2-40B4-BE49-F238E27FC236}">
                <a16:creationId xmlns:a16="http://schemas.microsoft.com/office/drawing/2014/main" id="{49A0BA7F-35CA-778E-6D00-6D04E164B56F}"/>
              </a:ext>
            </a:extLst>
          </p:cNvPr>
          <p:cNvSpPr txBox="1"/>
          <p:nvPr/>
        </p:nvSpPr>
        <p:spPr>
          <a:xfrm>
            <a:off x="2033589" y="2290173"/>
            <a:ext cx="5972212"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a:t>First think and plan, then take action.</a:t>
            </a:r>
          </a:p>
        </p:txBody>
      </p:sp>
      <p:sp>
        <p:nvSpPr>
          <p:cNvPr id="15" name="TextBox 14">
            <a:extLst>
              <a:ext uri="{FF2B5EF4-FFF2-40B4-BE49-F238E27FC236}">
                <a16:creationId xmlns:a16="http://schemas.microsoft.com/office/drawing/2014/main" id="{8FE8670C-59D3-9EE3-224A-8B95CEA4D835}"/>
              </a:ext>
            </a:extLst>
          </p:cNvPr>
          <p:cNvSpPr txBox="1"/>
          <p:nvPr/>
        </p:nvSpPr>
        <p:spPr>
          <a:xfrm>
            <a:off x="2145838" y="2906148"/>
            <a:ext cx="4857750"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200" b="1" i="1"/>
              <a:t>8. Applies to Daily Life:</a:t>
            </a:r>
          </a:p>
        </p:txBody>
      </p:sp>
      <p:sp>
        <p:nvSpPr>
          <p:cNvPr id="60" name="TextBox 59">
            <a:extLst>
              <a:ext uri="{FF2B5EF4-FFF2-40B4-BE49-F238E27FC236}">
                <a16:creationId xmlns:a16="http://schemas.microsoft.com/office/drawing/2014/main" id="{8C950F2A-1F86-65EB-F107-07470A92F16A}"/>
              </a:ext>
            </a:extLst>
          </p:cNvPr>
          <p:cNvSpPr txBox="1"/>
          <p:nvPr/>
        </p:nvSpPr>
        <p:spPr>
          <a:xfrm>
            <a:off x="2362182" y="3490923"/>
            <a:ext cx="3369136" cy="181588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a:t>Use it in:</a:t>
            </a:r>
          </a:p>
          <a:p>
            <a:pPr marL="457200" indent="-457200" algn="l">
              <a:buFont typeface="Arial" pitchFamily="34" charset="0"/>
              <a:buChar char="•"/>
            </a:pPr>
            <a:r>
              <a:rPr lang="en-US" sz="2800"/>
              <a:t>Studies</a:t>
            </a:r>
          </a:p>
          <a:p>
            <a:pPr marL="457200" indent="-457200" algn="l">
              <a:buFont typeface="Arial" pitchFamily="34" charset="0"/>
              <a:buChar char="•"/>
            </a:pPr>
            <a:r>
              <a:rPr lang="en-US" sz="2800"/>
              <a:t>Career</a:t>
            </a:r>
          </a:p>
          <a:p>
            <a:pPr marL="457200" indent="-457200" algn="l">
              <a:buFont typeface="Arial" pitchFamily="34" charset="0"/>
              <a:buChar char="•"/>
            </a:pPr>
            <a:r>
              <a:rPr lang="en-US" sz="2800"/>
              <a:t>Personal life.</a:t>
            </a:r>
          </a:p>
        </p:txBody>
      </p:sp>
      <p:sp>
        <p:nvSpPr>
          <p:cNvPr id="61" name="TextBox 60">
            <a:extLst>
              <a:ext uri="{FF2B5EF4-FFF2-40B4-BE49-F238E27FC236}">
                <a16:creationId xmlns:a16="http://schemas.microsoft.com/office/drawing/2014/main" id="{0B81AB6E-0DB3-0990-8049-FFFD9EC85B73}"/>
              </a:ext>
            </a:extLst>
          </p:cNvPr>
          <p:cNvSpPr txBox="1"/>
          <p:nvPr/>
        </p:nvSpPr>
        <p:spPr>
          <a:xfrm>
            <a:off x="1764156" y="6015653"/>
            <a:ext cx="14611369"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2800"/>
          </a:p>
          <a:p>
            <a:pPr algn="l"/>
            <a:r>
              <a:rPr lang="en-US" sz="2800"/>
              <a:t>“ </a:t>
            </a:r>
            <a:r>
              <a:rPr lang="en-US" sz="2800" b="1"/>
              <a:t>Begin with the End in Mind” means first decide your goal, then work step by step to achieve it.”</a:t>
            </a:r>
            <a:endParaRPr lang="en-US" sz="2800"/>
          </a:p>
        </p:txBody>
      </p:sp>
      <p:sp>
        <p:nvSpPr>
          <p:cNvPr id="62" name="TextBox 61">
            <a:extLst>
              <a:ext uri="{FF2B5EF4-FFF2-40B4-BE49-F238E27FC236}">
                <a16:creationId xmlns:a16="http://schemas.microsoft.com/office/drawing/2014/main" id="{45EB3CA3-8287-8F23-7D76-34C46A847054}"/>
              </a:ext>
            </a:extLst>
          </p:cNvPr>
          <p:cNvSpPr txBox="1"/>
          <p:nvPr/>
        </p:nvSpPr>
        <p:spPr>
          <a:xfrm rot="10800000" flipV="1">
            <a:off x="2236982" y="5678059"/>
            <a:ext cx="3923683"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200" b="1" i="1" u="sng"/>
              <a:t>Conclusion:</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24"/>
          <p:cNvSpPr/>
          <p:nvPr/>
        </p:nvSpPr>
        <p:spPr>
          <a:xfrm>
            <a:off x="368890" y="8817056"/>
            <a:ext cx="882489" cy="882489"/>
          </a:xfrm>
          <a:custGeom>
            <a:avLst/>
            <a:gdLst/>
            <a:ahLst/>
            <a:cxnLst/>
            <a:rect l="l" t="t" r="r" b="b"/>
            <a:pathLst>
              <a:path w="882489" h="882489">
                <a:moveTo>
                  <a:pt x="0" y="0"/>
                </a:moveTo>
                <a:lnTo>
                  <a:pt x="882489" y="0"/>
                </a:lnTo>
                <a:lnTo>
                  <a:pt x="882489" y="882488"/>
                </a:lnTo>
                <a:lnTo>
                  <a:pt x="0" y="882488"/>
                </a:lnTo>
                <a:lnTo>
                  <a:pt x="0" y="0"/>
                </a:lnTo>
                <a:close/>
              </a:path>
            </a:pathLst>
          </a:custGeom>
          <a:blipFill>
            <a:blip/>
            <a:stretch>
              <a:fillRect/>
            </a:stretch>
          </a:blipFill>
        </p:spPr>
      </p:sp>
      <p:grpSp>
        <p:nvGrpSpPr>
          <p:cNvPr id="10" name="Group 16">
            <a:extLst>
              <a:ext uri="{FF2B5EF4-FFF2-40B4-BE49-F238E27FC236}">
                <a16:creationId xmlns:a16="http://schemas.microsoft.com/office/drawing/2014/main" id="{F2F412EE-8F1D-40D3-BCC7-604EAEBBA07C}"/>
              </a:ext>
            </a:extLst>
          </p:cNvPr>
          <p:cNvGrpSpPr/>
          <p:nvPr/>
        </p:nvGrpSpPr>
        <p:grpSpPr>
          <a:xfrm rot="5400000">
            <a:off x="6572253" y="-6838952"/>
            <a:ext cx="5143498" cy="18288003"/>
            <a:chOff x="0" y="0"/>
            <a:chExt cx="11902177" cy="14644793"/>
          </a:xfrm>
        </p:grpSpPr>
        <p:grpSp>
          <p:nvGrpSpPr>
            <p:cNvPr id="11" name="Group 17">
              <a:extLst>
                <a:ext uri="{FF2B5EF4-FFF2-40B4-BE49-F238E27FC236}">
                  <a16:creationId xmlns:a16="http://schemas.microsoft.com/office/drawing/2014/main" id="{C9AEC014-562A-497D-9531-E2A836691CAD}"/>
                </a:ext>
              </a:extLst>
            </p:cNvPr>
            <p:cNvGrpSpPr/>
            <p:nvPr/>
          </p:nvGrpSpPr>
          <p:grpSpPr>
            <a:xfrm>
              <a:off x="0" y="0"/>
              <a:ext cx="11225459" cy="14644793"/>
              <a:chOff x="0" y="0"/>
              <a:chExt cx="2217375" cy="2892799"/>
            </a:xfrm>
          </p:grpSpPr>
          <p:sp>
            <p:nvSpPr>
              <p:cNvPr id="31" name="Freeform 18">
                <a:extLst>
                  <a:ext uri="{FF2B5EF4-FFF2-40B4-BE49-F238E27FC236}">
                    <a16:creationId xmlns:a16="http://schemas.microsoft.com/office/drawing/2014/main" id="{10FE9A00-7457-4B83-AB72-29B021CC2232}"/>
                  </a:ext>
                </a:extLst>
              </p:cNvPr>
              <p:cNvSpPr/>
              <p:nvPr/>
            </p:nvSpPr>
            <p:spPr>
              <a:xfrm>
                <a:off x="0" y="0"/>
                <a:ext cx="2217375" cy="2892799"/>
              </a:xfrm>
              <a:custGeom>
                <a:avLst/>
                <a:gdLst/>
                <a:ahLst/>
                <a:cxnLst/>
                <a:rect l="l" t="t" r="r" b="b"/>
                <a:pathLst>
                  <a:path w="2217375" h="2892799">
                    <a:moveTo>
                      <a:pt x="0" y="0"/>
                    </a:moveTo>
                    <a:lnTo>
                      <a:pt x="2217375" y="0"/>
                    </a:lnTo>
                    <a:lnTo>
                      <a:pt x="2217375" y="2892799"/>
                    </a:lnTo>
                    <a:lnTo>
                      <a:pt x="0" y="2892799"/>
                    </a:lnTo>
                    <a:close/>
                  </a:path>
                </a:pathLst>
              </a:custGeom>
              <a:solidFill>
                <a:srgbClr val="E4B38D"/>
              </a:solidFill>
            </p:spPr>
          </p:sp>
          <p:sp>
            <p:nvSpPr>
              <p:cNvPr id="32" name="TextBox 19">
                <a:extLst>
                  <a:ext uri="{FF2B5EF4-FFF2-40B4-BE49-F238E27FC236}">
                    <a16:creationId xmlns:a16="http://schemas.microsoft.com/office/drawing/2014/main" id="{01D512C0-204E-4529-88E4-43DC42FD5750}"/>
                  </a:ext>
                </a:extLst>
              </p:cNvPr>
              <p:cNvSpPr txBox="1"/>
              <p:nvPr/>
            </p:nvSpPr>
            <p:spPr>
              <a:xfrm>
                <a:off x="0" y="-38100"/>
                <a:ext cx="2217375" cy="2930899"/>
              </a:xfrm>
              <a:prstGeom prst="rect">
                <a:avLst/>
              </a:prstGeom>
            </p:spPr>
            <p:txBody>
              <a:bodyPr lIns="50800" tIns="50800" rIns="50800" bIns="50800" rtlCol="0" anchor="ctr"/>
              <a:lstStyle/>
              <a:p>
                <a:pPr algn="ctr">
                  <a:lnSpc>
                    <a:spcPts val="2659"/>
                  </a:lnSpc>
                </a:pPr>
                <a:endParaRPr/>
              </a:p>
            </p:txBody>
          </p:sp>
        </p:grpSp>
        <p:grpSp>
          <p:nvGrpSpPr>
            <p:cNvPr id="12" name="Group 20">
              <a:extLst>
                <a:ext uri="{FF2B5EF4-FFF2-40B4-BE49-F238E27FC236}">
                  <a16:creationId xmlns:a16="http://schemas.microsoft.com/office/drawing/2014/main" id="{230186BD-877F-440D-B96F-C6971A0D4EF6}"/>
                </a:ext>
              </a:extLst>
            </p:cNvPr>
            <p:cNvGrpSpPr/>
            <p:nvPr/>
          </p:nvGrpSpPr>
          <p:grpSpPr>
            <a:xfrm>
              <a:off x="8051751" y="2438400"/>
              <a:ext cx="3850426" cy="2438400"/>
              <a:chOff x="0" y="0"/>
              <a:chExt cx="1284254" cy="813293"/>
            </a:xfrm>
          </p:grpSpPr>
          <p:sp>
            <p:nvSpPr>
              <p:cNvPr id="29" name="Freeform 21">
                <a:extLst>
                  <a:ext uri="{FF2B5EF4-FFF2-40B4-BE49-F238E27FC236}">
                    <a16:creationId xmlns:a16="http://schemas.microsoft.com/office/drawing/2014/main" id="{56FC3808-05CC-425C-B02B-D303CC3CEF75}"/>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30" name="TextBox 22">
                <a:extLst>
                  <a:ext uri="{FF2B5EF4-FFF2-40B4-BE49-F238E27FC236}">
                    <a16:creationId xmlns:a16="http://schemas.microsoft.com/office/drawing/2014/main" id="{A512FBA2-D0A3-4185-BC78-4D72838C1961}"/>
                  </a:ext>
                </a:extLst>
              </p:cNvPr>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13" name="Group 23">
              <a:extLst>
                <a:ext uri="{FF2B5EF4-FFF2-40B4-BE49-F238E27FC236}">
                  <a16:creationId xmlns:a16="http://schemas.microsoft.com/office/drawing/2014/main" id="{1FB45439-CD9D-4727-A164-46D87B1351E7}"/>
                </a:ext>
              </a:extLst>
            </p:cNvPr>
            <p:cNvGrpSpPr/>
            <p:nvPr/>
          </p:nvGrpSpPr>
          <p:grpSpPr>
            <a:xfrm>
              <a:off x="8051751" y="4876800"/>
              <a:ext cx="3850426" cy="2438400"/>
              <a:chOff x="0" y="0"/>
              <a:chExt cx="1284254" cy="813293"/>
            </a:xfrm>
          </p:grpSpPr>
          <p:sp>
            <p:nvSpPr>
              <p:cNvPr id="27" name="Freeform 24">
                <a:extLst>
                  <a:ext uri="{FF2B5EF4-FFF2-40B4-BE49-F238E27FC236}">
                    <a16:creationId xmlns:a16="http://schemas.microsoft.com/office/drawing/2014/main" id="{173BB359-D8EF-4686-B5E4-786519F72912}"/>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28" name="TextBox 25">
                <a:extLst>
                  <a:ext uri="{FF2B5EF4-FFF2-40B4-BE49-F238E27FC236}">
                    <a16:creationId xmlns:a16="http://schemas.microsoft.com/office/drawing/2014/main" id="{23C49C4E-3AC2-4789-A14E-89DEB4D9CF61}"/>
                  </a:ext>
                </a:extLst>
              </p:cNvPr>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14" name="Group 26">
              <a:extLst>
                <a:ext uri="{FF2B5EF4-FFF2-40B4-BE49-F238E27FC236}">
                  <a16:creationId xmlns:a16="http://schemas.microsoft.com/office/drawing/2014/main" id="{1111EF73-1C6C-450E-B4FA-26A4AF8468D3}"/>
                </a:ext>
              </a:extLst>
            </p:cNvPr>
            <p:cNvGrpSpPr/>
            <p:nvPr/>
          </p:nvGrpSpPr>
          <p:grpSpPr>
            <a:xfrm>
              <a:off x="8051751" y="7315200"/>
              <a:ext cx="3850426" cy="2438400"/>
              <a:chOff x="0" y="0"/>
              <a:chExt cx="1284254" cy="813293"/>
            </a:xfrm>
          </p:grpSpPr>
          <p:sp>
            <p:nvSpPr>
              <p:cNvPr id="25" name="Freeform 27">
                <a:extLst>
                  <a:ext uri="{FF2B5EF4-FFF2-40B4-BE49-F238E27FC236}">
                    <a16:creationId xmlns:a16="http://schemas.microsoft.com/office/drawing/2014/main" id="{0B8AE59E-8CA3-48DC-8BDA-55FB8E1D8262}"/>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26" name="TextBox 28">
                <a:extLst>
                  <a:ext uri="{FF2B5EF4-FFF2-40B4-BE49-F238E27FC236}">
                    <a16:creationId xmlns:a16="http://schemas.microsoft.com/office/drawing/2014/main" id="{833213FD-0C4E-4A84-90D9-7A72ED1BD8AB}"/>
                  </a:ext>
                </a:extLst>
              </p:cNvPr>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15" name="Group 29">
              <a:extLst>
                <a:ext uri="{FF2B5EF4-FFF2-40B4-BE49-F238E27FC236}">
                  <a16:creationId xmlns:a16="http://schemas.microsoft.com/office/drawing/2014/main" id="{00D102C0-43A7-464A-86B7-D3E71560BF20}"/>
                </a:ext>
              </a:extLst>
            </p:cNvPr>
            <p:cNvGrpSpPr/>
            <p:nvPr/>
          </p:nvGrpSpPr>
          <p:grpSpPr>
            <a:xfrm>
              <a:off x="8051751" y="0"/>
              <a:ext cx="3850426" cy="2438400"/>
              <a:chOff x="0" y="0"/>
              <a:chExt cx="1284254" cy="813293"/>
            </a:xfrm>
          </p:grpSpPr>
          <p:sp>
            <p:nvSpPr>
              <p:cNvPr id="22" name="Freeform 30">
                <a:extLst>
                  <a:ext uri="{FF2B5EF4-FFF2-40B4-BE49-F238E27FC236}">
                    <a16:creationId xmlns:a16="http://schemas.microsoft.com/office/drawing/2014/main" id="{A31F6817-A8A4-4FA4-9B28-53A98E3BB388}"/>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23" name="TextBox 31">
                <a:extLst>
                  <a:ext uri="{FF2B5EF4-FFF2-40B4-BE49-F238E27FC236}">
                    <a16:creationId xmlns:a16="http://schemas.microsoft.com/office/drawing/2014/main" id="{6F2E2621-618A-46AD-8E97-3C8700E9F75C}"/>
                  </a:ext>
                </a:extLst>
              </p:cNvPr>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16" name="Group 32">
              <a:extLst>
                <a:ext uri="{FF2B5EF4-FFF2-40B4-BE49-F238E27FC236}">
                  <a16:creationId xmlns:a16="http://schemas.microsoft.com/office/drawing/2014/main" id="{5B5BF6D9-1E4B-4040-BAC4-7D9CBE781A35}"/>
                </a:ext>
              </a:extLst>
            </p:cNvPr>
            <p:cNvGrpSpPr/>
            <p:nvPr/>
          </p:nvGrpSpPr>
          <p:grpSpPr>
            <a:xfrm>
              <a:off x="8051751" y="9753600"/>
              <a:ext cx="3850426" cy="2438400"/>
              <a:chOff x="0" y="0"/>
              <a:chExt cx="1284254" cy="813293"/>
            </a:xfrm>
          </p:grpSpPr>
          <p:sp>
            <p:nvSpPr>
              <p:cNvPr id="20" name="Freeform 33">
                <a:extLst>
                  <a:ext uri="{FF2B5EF4-FFF2-40B4-BE49-F238E27FC236}">
                    <a16:creationId xmlns:a16="http://schemas.microsoft.com/office/drawing/2014/main" id="{DF1B0223-E4BB-4327-B6F5-04391944611A}"/>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21" name="TextBox 34">
                <a:extLst>
                  <a:ext uri="{FF2B5EF4-FFF2-40B4-BE49-F238E27FC236}">
                    <a16:creationId xmlns:a16="http://schemas.microsoft.com/office/drawing/2014/main" id="{62E09019-8CCE-45EA-875F-816110F0610D}"/>
                  </a:ext>
                </a:extLst>
              </p:cNvPr>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17" name="Group 35">
              <a:extLst>
                <a:ext uri="{FF2B5EF4-FFF2-40B4-BE49-F238E27FC236}">
                  <a16:creationId xmlns:a16="http://schemas.microsoft.com/office/drawing/2014/main" id="{70163BE8-2F08-4E5F-97BE-C002908B8621}"/>
                </a:ext>
              </a:extLst>
            </p:cNvPr>
            <p:cNvGrpSpPr/>
            <p:nvPr/>
          </p:nvGrpSpPr>
          <p:grpSpPr>
            <a:xfrm>
              <a:off x="8051751" y="12192000"/>
              <a:ext cx="3850426" cy="2438400"/>
              <a:chOff x="0" y="0"/>
              <a:chExt cx="1284254" cy="813293"/>
            </a:xfrm>
          </p:grpSpPr>
          <p:sp>
            <p:nvSpPr>
              <p:cNvPr id="18" name="Freeform 36">
                <a:extLst>
                  <a:ext uri="{FF2B5EF4-FFF2-40B4-BE49-F238E27FC236}">
                    <a16:creationId xmlns:a16="http://schemas.microsoft.com/office/drawing/2014/main" id="{E6E93F40-BBF7-46C9-A909-E0BF2DDD77A5}"/>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19" name="TextBox 37">
                <a:extLst>
                  <a:ext uri="{FF2B5EF4-FFF2-40B4-BE49-F238E27FC236}">
                    <a16:creationId xmlns:a16="http://schemas.microsoft.com/office/drawing/2014/main" id="{81495174-7526-4672-8857-24C8372C4182}"/>
                  </a:ext>
                </a:extLst>
              </p:cNvPr>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sp>
        <p:nvSpPr>
          <p:cNvPr id="33" name="Subtitle 2">
            <a:extLst>
              <a:ext uri="{FF2B5EF4-FFF2-40B4-BE49-F238E27FC236}">
                <a16:creationId xmlns:a16="http://schemas.microsoft.com/office/drawing/2014/main" id="{2669E97D-4848-4D6B-81F6-208373ED81C7}"/>
              </a:ext>
            </a:extLst>
          </p:cNvPr>
          <p:cNvSpPr txBox="1">
            <a:spLocks/>
          </p:cNvSpPr>
          <p:nvPr/>
        </p:nvSpPr>
        <p:spPr>
          <a:xfrm>
            <a:off x="5845771" y="294389"/>
            <a:ext cx="6352221" cy="86394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b="1" u="sng" dirty="0">
                <a:latin typeface="Book Antiqua" panose="02040602050305030304" pitchFamily="18" charset="0"/>
              </a:rPr>
              <a:t>Put first Things first</a:t>
            </a:r>
          </a:p>
        </p:txBody>
      </p:sp>
      <p:sp>
        <p:nvSpPr>
          <p:cNvPr id="34" name="TextBox 33">
            <a:extLst>
              <a:ext uri="{FF2B5EF4-FFF2-40B4-BE49-F238E27FC236}">
                <a16:creationId xmlns:a16="http://schemas.microsoft.com/office/drawing/2014/main" id="{8EDF0543-82CA-42D6-A47A-26C5F11D098F}"/>
              </a:ext>
            </a:extLst>
          </p:cNvPr>
          <p:cNvSpPr txBox="1"/>
          <p:nvPr/>
        </p:nvSpPr>
        <p:spPr>
          <a:xfrm>
            <a:off x="590974" y="3009900"/>
            <a:ext cx="14079025" cy="6740307"/>
          </a:xfrm>
          <a:prstGeom prst="rect">
            <a:avLst/>
          </a:prstGeom>
          <a:noFill/>
        </p:spPr>
        <p:txBody>
          <a:bodyPr wrap="square">
            <a:spAutoFit/>
          </a:bodyPr>
          <a:lstStyle/>
          <a:p>
            <a:r>
              <a:rPr lang="en-US" sz="3600" dirty="0">
                <a:latin typeface="Arial Black" panose="020B0A04020102020204" pitchFamily="34" charset="0"/>
                <a:cs typeface="Times New Roman" panose="02020603050405020304" pitchFamily="18" charset="0"/>
              </a:rPr>
              <a:t>INTRODUCTION:</a:t>
            </a:r>
            <a:r>
              <a:rPr lang="en-US" sz="3600" dirty="0">
                <a:latin typeface="Times New Roman" panose="02020603050405020304" pitchFamily="18" charset="0"/>
                <a:cs typeface="Times New Roman" panose="02020603050405020304" pitchFamily="18" charset="0"/>
              </a:rPr>
              <a:t>.</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1. Focuses on time management and priorities.</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2. Help us organize our life and work effectively.</a:t>
            </a:r>
          </a:p>
          <a:p>
            <a:endParaRPr lang="en-US" sz="3600" dirty="0">
              <a:latin typeface="Times New Roman" panose="02020603050405020304" pitchFamily="18" charset="0"/>
              <a:cs typeface="Times New Roman" panose="02020603050405020304" pitchFamily="18" charset="0"/>
            </a:endParaRPr>
          </a:p>
          <a:p>
            <a:r>
              <a:rPr lang="en-US" sz="3600" dirty="0">
                <a:latin typeface="Arial Black" panose="020B0A04020102020204" pitchFamily="34" charset="0"/>
                <a:cs typeface="Times New Roman" panose="02020603050405020304" pitchFamily="18" charset="0"/>
              </a:rPr>
              <a:t>Meaning:</a:t>
            </a:r>
          </a:p>
          <a:p>
            <a:r>
              <a:rPr lang="en-US" sz="3600" dirty="0">
                <a:latin typeface="Times New Roman" panose="02020603050405020304" pitchFamily="18" charset="0"/>
                <a:cs typeface="Times New Roman" panose="02020603050405020304" pitchFamily="18" charset="0"/>
              </a:rPr>
              <a:t>1. Do the most important task first.</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2. Focus on what really matters.</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3. Manage your </a:t>
            </a:r>
            <a:r>
              <a:rPr lang="en-US" sz="3600" dirty="0" err="1">
                <a:latin typeface="Times New Roman" panose="02020603050405020304" pitchFamily="18" charset="0"/>
                <a:cs typeface="Times New Roman" panose="02020603050405020304" pitchFamily="18" charset="0"/>
              </a:rPr>
              <a:t>Time,Energy</a:t>
            </a:r>
            <a:r>
              <a:rPr lang="en-US" sz="3600" dirty="0">
                <a:latin typeface="Times New Roman" panose="02020603050405020304" pitchFamily="18" charset="0"/>
                <a:cs typeface="Times New Roman" panose="02020603050405020304" pitchFamily="18" charset="0"/>
              </a:rPr>
              <a:t> &amp; Priorities.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1859120"/>
            <a:ext cx="18288000" cy="2887820"/>
            <a:chOff x="0" y="0"/>
            <a:chExt cx="24384000" cy="3850426"/>
          </a:xfrm>
        </p:grpSpPr>
        <p:grpSp>
          <p:nvGrpSpPr>
            <p:cNvPr id="9" name="Group 9"/>
            <p:cNvGrpSpPr/>
            <p:nvPr/>
          </p:nvGrpSpPr>
          <p:grpSpPr>
            <a:xfrm rot="-5400000">
              <a:off x="1732387" y="706013"/>
              <a:ext cx="3850426" cy="2438400"/>
              <a:chOff x="0" y="0"/>
              <a:chExt cx="1284254" cy="813293"/>
            </a:xfrm>
          </p:grpSpPr>
          <p:sp>
            <p:nvSpPr>
              <p:cNvPr id="10" name="Freeform 1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sp>
          <p:sp>
            <p:nvSpPr>
              <p:cNvPr id="11" name="TextBox 11"/>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5400000">
              <a:off x="4170787" y="706013"/>
              <a:ext cx="3850426" cy="2438400"/>
              <a:chOff x="0" y="0"/>
              <a:chExt cx="1284254" cy="813293"/>
            </a:xfrm>
          </p:grpSpPr>
          <p:sp>
            <p:nvSpPr>
              <p:cNvPr id="13" name="Freeform 1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14" name="TextBox 14"/>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5400000">
              <a:off x="6609187" y="706013"/>
              <a:ext cx="3850426" cy="2438400"/>
              <a:chOff x="0" y="0"/>
              <a:chExt cx="1284254" cy="813293"/>
            </a:xfrm>
          </p:grpSpPr>
          <p:sp>
            <p:nvSpPr>
              <p:cNvPr id="16" name="Freeform 1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sp>
          <p:sp>
            <p:nvSpPr>
              <p:cNvPr id="17" name="TextBox 17"/>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5400000">
              <a:off x="-706013" y="706013"/>
              <a:ext cx="3850426" cy="2438400"/>
              <a:chOff x="0" y="0"/>
              <a:chExt cx="1284254" cy="813293"/>
            </a:xfrm>
          </p:grpSpPr>
          <p:sp>
            <p:nvSpPr>
              <p:cNvPr id="19" name="Freeform 1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sp>
          <p:sp>
            <p:nvSpPr>
              <p:cNvPr id="20" name="TextBox 20"/>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rot="-5400000">
              <a:off x="9047587" y="706013"/>
              <a:ext cx="3850426" cy="2438400"/>
              <a:chOff x="0" y="0"/>
              <a:chExt cx="1284254" cy="813293"/>
            </a:xfrm>
          </p:grpSpPr>
          <p:sp>
            <p:nvSpPr>
              <p:cNvPr id="22" name="Freeform 2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sp>
          <p:sp>
            <p:nvSpPr>
              <p:cNvPr id="23" name="TextBox 23"/>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rot="-5400000">
              <a:off x="11485987" y="706013"/>
              <a:ext cx="3850426" cy="2438400"/>
              <a:chOff x="0" y="0"/>
              <a:chExt cx="1284254" cy="813293"/>
            </a:xfrm>
          </p:grpSpPr>
          <p:sp>
            <p:nvSpPr>
              <p:cNvPr id="25" name="Freeform 2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26" name="TextBox 26"/>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rot="-5400000">
              <a:off x="13924387" y="706013"/>
              <a:ext cx="3850426" cy="2438400"/>
              <a:chOff x="0" y="0"/>
              <a:chExt cx="1284254" cy="813293"/>
            </a:xfrm>
          </p:grpSpPr>
          <p:sp>
            <p:nvSpPr>
              <p:cNvPr id="28" name="Freeform 2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sp>
          <p:sp>
            <p:nvSpPr>
              <p:cNvPr id="29" name="TextBox 29"/>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rot="-5400000">
              <a:off x="16362787" y="706013"/>
              <a:ext cx="3850426" cy="2438400"/>
              <a:chOff x="0" y="0"/>
              <a:chExt cx="1284254" cy="813293"/>
            </a:xfrm>
          </p:grpSpPr>
          <p:sp>
            <p:nvSpPr>
              <p:cNvPr id="31" name="Freeform 3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sp>
          <p:sp>
            <p:nvSpPr>
              <p:cNvPr id="32" name="TextBox 32"/>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rot="-5400000">
              <a:off x="18801187" y="706013"/>
              <a:ext cx="3850426" cy="2438400"/>
              <a:chOff x="0" y="0"/>
              <a:chExt cx="1284254" cy="813293"/>
            </a:xfrm>
          </p:grpSpPr>
          <p:sp>
            <p:nvSpPr>
              <p:cNvPr id="34" name="Freeform 3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35" name="TextBox 35"/>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rot="-5400000">
              <a:off x="21239587" y="706013"/>
              <a:ext cx="3850426" cy="2438400"/>
              <a:chOff x="0" y="0"/>
              <a:chExt cx="1284254" cy="813293"/>
            </a:xfrm>
          </p:grpSpPr>
          <p:sp>
            <p:nvSpPr>
              <p:cNvPr id="37" name="Freeform 3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sp>
          <p:sp>
            <p:nvSpPr>
              <p:cNvPr id="38" name="TextBox 38"/>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grpSp>
        <p:nvGrpSpPr>
          <p:cNvPr id="39" name="Group 39"/>
          <p:cNvGrpSpPr/>
          <p:nvPr/>
        </p:nvGrpSpPr>
        <p:grpSpPr>
          <a:xfrm>
            <a:off x="0" y="9258300"/>
            <a:ext cx="18288000" cy="2887820"/>
            <a:chOff x="0" y="0"/>
            <a:chExt cx="24384000" cy="3850426"/>
          </a:xfrm>
        </p:grpSpPr>
        <p:grpSp>
          <p:nvGrpSpPr>
            <p:cNvPr id="40" name="Group 40"/>
            <p:cNvGrpSpPr/>
            <p:nvPr/>
          </p:nvGrpSpPr>
          <p:grpSpPr>
            <a:xfrm rot="-5400000">
              <a:off x="1732387" y="706013"/>
              <a:ext cx="3850426" cy="2438400"/>
              <a:chOff x="0" y="0"/>
              <a:chExt cx="1284254" cy="813293"/>
            </a:xfrm>
          </p:grpSpPr>
          <p:sp>
            <p:nvSpPr>
              <p:cNvPr id="41" name="Freeform 4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sp>
          <p:sp>
            <p:nvSpPr>
              <p:cNvPr id="42" name="TextBox 42"/>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43" name="Group 43"/>
            <p:cNvGrpSpPr/>
            <p:nvPr/>
          </p:nvGrpSpPr>
          <p:grpSpPr>
            <a:xfrm rot="-5400000">
              <a:off x="4170787" y="706013"/>
              <a:ext cx="3850426" cy="2438400"/>
              <a:chOff x="0" y="0"/>
              <a:chExt cx="1284254" cy="813293"/>
            </a:xfrm>
          </p:grpSpPr>
          <p:sp>
            <p:nvSpPr>
              <p:cNvPr id="44" name="Freeform 4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45" name="TextBox 45"/>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46" name="Group 46"/>
            <p:cNvGrpSpPr/>
            <p:nvPr/>
          </p:nvGrpSpPr>
          <p:grpSpPr>
            <a:xfrm rot="-5400000">
              <a:off x="6609187" y="706013"/>
              <a:ext cx="3850426" cy="2438400"/>
              <a:chOff x="0" y="0"/>
              <a:chExt cx="1284254" cy="813293"/>
            </a:xfrm>
          </p:grpSpPr>
          <p:sp>
            <p:nvSpPr>
              <p:cNvPr id="47" name="Freeform 4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sp>
          <p:sp>
            <p:nvSpPr>
              <p:cNvPr id="48" name="TextBox 48"/>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49" name="Group 49"/>
            <p:cNvGrpSpPr/>
            <p:nvPr/>
          </p:nvGrpSpPr>
          <p:grpSpPr>
            <a:xfrm rot="-5400000">
              <a:off x="-706013" y="706013"/>
              <a:ext cx="3850426" cy="2438400"/>
              <a:chOff x="0" y="0"/>
              <a:chExt cx="1284254" cy="813293"/>
            </a:xfrm>
          </p:grpSpPr>
          <p:sp>
            <p:nvSpPr>
              <p:cNvPr id="50" name="Freeform 5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sp>
          <p:sp>
            <p:nvSpPr>
              <p:cNvPr id="51" name="TextBox 51"/>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52" name="Group 52"/>
            <p:cNvGrpSpPr/>
            <p:nvPr/>
          </p:nvGrpSpPr>
          <p:grpSpPr>
            <a:xfrm rot="-5400000">
              <a:off x="9047587" y="706013"/>
              <a:ext cx="3850426" cy="2438400"/>
              <a:chOff x="0" y="0"/>
              <a:chExt cx="1284254" cy="813293"/>
            </a:xfrm>
          </p:grpSpPr>
          <p:sp>
            <p:nvSpPr>
              <p:cNvPr id="53" name="Freeform 5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sp>
          <p:sp>
            <p:nvSpPr>
              <p:cNvPr id="54" name="TextBox 54"/>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55" name="Group 55"/>
            <p:cNvGrpSpPr/>
            <p:nvPr/>
          </p:nvGrpSpPr>
          <p:grpSpPr>
            <a:xfrm rot="-5400000">
              <a:off x="11485987" y="706013"/>
              <a:ext cx="3850426" cy="2438400"/>
              <a:chOff x="0" y="0"/>
              <a:chExt cx="1284254" cy="813293"/>
            </a:xfrm>
          </p:grpSpPr>
          <p:sp>
            <p:nvSpPr>
              <p:cNvPr id="56" name="Freeform 5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57" name="TextBox 57"/>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58" name="Group 58"/>
            <p:cNvGrpSpPr/>
            <p:nvPr/>
          </p:nvGrpSpPr>
          <p:grpSpPr>
            <a:xfrm rot="-5400000">
              <a:off x="13924387" y="706013"/>
              <a:ext cx="3850426" cy="2438400"/>
              <a:chOff x="0" y="0"/>
              <a:chExt cx="1284254" cy="813293"/>
            </a:xfrm>
          </p:grpSpPr>
          <p:sp>
            <p:nvSpPr>
              <p:cNvPr id="59" name="Freeform 5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sp>
          <p:sp>
            <p:nvSpPr>
              <p:cNvPr id="60" name="TextBox 60"/>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61" name="Group 61"/>
            <p:cNvGrpSpPr/>
            <p:nvPr/>
          </p:nvGrpSpPr>
          <p:grpSpPr>
            <a:xfrm rot="-5400000">
              <a:off x="16362787" y="706013"/>
              <a:ext cx="3850426" cy="2438400"/>
              <a:chOff x="0" y="0"/>
              <a:chExt cx="1284254" cy="813293"/>
            </a:xfrm>
          </p:grpSpPr>
          <p:sp>
            <p:nvSpPr>
              <p:cNvPr id="62" name="Freeform 6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sp>
          <p:sp>
            <p:nvSpPr>
              <p:cNvPr id="63" name="TextBox 63"/>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64" name="Group 64"/>
            <p:cNvGrpSpPr/>
            <p:nvPr/>
          </p:nvGrpSpPr>
          <p:grpSpPr>
            <a:xfrm rot="-5400000">
              <a:off x="18801187" y="706013"/>
              <a:ext cx="3850426" cy="2438400"/>
              <a:chOff x="0" y="0"/>
              <a:chExt cx="1284254" cy="813293"/>
            </a:xfrm>
          </p:grpSpPr>
          <p:sp>
            <p:nvSpPr>
              <p:cNvPr id="65" name="Freeform 6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66" name="TextBox 66"/>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67" name="Group 67"/>
            <p:cNvGrpSpPr/>
            <p:nvPr/>
          </p:nvGrpSpPr>
          <p:grpSpPr>
            <a:xfrm rot="-5400000">
              <a:off x="21239587" y="706013"/>
              <a:ext cx="3850426" cy="2438400"/>
              <a:chOff x="0" y="0"/>
              <a:chExt cx="1284254" cy="813293"/>
            </a:xfrm>
          </p:grpSpPr>
          <p:sp>
            <p:nvSpPr>
              <p:cNvPr id="68" name="Freeform 6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sp>
          <p:sp>
            <p:nvSpPr>
              <p:cNvPr id="69" name="TextBox 69"/>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sp>
        <p:nvSpPr>
          <p:cNvPr id="72" name="TextBox 71">
            <a:extLst>
              <a:ext uri="{FF2B5EF4-FFF2-40B4-BE49-F238E27FC236}">
                <a16:creationId xmlns:a16="http://schemas.microsoft.com/office/drawing/2014/main" id="{BA9D6EA0-3AB0-4D2E-9257-3BE4192ABD77}"/>
              </a:ext>
            </a:extLst>
          </p:cNvPr>
          <p:cNvSpPr txBox="1"/>
          <p:nvPr/>
        </p:nvSpPr>
        <p:spPr>
          <a:xfrm>
            <a:off x="347080" y="6280122"/>
            <a:ext cx="10625720" cy="3785652"/>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Discipline: control yourself.</a:t>
            </a:r>
          </a:p>
          <a:p>
            <a:r>
              <a:rPr lang="en-US" sz="4800" dirty="0">
                <a:latin typeface="Times New Roman" panose="02020603050405020304" pitchFamily="18" charset="0"/>
                <a:cs typeface="Times New Roman" panose="02020603050405020304" pitchFamily="18" charset="0"/>
              </a:rPr>
              <a:t>Prioritization: choose important work.</a:t>
            </a:r>
          </a:p>
          <a:p>
            <a:r>
              <a:rPr lang="en-US" sz="4800" dirty="0">
                <a:latin typeface="Times New Roman" panose="02020603050405020304" pitchFamily="18" charset="0"/>
                <a:cs typeface="Times New Roman" panose="02020603050405020304" pitchFamily="18" charset="0"/>
              </a:rPr>
              <a:t>Planning: organize tasks daily/weekly.</a:t>
            </a:r>
          </a:p>
          <a:p>
            <a:r>
              <a:rPr lang="en-US" sz="4800" dirty="0">
                <a:latin typeface="Times New Roman" panose="02020603050405020304" pitchFamily="18" charset="0"/>
                <a:cs typeface="Times New Roman" panose="02020603050405020304" pitchFamily="18" charset="0"/>
              </a:rPr>
              <a:t>Balance: work, family, and health.</a:t>
            </a:r>
          </a:p>
          <a:p>
            <a:endParaRPr lang="en-US" sz="4800" dirty="0"/>
          </a:p>
        </p:txBody>
      </p:sp>
      <p:sp>
        <p:nvSpPr>
          <p:cNvPr id="79" name="TextBox 78">
            <a:extLst>
              <a:ext uri="{FF2B5EF4-FFF2-40B4-BE49-F238E27FC236}">
                <a16:creationId xmlns:a16="http://schemas.microsoft.com/office/drawing/2014/main" id="{B3843174-8780-4E2F-8F86-D87DC9B202C0}"/>
              </a:ext>
            </a:extLst>
          </p:cNvPr>
          <p:cNvSpPr txBox="1"/>
          <p:nvPr/>
        </p:nvSpPr>
        <p:spPr>
          <a:xfrm>
            <a:off x="634628" y="2402786"/>
            <a:ext cx="17653372" cy="2554545"/>
          </a:xfrm>
          <a:prstGeom prst="rect">
            <a:avLst/>
          </a:prstGeom>
          <a:noFill/>
        </p:spPr>
        <p:txBody>
          <a:bodyPr wrap="square">
            <a:spAutoFit/>
          </a:bodyPr>
          <a:lstStyle/>
          <a:p>
            <a:r>
              <a:rPr lang="en-US" sz="4000" dirty="0">
                <a:latin typeface="Times New Roman" panose="02020603050405020304" pitchFamily="18" charset="0"/>
                <a:cs typeface="Times New Roman" panose="02020603050405020304" pitchFamily="18" charset="0"/>
              </a:rPr>
              <a:t>Urgent &amp; Important (crisis, deadlines)</a:t>
            </a:r>
          </a:p>
          <a:p>
            <a:r>
              <a:rPr lang="en-US" sz="4000" dirty="0">
                <a:latin typeface="Times New Roman" panose="02020603050405020304" pitchFamily="18" charset="0"/>
                <a:cs typeface="Times New Roman" panose="02020603050405020304" pitchFamily="18" charset="0"/>
              </a:rPr>
              <a:t>Not Urgent but Important (planning, study, goals) Urgent but Not Important (interruptions, calls)</a:t>
            </a:r>
          </a:p>
          <a:p>
            <a:r>
              <a:rPr lang="en-US" sz="4000" dirty="0">
                <a:latin typeface="Times New Roman" panose="02020603050405020304" pitchFamily="18" charset="0"/>
                <a:cs typeface="Times New Roman" panose="02020603050405020304" pitchFamily="18" charset="0"/>
              </a:rPr>
              <a:t>Not Urgent &amp; Not Important (wasting time)</a:t>
            </a:r>
          </a:p>
        </p:txBody>
      </p:sp>
      <p:sp>
        <p:nvSpPr>
          <p:cNvPr id="80" name="TextBox 79">
            <a:extLst>
              <a:ext uri="{FF2B5EF4-FFF2-40B4-BE49-F238E27FC236}">
                <a16:creationId xmlns:a16="http://schemas.microsoft.com/office/drawing/2014/main" id="{93F97BDA-011D-41EC-920E-D5F00519C3EF}"/>
              </a:ext>
            </a:extLst>
          </p:cNvPr>
          <p:cNvSpPr txBox="1"/>
          <p:nvPr/>
        </p:nvSpPr>
        <p:spPr>
          <a:xfrm>
            <a:off x="628766" y="981082"/>
            <a:ext cx="9190892" cy="830997"/>
          </a:xfrm>
          <a:prstGeom prst="rect">
            <a:avLst/>
          </a:prstGeom>
          <a:noFill/>
        </p:spPr>
        <p:txBody>
          <a:bodyPr wrap="square">
            <a:spAutoFit/>
          </a:bodyPr>
          <a:lstStyle/>
          <a:p>
            <a:r>
              <a:rPr lang="en-US" sz="4800" dirty="0">
                <a:latin typeface="Arial Black" panose="020B0A04020102020204" pitchFamily="34" charset="0"/>
              </a:rPr>
              <a:t>Time Management Matrix:</a:t>
            </a:r>
            <a:endParaRPr lang="en-US" sz="4800" dirty="0"/>
          </a:p>
        </p:txBody>
      </p:sp>
      <p:sp>
        <p:nvSpPr>
          <p:cNvPr id="81" name="TextBox 80">
            <a:extLst>
              <a:ext uri="{FF2B5EF4-FFF2-40B4-BE49-F238E27FC236}">
                <a16:creationId xmlns:a16="http://schemas.microsoft.com/office/drawing/2014/main" id="{C17B3018-2870-419B-B92C-03ECC39D2FF7}"/>
              </a:ext>
            </a:extLst>
          </p:cNvPr>
          <p:cNvSpPr txBox="1"/>
          <p:nvPr/>
        </p:nvSpPr>
        <p:spPr>
          <a:xfrm>
            <a:off x="509157" y="5496743"/>
            <a:ext cx="9190892" cy="1569660"/>
          </a:xfrm>
          <a:prstGeom prst="rect">
            <a:avLst/>
          </a:prstGeom>
          <a:noFill/>
        </p:spPr>
        <p:txBody>
          <a:bodyPr wrap="square" rtlCol="0">
            <a:spAutoFit/>
          </a:bodyPr>
          <a:lstStyle/>
          <a:p>
            <a:r>
              <a:rPr lang="en-US" sz="4800" dirty="0">
                <a:latin typeface="Arial Black" panose="020B0A04020102020204" pitchFamily="34" charset="0"/>
              </a:rPr>
              <a:t>Key Principles:</a:t>
            </a:r>
          </a:p>
          <a:p>
            <a:endParaRPr lang="en-US" sz="4800" dirty="0">
              <a:latin typeface="Arial Black" panose="020B0A040201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6"/>
          <p:cNvGrpSpPr/>
          <p:nvPr/>
        </p:nvGrpSpPr>
        <p:grpSpPr>
          <a:xfrm>
            <a:off x="-19665" y="-2187"/>
            <a:ext cx="8926633" cy="10638155"/>
            <a:chOff x="0" y="0"/>
            <a:chExt cx="11902177" cy="14644793"/>
          </a:xfrm>
        </p:grpSpPr>
        <p:grpSp>
          <p:nvGrpSpPr>
            <p:cNvPr id="17" name="Group 17"/>
            <p:cNvGrpSpPr/>
            <p:nvPr/>
          </p:nvGrpSpPr>
          <p:grpSpPr>
            <a:xfrm>
              <a:off x="0" y="0"/>
              <a:ext cx="11225459" cy="14644793"/>
              <a:chOff x="0" y="0"/>
              <a:chExt cx="2217375" cy="2892799"/>
            </a:xfrm>
          </p:grpSpPr>
          <p:sp>
            <p:nvSpPr>
              <p:cNvPr id="18" name="Freeform 18"/>
              <p:cNvSpPr/>
              <p:nvPr/>
            </p:nvSpPr>
            <p:spPr>
              <a:xfrm>
                <a:off x="0" y="0"/>
                <a:ext cx="2217375" cy="2892799"/>
              </a:xfrm>
              <a:custGeom>
                <a:avLst/>
                <a:gdLst/>
                <a:ahLst/>
                <a:cxnLst/>
                <a:rect l="l" t="t" r="r" b="b"/>
                <a:pathLst>
                  <a:path w="2217375" h="2892799">
                    <a:moveTo>
                      <a:pt x="0" y="0"/>
                    </a:moveTo>
                    <a:lnTo>
                      <a:pt x="2217375" y="0"/>
                    </a:lnTo>
                    <a:lnTo>
                      <a:pt x="2217375" y="2892799"/>
                    </a:lnTo>
                    <a:lnTo>
                      <a:pt x="0" y="2892799"/>
                    </a:lnTo>
                    <a:close/>
                  </a:path>
                </a:pathLst>
              </a:custGeom>
              <a:solidFill>
                <a:srgbClr val="E4B38D"/>
              </a:solidFill>
            </p:spPr>
          </p:sp>
          <p:sp>
            <p:nvSpPr>
              <p:cNvPr id="19" name="TextBox 19"/>
              <p:cNvSpPr txBox="1"/>
              <p:nvPr/>
            </p:nvSpPr>
            <p:spPr>
              <a:xfrm>
                <a:off x="0" y="-38100"/>
                <a:ext cx="2217375" cy="2930899"/>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051751" y="2438400"/>
              <a:ext cx="3850426" cy="2438400"/>
              <a:chOff x="0" y="0"/>
              <a:chExt cx="1284254" cy="813293"/>
            </a:xfrm>
          </p:grpSpPr>
          <p:sp>
            <p:nvSpPr>
              <p:cNvPr id="21" name="Freeform 2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22" name="TextBox 22"/>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8051751" y="4876800"/>
              <a:ext cx="3850426" cy="2438400"/>
              <a:chOff x="0" y="0"/>
              <a:chExt cx="1284254" cy="813293"/>
            </a:xfrm>
          </p:grpSpPr>
          <p:sp>
            <p:nvSpPr>
              <p:cNvPr id="24" name="Freeform 2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25" name="TextBox 25"/>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8051751" y="7315200"/>
              <a:ext cx="3850426" cy="2438400"/>
              <a:chOff x="0" y="0"/>
              <a:chExt cx="1284254" cy="813293"/>
            </a:xfrm>
          </p:grpSpPr>
          <p:sp>
            <p:nvSpPr>
              <p:cNvPr id="27" name="Freeform 2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28" name="TextBox 28"/>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8051751" y="0"/>
              <a:ext cx="3850426" cy="2438400"/>
              <a:chOff x="0" y="0"/>
              <a:chExt cx="1284254" cy="813293"/>
            </a:xfrm>
          </p:grpSpPr>
          <p:sp>
            <p:nvSpPr>
              <p:cNvPr id="30" name="Freeform 3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31" name="TextBox 31"/>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8051751" y="9753600"/>
              <a:ext cx="3850426" cy="2438400"/>
              <a:chOff x="0" y="0"/>
              <a:chExt cx="1284254" cy="813293"/>
            </a:xfrm>
          </p:grpSpPr>
          <p:sp>
            <p:nvSpPr>
              <p:cNvPr id="33" name="Freeform 3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34" name="TextBox 34"/>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8051751" y="12192000"/>
              <a:ext cx="3850426" cy="2438400"/>
              <a:chOff x="0" y="0"/>
              <a:chExt cx="1284254" cy="813293"/>
            </a:xfrm>
          </p:grpSpPr>
          <p:sp>
            <p:nvSpPr>
              <p:cNvPr id="36" name="Freeform 3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sp>
          <p:sp>
            <p:nvSpPr>
              <p:cNvPr id="37" name="TextBox 37"/>
              <p:cNvSpPr txBox="1"/>
              <p:nvPr/>
            </p:nvSpPr>
            <p:spPr>
              <a:xfrm>
                <a:off x="0" y="-38100"/>
                <a:ext cx="1284254" cy="851393"/>
              </a:xfrm>
              <a:prstGeom prst="rect">
                <a:avLst/>
              </a:prstGeom>
            </p:spPr>
            <p:txBody>
              <a:bodyPr lIns="50800" tIns="50800" rIns="50800" bIns="50800" rtlCol="0" anchor="ctr"/>
              <a:lstStyle/>
              <a:p>
                <a:pPr algn="ctr">
                  <a:lnSpc>
                    <a:spcPts val="2659"/>
                  </a:lnSpc>
                </a:pPr>
                <a:endParaRPr/>
              </a:p>
            </p:txBody>
          </p:sp>
        </p:grpSp>
      </p:grpSp>
      <p:sp>
        <p:nvSpPr>
          <p:cNvPr id="4" name="TextBox 3">
            <a:extLst>
              <a:ext uri="{FF2B5EF4-FFF2-40B4-BE49-F238E27FC236}">
                <a16:creationId xmlns:a16="http://schemas.microsoft.com/office/drawing/2014/main" id="{F93DFDC9-5330-F302-FB5E-AA0BF380E5D1}"/>
              </a:ext>
            </a:extLst>
          </p:cNvPr>
          <p:cNvSpPr txBox="1"/>
          <p:nvPr/>
        </p:nvSpPr>
        <p:spPr>
          <a:xfrm>
            <a:off x="8229600" y="4229100"/>
            <a:ext cx="1828800" cy="1828800"/>
          </a:xfrm>
          <a:prstGeom prst="rect">
            <a:avLst/>
          </a:prstGeom>
          <a:noFill/>
        </p:spPr>
        <p:txBody>
          <a:bodyPr wrap="square" rtlCol="0">
            <a:spAutoFit/>
          </a:bodyPr>
          <a:lstStyle/>
          <a:p>
            <a:pPr algn="l"/>
            <a:endParaRPr lang="en-US" dirty="0"/>
          </a:p>
        </p:txBody>
      </p:sp>
      <p:sp>
        <p:nvSpPr>
          <p:cNvPr id="63" name="TextBox 62">
            <a:extLst>
              <a:ext uri="{FF2B5EF4-FFF2-40B4-BE49-F238E27FC236}">
                <a16:creationId xmlns:a16="http://schemas.microsoft.com/office/drawing/2014/main" id="{AAF34022-A387-4F6F-9B95-D19338EFBF6C}"/>
              </a:ext>
            </a:extLst>
          </p:cNvPr>
          <p:cNvSpPr txBox="1"/>
          <p:nvPr/>
        </p:nvSpPr>
        <p:spPr>
          <a:xfrm>
            <a:off x="74902" y="199904"/>
            <a:ext cx="4976042" cy="584775"/>
          </a:xfrm>
          <a:prstGeom prst="rect">
            <a:avLst/>
          </a:prstGeom>
          <a:noFill/>
        </p:spPr>
        <p:txBody>
          <a:bodyPr wrap="none" rtlCol="0">
            <a:spAutoFit/>
          </a:bodyPr>
          <a:lstStyle/>
          <a:p>
            <a:r>
              <a:rPr lang="en-US" sz="3200" dirty="0">
                <a:latin typeface="Arial Black" panose="020B0A04020102020204" pitchFamily="34" charset="0"/>
              </a:rPr>
              <a:t>Student life example:</a:t>
            </a:r>
          </a:p>
        </p:txBody>
      </p:sp>
      <p:sp>
        <p:nvSpPr>
          <p:cNvPr id="64" name="TextBox 63">
            <a:extLst>
              <a:ext uri="{FF2B5EF4-FFF2-40B4-BE49-F238E27FC236}">
                <a16:creationId xmlns:a16="http://schemas.microsoft.com/office/drawing/2014/main" id="{89DFE58E-BF16-461F-B371-4353DF9ECDE9}"/>
              </a:ext>
            </a:extLst>
          </p:cNvPr>
          <p:cNvSpPr txBox="1"/>
          <p:nvPr/>
        </p:nvSpPr>
        <p:spPr>
          <a:xfrm>
            <a:off x="74902" y="772712"/>
            <a:ext cx="10591800" cy="1569660"/>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Important: Study for exams.</a:t>
            </a:r>
          </a:p>
          <a:p>
            <a:r>
              <a:rPr lang="en-US" sz="4800" dirty="0">
                <a:latin typeface="Times New Roman" panose="02020603050405020304" pitchFamily="18" charset="0"/>
                <a:cs typeface="Times New Roman" panose="02020603050405020304" pitchFamily="18" charset="0"/>
              </a:rPr>
              <a:t>Not important: Watching TV all day.</a:t>
            </a:r>
          </a:p>
        </p:txBody>
      </p:sp>
      <p:sp>
        <p:nvSpPr>
          <p:cNvPr id="65" name="TextBox 64">
            <a:extLst>
              <a:ext uri="{FF2B5EF4-FFF2-40B4-BE49-F238E27FC236}">
                <a16:creationId xmlns:a16="http://schemas.microsoft.com/office/drawing/2014/main" id="{C60FD1CC-D9D6-4C48-9CE3-22CB78ABEDFC}"/>
              </a:ext>
            </a:extLst>
          </p:cNvPr>
          <p:cNvSpPr txBox="1"/>
          <p:nvPr/>
        </p:nvSpPr>
        <p:spPr>
          <a:xfrm>
            <a:off x="74902" y="3315536"/>
            <a:ext cx="16162638" cy="2308324"/>
          </a:xfrm>
          <a:prstGeom prst="rect">
            <a:avLst/>
          </a:prstGeom>
          <a:noFill/>
        </p:spPr>
        <p:txBody>
          <a:bodyPr wrap="square">
            <a:spAutoFit/>
          </a:bodyPr>
          <a:lstStyle/>
          <a:p>
            <a:r>
              <a:rPr lang="en-US" sz="4800" dirty="0">
                <a:latin typeface="Times New Roman" panose="02020603050405020304" pitchFamily="18" charset="0"/>
                <a:cs typeface="Times New Roman" panose="02020603050405020304" pitchFamily="18" charset="0"/>
              </a:rPr>
              <a:t>Make a to-do list Set priorities (A, B, C)</a:t>
            </a:r>
          </a:p>
          <a:p>
            <a:r>
              <a:rPr lang="en-US" sz="4800" dirty="0">
                <a:latin typeface="Times New Roman" panose="02020603050405020304" pitchFamily="18" charset="0"/>
                <a:cs typeface="Times New Roman" panose="02020603050405020304" pitchFamily="18" charset="0"/>
              </a:rPr>
              <a:t>Avoid distractions.</a:t>
            </a:r>
          </a:p>
          <a:p>
            <a:r>
              <a:rPr lang="en-US" sz="4800" dirty="0">
                <a:latin typeface="Times New Roman" panose="02020603050405020304" pitchFamily="18" charset="0"/>
                <a:cs typeface="Times New Roman" panose="02020603050405020304" pitchFamily="18" charset="0"/>
              </a:rPr>
              <a:t>Focus on important tasks first</a:t>
            </a:r>
            <a:r>
              <a:rPr lang="en-US" sz="1800" dirty="0">
                <a:latin typeface="Times New Roman" panose="02020603050405020304" pitchFamily="18" charset="0"/>
                <a:cs typeface="Times New Roman" panose="02020603050405020304" pitchFamily="18" charset="0"/>
              </a:rPr>
              <a:t>.</a:t>
            </a:r>
          </a:p>
        </p:txBody>
      </p:sp>
      <p:sp>
        <p:nvSpPr>
          <p:cNvPr id="66" name="TextBox 65">
            <a:extLst>
              <a:ext uri="{FF2B5EF4-FFF2-40B4-BE49-F238E27FC236}">
                <a16:creationId xmlns:a16="http://schemas.microsoft.com/office/drawing/2014/main" id="{8D4CCEAB-9F79-4E0F-9153-7FE20BD07B1E}"/>
              </a:ext>
            </a:extLst>
          </p:cNvPr>
          <p:cNvSpPr txBox="1"/>
          <p:nvPr/>
        </p:nvSpPr>
        <p:spPr>
          <a:xfrm>
            <a:off x="74902" y="2449009"/>
            <a:ext cx="10332274" cy="830997"/>
          </a:xfrm>
          <a:prstGeom prst="rect">
            <a:avLst/>
          </a:prstGeom>
          <a:noFill/>
        </p:spPr>
        <p:txBody>
          <a:bodyPr wrap="square" rtlCol="0">
            <a:spAutoFit/>
          </a:bodyPr>
          <a:lstStyle/>
          <a:p>
            <a:r>
              <a:rPr lang="en-US" sz="4800" dirty="0">
                <a:latin typeface="Arial Black" panose="020B0A04020102020204" pitchFamily="34" charset="0"/>
              </a:rPr>
              <a:t>How to Apply:</a:t>
            </a:r>
          </a:p>
        </p:txBody>
      </p:sp>
      <p:sp>
        <p:nvSpPr>
          <p:cNvPr id="67" name="TextBox 66">
            <a:extLst>
              <a:ext uri="{FF2B5EF4-FFF2-40B4-BE49-F238E27FC236}">
                <a16:creationId xmlns:a16="http://schemas.microsoft.com/office/drawing/2014/main" id="{B5BF00C6-D879-4355-8415-6F3A1A135B6C}"/>
              </a:ext>
            </a:extLst>
          </p:cNvPr>
          <p:cNvSpPr txBox="1"/>
          <p:nvPr/>
        </p:nvSpPr>
        <p:spPr>
          <a:xfrm>
            <a:off x="-19665" y="6537424"/>
            <a:ext cx="10078065" cy="4154984"/>
          </a:xfrm>
          <a:prstGeom prst="rect">
            <a:avLst/>
          </a:prstGeom>
          <a:noFill/>
        </p:spPr>
        <p:txBody>
          <a:bodyPr wrap="square">
            <a:spAutoFit/>
          </a:bodyPr>
          <a:lstStyle/>
          <a:p>
            <a:r>
              <a:rPr lang="en-US" sz="4400" dirty="0">
                <a:latin typeface="Times New Roman" panose="02020603050405020304" pitchFamily="18" charset="0"/>
                <a:cs typeface="Times New Roman" panose="02020603050405020304" pitchFamily="18" charset="0"/>
              </a:rPr>
              <a:t>“Put First Things First” means doing what matters most first.</a:t>
            </a:r>
          </a:p>
          <a:p>
            <a:r>
              <a:rPr lang="en-US" sz="4400" dirty="0">
                <a:latin typeface="Times New Roman" panose="02020603050405020304" pitchFamily="18" charset="0"/>
                <a:cs typeface="Times New Roman" panose="02020603050405020304" pitchFamily="18" charset="0"/>
              </a:rPr>
              <a:t>Success comes from discipline and proper planning.</a:t>
            </a:r>
          </a:p>
          <a:p>
            <a:r>
              <a:rPr lang="en-US" sz="4400" dirty="0">
                <a:latin typeface="Times New Roman" panose="02020603050405020304" pitchFamily="18" charset="0"/>
                <a:cs typeface="Times New Roman" panose="02020603050405020304" pitchFamily="18" charset="0"/>
              </a:rPr>
              <a:t>Focus on important things, not just urgent ones.</a:t>
            </a:r>
          </a:p>
        </p:txBody>
      </p:sp>
      <p:sp>
        <p:nvSpPr>
          <p:cNvPr id="68" name="TextBox 67">
            <a:extLst>
              <a:ext uri="{FF2B5EF4-FFF2-40B4-BE49-F238E27FC236}">
                <a16:creationId xmlns:a16="http://schemas.microsoft.com/office/drawing/2014/main" id="{26E4475E-B4AB-45E0-BC8A-ED9884BACF06}"/>
              </a:ext>
            </a:extLst>
          </p:cNvPr>
          <p:cNvSpPr txBox="1"/>
          <p:nvPr/>
        </p:nvSpPr>
        <p:spPr>
          <a:xfrm>
            <a:off x="-19665" y="5655616"/>
            <a:ext cx="13723050" cy="830997"/>
          </a:xfrm>
          <a:prstGeom prst="rect">
            <a:avLst/>
          </a:prstGeom>
          <a:noFill/>
        </p:spPr>
        <p:txBody>
          <a:bodyPr wrap="square" rtlCol="0">
            <a:spAutoFit/>
          </a:bodyPr>
          <a:lstStyle/>
          <a:p>
            <a:r>
              <a:rPr lang="en-US" sz="4800" dirty="0">
                <a:latin typeface="Arial Black" panose="020B0A04020102020204" pitchFamily="34" charset="0"/>
              </a:rPr>
              <a:t>Conclusion: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TextBox 2"/>
          <p:cNvSpPr txBox="1"/>
          <p:nvPr/>
        </p:nvSpPr>
        <p:spPr>
          <a:xfrm>
            <a:off x="-418995" y="1702866"/>
            <a:ext cx="18954641" cy="8322791"/>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3597"/>
              </a:lnSpc>
            </a:pPr>
            <a:endParaRPr lang="en-US" sz="6000" b="1" i="1">
              <a:solidFill>
                <a:srgbClr val="392503"/>
              </a:solidFill>
              <a:latin typeface="Aprila Bold"/>
              <a:ea typeface="Aprila Bold"/>
              <a:cs typeface="Aprila Bold"/>
              <a:sym typeface="Aprila Bold"/>
            </a:endParaRPr>
          </a:p>
          <a:p>
            <a:pPr algn="ctr">
              <a:lnSpc>
                <a:spcPts val="23597"/>
              </a:lnSpc>
            </a:pPr>
            <a:endParaRPr lang="en-US" sz="6000" b="1" i="1">
              <a:solidFill>
                <a:srgbClr val="392503"/>
              </a:solidFill>
              <a:latin typeface="Aprila Bold"/>
              <a:ea typeface="Aprila Bold"/>
              <a:cs typeface="Aprila Bold"/>
              <a:sym typeface="Aprila Bold"/>
            </a:endParaRPr>
          </a:p>
          <a:p>
            <a:pPr algn="ctr">
              <a:lnSpc>
                <a:spcPts val="23597"/>
              </a:lnSpc>
            </a:pPr>
            <a:endParaRPr lang="en-US" sz="6000" b="1" i="1">
              <a:solidFill>
                <a:srgbClr val="392503"/>
              </a:solidFill>
              <a:latin typeface="Aprila Bold"/>
              <a:ea typeface="Aprila Bold"/>
              <a:cs typeface="Aprila Bold"/>
              <a:sym typeface="Aprila Bold"/>
            </a:endParaRPr>
          </a:p>
        </p:txBody>
      </p:sp>
      <p:sp>
        <p:nvSpPr>
          <p:cNvPr id="3" name="Freeform 3"/>
          <p:cNvSpPr/>
          <p:nvPr/>
        </p:nvSpPr>
        <p:spPr>
          <a:xfrm>
            <a:off x="-42837" y="4189929"/>
            <a:ext cx="1914474" cy="1716534"/>
          </a:xfrm>
          <a:custGeom>
            <a:avLst/>
            <a:gdLst/>
            <a:ahLst/>
            <a:cxnLst/>
            <a:rect l="l" t="t" r="r" b="b"/>
            <a:pathLst>
              <a:path w="2576528" h="2576528">
                <a:moveTo>
                  <a:pt x="0" y="0"/>
                </a:moveTo>
                <a:lnTo>
                  <a:pt x="2576527" y="0"/>
                </a:lnTo>
                <a:lnTo>
                  <a:pt x="2576527" y="2576527"/>
                </a:lnTo>
                <a:lnTo>
                  <a:pt x="0" y="25765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 name="Freeform 4"/>
          <p:cNvSpPr/>
          <p:nvPr/>
        </p:nvSpPr>
        <p:spPr>
          <a:xfrm>
            <a:off x="1986768" y="2202466"/>
            <a:ext cx="1028025" cy="1028025"/>
          </a:xfrm>
          <a:custGeom>
            <a:avLst/>
            <a:gdLst/>
            <a:ahLst/>
            <a:cxnLst/>
            <a:rect l="l" t="t" r="r" b="b"/>
            <a:pathLst>
              <a:path w="1028025" h="1028025">
                <a:moveTo>
                  <a:pt x="0" y="0"/>
                </a:moveTo>
                <a:lnTo>
                  <a:pt x="1028025" y="0"/>
                </a:lnTo>
                <a:lnTo>
                  <a:pt x="1028025" y="1028025"/>
                </a:lnTo>
                <a:lnTo>
                  <a:pt x="0" y="1028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13" name="Group 13"/>
          <p:cNvGrpSpPr/>
          <p:nvPr/>
        </p:nvGrpSpPr>
        <p:grpSpPr>
          <a:xfrm>
            <a:off x="0" y="-1786777"/>
            <a:ext cx="18288000" cy="2887820"/>
            <a:chOff x="0" y="0"/>
            <a:chExt cx="24384000" cy="3850426"/>
          </a:xfrm>
        </p:grpSpPr>
        <p:grpSp>
          <p:nvGrpSpPr>
            <p:cNvPr id="14" name="Group 14"/>
            <p:cNvGrpSpPr/>
            <p:nvPr/>
          </p:nvGrpSpPr>
          <p:grpSpPr>
            <a:xfrm rot="-5400000">
              <a:off x="1732387" y="706013"/>
              <a:ext cx="3850426" cy="2438400"/>
              <a:chOff x="0" y="0"/>
              <a:chExt cx="1284254" cy="813293"/>
            </a:xfrm>
          </p:grpSpPr>
          <p:sp>
            <p:nvSpPr>
              <p:cNvPr id="15" name="Freeform 1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 name="TextBox 1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7" name="Group 17"/>
            <p:cNvGrpSpPr/>
            <p:nvPr/>
          </p:nvGrpSpPr>
          <p:grpSpPr>
            <a:xfrm rot="-5400000">
              <a:off x="4170787" y="706013"/>
              <a:ext cx="3850426" cy="2438400"/>
              <a:chOff x="0" y="0"/>
              <a:chExt cx="1284254" cy="813293"/>
            </a:xfrm>
          </p:grpSpPr>
          <p:sp>
            <p:nvSpPr>
              <p:cNvPr id="18" name="Freeform 1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 name="TextBox 1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0" name="Group 20"/>
            <p:cNvGrpSpPr/>
            <p:nvPr/>
          </p:nvGrpSpPr>
          <p:grpSpPr>
            <a:xfrm rot="-5400000">
              <a:off x="6609187" y="706013"/>
              <a:ext cx="3850426" cy="2438400"/>
              <a:chOff x="0" y="0"/>
              <a:chExt cx="1284254" cy="813293"/>
            </a:xfrm>
          </p:grpSpPr>
          <p:sp>
            <p:nvSpPr>
              <p:cNvPr id="21" name="Freeform 2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 name="TextBox 2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3" name="Group 23"/>
            <p:cNvGrpSpPr/>
            <p:nvPr/>
          </p:nvGrpSpPr>
          <p:grpSpPr>
            <a:xfrm rot="-5400000">
              <a:off x="-706013" y="706013"/>
              <a:ext cx="3850426" cy="2438400"/>
              <a:chOff x="0" y="0"/>
              <a:chExt cx="1284254" cy="813293"/>
            </a:xfrm>
          </p:grpSpPr>
          <p:sp>
            <p:nvSpPr>
              <p:cNvPr id="24" name="Freeform 2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 name="TextBox 2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6" name="Group 26"/>
            <p:cNvGrpSpPr/>
            <p:nvPr/>
          </p:nvGrpSpPr>
          <p:grpSpPr>
            <a:xfrm rot="-5400000">
              <a:off x="9047587" y="706013"/>
              <a:ext cx="3850426" cy="2438400"/>
              <a:chOff x="0" y="0"/>
              <a:chExt cx="1284254" cy="813293"/>
            </a:xfrm>
          </p:grpSpPr>
          <p:sp>
            <p:nvSpPr>
              <p:cNvPr id="27" name="Freeform 2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TextBox 2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9" name="Group 29"/>
            <p:cNvGrpSpPr/>
            <p:nvPr/>
          </p:nvGrpSpPr>
          <p:grpSpPr>
            <a:xfrm rot="-5400000">
              <a:off x="11485987" y="706013"/>
              <a:ext cx="3850426" cy="2438400"/>
              <a:chOff x="0" y="0"/>
              <a:chExt cx="1284254" cy="813293"/>
            </a:xfrm>
          </p:grpSpPr>
          <p:sp>
            <p:nvSpPr>
              <p:cNvPr id="30" name="Freeform 3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 name="TextBox 3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2" name="Group 32"/>
            <p:cNvGrpSpPr/>
            <p:nvPr/>
          </p:nvGrpSpPr>
          <p:grpSpPr>
            <a:xfrm rot="-5400000">
              <a:off x="13924387" y="706013"/>
              <a:ext cx="3850426" cy="2438400"/>
              <a:chOff x="0" y="0"/>
              <a:chExt cx="1284254" cy="813293"/>
            </a:xfrm>
          </p:grpSpPr>
          <p:sp>
            <p:nvSpPr>
              <p:cNvPr id="33" name="Freeform 3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TextBox 3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5" name="Group 35"/>
            <p:cNvGrpSpPr/>
            <p:nvPr/>
          </p:nvGrpSpPr>
          <p:grpSpPr>
            <a:xfrm rot="-5400000">
              <a:off x="16362787" y="706013"/>
              <a:ext cx="3850426" cy="2438400"/>
              <a:chOff x="0" y="0"/>
              <a:chExt cx="1284254" cy="813293"/>
            </a:xfrm>
          </p:grpSpPr>
          <p:sp>
            <p:nvSpPr>
              <p:cNvPr id="36" name="Freeform 3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TextBox 3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8" name="Group 38"/>
            <p:cNvGrpSpPr/>
            <p:nvPr/>
          </p:nvGrpSpPr>
          <p:grpSpPr>
            <a:xfrm rot="-5400000">
              <a:off x="18801187" y="706013"/>
              <a:ext cx="3850426" cy="2438400"/>
              <a:chOff x="0" y="0"/>
              <a:chExt cx="1284254" cy="813293"/>
            </a:xfrm>
          </p:grpSpPr>
          <p:sp>
            <p:nvSpPr>
              <p:cNvPr id="39" name="Freeform 3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Box 4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1" name="Group 41"/>
            <p:cNvGrpSpPr/>
            <p:nvPr/>
          </p:nvGrpSpPr>
          <p:grpSpPr>
            <a:xfrm rot="-5400000">
              <a:off x="21239587" y="706013"/>
              <a:ext cx="3850426" cy="2438400"/>
              <a:chOff x="0" y="0"/>
              <a:chExt cx="1284254" cy="813293"/>
            </a:xfrm>
          </p:grpSpPr>
          <p:sp>
            <p:nvSpPr>
              <p:cNvPr id="42" name="Freeform 4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3" name="TextBox 4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grpSp>
        <p:nvGrpSpPr>
          <p:cNvPr id="44" name="Group 44"/>
          <p:cNvGrpSpPr/>
          <p:nvPr/>
        </p:nvGrpSpPr>
        <p:grpSpPr>
          <a:xfrm>
            <a:off x="0" y="9258300"/>
            <a:ext cx="18288000" cy="2887820"/>
            <a:chOff x="0" y="0"/>
            <a:chExt cx="24384000" cy="3850426"/>
          </a:xfrm>
        </p:grpSpPr>
        <p:grpSp>
          <p:nvGrpSpPr>
            <p:cNvPr id="45" name="Group 45"/>
            <p:cNvGrpSpPr/>
            <p:nvPr/>
          </p:nvGrpSpPr>
          <p:grpSpPr>
            <a:xfrm rot="-5400000">
              <a:off x="1732387" y="706013"/>
              <a:ext cx="3850426" cy="2438400"/>
              <a:chOff x="0" y="0"/>
              <a:chExt cx="1284254" cy="813293"/>
            </a:xfrm>
          </p:grpSpPr>
          <p:sp>
            <p:nvSpPr>
              <p:cNvPr id="46" name="Freeform 4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7" name="TextBox 4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8" name="Group 48"/>
            <p:cNvGrpSpPr/>
            <p:nvPr/>
          </p:nvGrpSpPr>
          <p:grpSpPr>
            <a:xfrm rot="-5400000">
              <a:off x="4170787" y="706013"/>
              <a:ext cx="3850426" cy="2438400"/>
              <a:chOff x="0" y="0"/>
              <a:chExt cx="1284254" cy="813293"/>
            </a:xfrm>
          </p:grpSpPr>
          <p:sp>
            <p:nvSpPr>
              <p:cNvPr id="49" name="Freeform 4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0" name="TextBox 5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1" name="Group 51"/>
            <p:cNvGrpSpPr/>
            <p:nvPr/>
          </p:nvGrpSpPr>
          <p:grpSpPr>
            <a:xfrm rot="-5400000">
              <a:off x="6609187" y="706013"/>
              <a:ext cx="3850426" cy="2438400"/>
              <a:chOff x="0" y="0"/>
              <a:chExt cx="1284254" cy="813293"/>
            </a:xfrm>
          </p:grpSpPr>
          <p:sp>
            <p:nvSpPr>
              <p:cNvPr id="52" name="Freeform 5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3" name="TextBox 5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4" name="Group 54"/>
            <p:cNvGrpSpPr/>
            <p:nvPr/>
          </p:nvGrpSpPr>
          <p:grpSpPr>
            <a:xfrm rot="-5400000">
              <a:off x="-706013" y="706013"/>
              <a:ext cx="3850426" cy="2438400"/>
              <a:chOff x="0" y="0"/>
              <a:chExt cx="1284254" cy="813293"/>
            </a:xfrm>
          </p:grpSpPr>
          <p:sp>
            <p:nvSpPr>
              <p:cNvPr id="55" name="Freeform 5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6" name="TextBox 5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7" name="Group 57"/>
            <p:cNvGrpSpPr/>
            <p:nvPr/>
          </p:nvGrpSpPr>
          <p:grpSpPr>
            <a:xfrm rot="-5400000">
              <a:off x="9047587" y="706013"/>
              <a:ext cx="3850426" cy="2438400"/>
              <a:chOff x="0" y="0"/>
              <a:chExt cx="1284254" cy="813293"/>
            </a:xfrm>
          </p:grpSpPr>
          <p:sp>
            <p:nvSpPr>
              <p:cNvPr id="58" name="Freeform 5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9" name="TextBox 5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0" name="Group 60"/>
            <p:cNvGrpSpPr/>
            <p:nvPr/>
          </p:nvGrpSpPr>
          <p:grpSpPr>
            <a:xfrm rot="-5400000">
              <a:off x="11485987" y="706013"/>
              <a:ext cx="3850426" cy="2438400"/>
              <a:chOff x="0" y="0"/>
              <a:chExt cx="1284254" cy="813293"/>
            </a:xfrm>
          </p:grpSpPr>
          <p:sp>
            <p:nvSpPr>
              <p:cNvPr id="61" name="Freeform 6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2" name="TextBox 6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3" name="Group 63"/>
            <p:cNvGrpSpPr/>
            <p:nvPr/>
          </p:nvGrpSpPr>
          <p:grpSpPr>
            <a:xfrm rot="-5400000">
              <a:off x="13924387" y="706013"/>
              <a:ext cx="3850426" cy="2438400"/>
              <a:chOff x="0" y="0"/>
              <a:chExt cx="1284254" cy="813293"/>
            </a:xfrm>
          </p:grpSpPr>
          <p:sp>
            <p:nvSpPr>
              <p:cNvPr id="64" name="Freeform 6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5" name="TextBox 6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6" name="Group 66"/>
            <p:cNvGrpSpPr/>
            <p:nvPr/>
          </p:nvGrpSpPr>
          <p:grpSpPr>
            <a:xfrm rot="-5400000">
              <a:off x="16362787" y="706013"/>
              <a:ext cx="3850426" cy="2438400"/>
              <a:chOff x="0" y="0"/>
              <a:chExt cx="1284254" cy="813293"/>
            </a:xfrm>
          </p:grpSpPr>
          <p:sp>
            <p:nvSpPr>
              <p:cNvPr id="67" name="Freeform 6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8" name="TextBox 6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9" name="Group 69"/>
            <p:cNvGrpSpPr/>
            <p:nvPr/>
          </p:nvGrpSpPr>
          <p:grpSpPr>
            <a:xfrm rot="-5400000">
              <a:off x="18801187" y="706013"/>
              <a:ext cx="3850426" cy="2438400"/>
              <a:chOff x="0" y="0"/>
              <a:chExt cx="1284254" cy="813293"/>
            </a:xfrm>
          </p:grpSpPr>
          <p:sp>
            <p:nvSpPr>
              <p:cNvPr id="70" name="Freeform 7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1" name="TextBox 7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72" name="Group 72"/>
            <p:cNvGrpSpPr/>
            <p:nvPr/>
          </p:nvGrpSpPr>
          <p:grpSpPr>
            <a:xfrm rot="-5400000">
              <a:off x="21239587" y="706013"/>
              <a:ext cx="3850426" cy="2438400"/>
              <a:chOff x="0" y="0"/>
              <a:chExt cx="1284254" cy="813293"/>
            </a:xfrm>
          </p:grpSpPr>
          <p:sp>
            <p:nvSpPr>
              <p:cNvPr id="73" name="Freeform 7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4" name="TextBox 7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75" name="Freeform 75"/>
          <p:cNvSpPr/>
          <p:nvPr/>
        </p:nvSpPr>
        <p:spPr>
          <a:xfrm>
            <a:off x="16859586" y="2363298"/>
            <a:ext cx="1028025" cy="1028025"/>
          </a:xfrm>
          <a:custGeom>
            <a:avLst/>
            <a:gdLst/>
            <a:ahLst/>
            <a:cxnLst/>
            <a:rect l="l" t="t" r="r" b="b"/>
            <a:pathLst>
              <a:path w="1028025" h="1028025">
                <a:moveTo>
                  <a:pt x="0" y="0"/>
                </a:moveTo>
                <a:lnTo>
                  <a:pt x="1028025" y="0"/>
                </a:lnTo>
                <a:lnTo>
                  <a:pt x="1028025" y="1028026"/>
                </a:lnTo>
                <a:lnTo>
                  <a:pt x="0" y="1028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84" name="TextBox 83">
            <a:extLst>
              <a:ext uri="{FF2B5EF4-FFF2-40B4-BE49-F238E27FC236}">
                <a16:creationId xmlns:a16="http://schemas.microsoft.com/office/drawing/2014/main" id="{273C7263-2F56-7EA0-21C8-8CADF2C86F93}"/>
              </a:ext>
            </a:extLst>
          </p:cNvPr>
          <p:cNvSpPr txBox="1"/>
          <p:nvPr/>
        </p:nvSpPr>
        <p:spPr>
          <a:xfrm>
            <a:off x="5676900" y="0"/>
            <a:ext cx="8677325" cy="144655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b="1">
                <a:effectLst/>
                <a:latin typeface="Times New Roman" panose="02020603050405020304" pitchFamily="18" charset="0"/>
                <a:ea typeface="Times New Roman" panose="02020603050405020304" pitchFamily="18" charset="0"/>
                <a:cs typeface="Times New Roman" panose="02020603050405020304" pitchFamily="18" charset="0"/>
              </a:rPr>
              <a:t>What is Think Win-Win</a:t>
            </a:r>
            <a:endParaRPr lang="en-US" sz="480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sz="4000"/>
          </a:p>
        </p:txBody>
      </p:sp>
      <p:sp>
        <p:nvSpPr>
          <p:cNvPr id="82" name="TextBox 81">
            <a:extLst>
              <a:ext uri="{FF2B5EF4-FFF2-40B4-BE49-F238E27FC236}">
                <a16:creationId xmlns:a16="http://schemas.microsoft.com/office/drawing/2014/main" id="{D5DC43D5-2511-4350-B420-19FEACEC95E0}"/>
              </a:ext>
            </a:extLst>
          </p:cNvPr>
          <p:cNvSpPr txBox="1"/>
          <p:nvPr/>
        </p:nvSpPr>
        <p:spPr>
          <a:xfrm>
            <a:off x="132329" y="920401"/>
            <a:ext cx="9483968" cy="34163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u="sng">
                <a:effectLst/>
                <a:latin typeface="Times New Roman" panose="02020603050405020304" pitchFamily="18" charset="0"/>
                <a:ea typeface="Times New Roman" panose="02020603050405020304" pitchFamily="18" charset="0"/>
              </a:rPr>
              <a:t>Main message: Think Win-Win means looking</a:t>
            </a:r>
            <a:r>
              <a:rPr lang="en-US" sz="3600">
                <a:effectLst/>
                <a:latin typeface="Times New Roman" panose="02020603050405020304" pitchFamily="18" charset="0"/>
                <a:ea typeface="Times New Roman" panose="02020603050405020304" pitchFamily="18" charset="0"/>
              </a:rPr>
              <a:t> for solutions where </a:t>
            </a:r>
            <a:r>
              <a:rPr lang="en-US" sz="3600" b="1">
                <a:effectLst/>
                <a:latin typeface="Times New Roman" panose="02020603050405020304" pitchFamily="18" charset="0"/>
                <a:ea typeface="Times New Roman" panose="02020603050405020304" pitchFamily="18" charset="0"/>
              </a:rPr>
              <a:t>everyone benefits</a:t>
            </a:r>
            <a:r>
              <a:rPr lang="en-US" sz="3600">
                <a:effectLst/>
                <a:latin typeface="Times New Roman" panose="02020603050405020304" pitchFamily="18" charset="0"/>
                <a:ea typeface="Times New Roman" panose="02020603050405020304" pitchFamily="18" charset="0"/>
              </a:rPr>
              <a:t>, instead of treating success like a competition where one side must lose. It comes from an </a:t>
            </a:r>
            <a:r>
              <a:rPr lang="en-US" sz="3600" b="1">
                <a:effectLst/>
                <a:latin typeface="Times New Roman" panose="02020603050405020304" pitchFamily="18" charset="0"/>
                <a:ea typeface="Times New Roman" panose="02020603050405020304" pitchFamily="18" charset="0"/>
              </a:rPr>
              <a:t>abundance mindset</a:t>
            </a:r>
            <a:r>
              <a:rPr lang="en-US" sz="3600">
                <a:effectLst/>
                <a:latin typeface="Times New Roman" panose="02020603050405020304" pitchFamily="18" charset="0"/>
                <a:ea typeface="Times New Roman" panose="02020603050405020304" pitchFamily="18" charset="0"/>
              </a:rPr>
              <a:t> and depends on balancing </a:t>
            </a:r>
            <a:r>
              <a:rPr lang="en-US" sz="3600" b="1">
                <a:effectLst/>
                <a:latin typeface="Times New Roman" panose="02020603050405020304" pitchFamily="18" charset="0"/>
                <a:ea typeface="Times New Roman" panose="02020603050405020304" pitchFamily="18" charset="0"/>
              </a:rPr>
              <a:t>courage</a:t>
            </a:r>
            <a:r>
              <a:rPr lang="en-US" sz="3600">
                <a:effectLst/>
                <a:latin typeface="Times New Roman" panose="02020603050405020304" pitchFamily="18" charset="0"/>
                <a:ea typeface="Times New Roman" panose="02020603050405020304" pitchFamily="18" charset="0"/>
              </a:rPr>
              <a:t> with </a:t>
            </a:r>
            <a:r>
              <a:rPr lang="en-US" sz="3600" b="1">
                <a:effectLst/>
                <a:latin typeface="Times New Roman" panose="02020603050405020304" pitchFamily="18" charset="0"/>
                <a:ea typeface="Times New Roman" panose="02020603050405020304" pitchFamily="18" charset="0"/>
              </a:rPr>
              <a:t>consideration</a:t>
            </a:r>
            <a:endParaRPr lang="en-US" sz="3600"/>
          </a:p>
        </p:txBody>
      </p:sp>
      <p:sp>
        <p:nvSpPr>
          <p:cNvPr id="86" name="TextBox 85">
            <a:extLst>
              <a:ext uri="{FF2B5EF4-FFF2-40B4-BE49-F238E27FC236}">
                <a16:creationId xmlns:a16="http://schemas.microsoft.com/office/drawing/2014/main" id="{4D392F5B-3B1A-41B6-8E05-69311392019F}"/>
              </a:ext>
            </a:extLst>
          </p:cNvPr>
          <p:cNvSpPr txBox="1"/>
          <p:nvPr/>
        </p:nvSpPr>
        <p:spPr>
          <a:xfrm>
            <a:off x="0" y="4336721"/>
            <a:ext cx="9483968" cy="288489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lnSpc>
                <a:spcPct val="107000"/>
              </a:lnSpc>
              <a:spcBef>
                <a:spcPct val="0"/>
              </a:spcBef>
              <a:spcAft>
                <a:spcPts val="800"/>
              </a:spcAft>
            </a:pPr>
            <a:r>
              <a:rPr lang="en-US" sz="4000" b="1" u="sng">
                <a:effectLst/>
                <a:latin typeface="Times New Roman" panose="02020603050405020304" pitchFamily="18" charset="0"/>
                <a:ea typeface="Times New Roman" panose="02020603050405020304" pitchFamily="18" charset="0"/>
                <a:cs typeface="Times New Roman" panose="02020603050405020304" pitchFamily="18" charset="0"/>
              </a:rPr>
              <a:t>Text you can put on the slide:</a:t>
            </a:r>
            <a:endParaRPr lang="en-US" sz="4000" u="sng">
              <a:effectLst/>
              <a:latin typeface="Calibri" panose="020F0502020204030204" pitchFamily="34" charset="0"/>
              <a:ea typeface="Calibri" panose="020F0502020204030204" pitchFamily="34" charset="0"/>
              <a:cs typeface="Times New Roman" panose="02020603050405020304" pitchFamily="18" charset="0"/>
            </a:endParaRPr>
          </a:p>
          <a:p>
            <a:pPr marR="0" lvl="0">
              <a:spcBef>
                <a:spcPct val="0"/>
              </a:spcBef>
              <a:spcAft>
                <a:spcPts val="800"/>
              </a:spcAft>
              <a:buSzPts val="1000"/>
              <a:tabLst>
                <a:tab pos="457200" algn="l"/>
              </a:tabLst>
            </a:pPr>
            <a:r>
              <a:rPr lang="en-US" sz="2800">
                <a:effectLst/>
                <a:latin typeface="Times New Roman" panose="02020603050405020304" pitchFamily="18" charset="0"/>
                <a:ea typeface="Times New Roman" panose="02020603050405020304" pitchFamily="18" charset="0"/>
                <a:cs typeface="Times New Roman" panose="02020603050405020304" pitchFamily="18" charset="0"/>
              </a:rPr>
              <a:t>Seek mutual benefit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R="0" lvl="0">
              <a:spcBef>
                <a:spcPct val="0"/>
              </a:spcBef>
              <a:spcAft>
                <a:spcPts val="800"/>
              </a:spcAft>
              <a:buSzPts val="1000"/>
              <a:tabLst>
                <a:tab pos="457200" algn="l"/>
              </a:tabLst>
            </a:pPr>
            <a:r>
              <a:rPr lang="en-US" sz="2800">
                <a:effectLst/>
                <a:latin typeface="Times New Roman" panose="02020603050405020304" pitchFamily="18" charset="0"/>
                <a:ea typeface="Times New Roman" panose="02020603050405020304" pitchFamily="18" charset="0"/>
                <a:cs typeface="Times New Roman" panose="02020603050405020304" pitchFamily="18" charset="0"/>
              </a:rPr>
              <a:t>Avoid win-lose thinking</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R="0" lvl="0">
              <a:spcBef>
                <a:spcPct val="0"/>
              </a:spcBef>
              <a:spcAft>
                <a:spcPts val="800"/>
              </a:spcAft>
              <a:buSzPts val="1000"/>
              <a:tabLst>
                <a:tab pos="457200" algn="l"/>
              </a:tabLst>
            </a:pPr>
            <a:r>
              <a:rPr lang="en-US" sz="2800">
                <a:effectLst/>
                <a:latin typeface="Times New Roman" panose="02020603050405020304" pitchFamily="18" charset="0"/>
                <a:ea typeface="Times New Roman" panose="02020603050405020304" pitchFamily="18" charset="0"/>
                <a:cs typeface="Times New Roman" panose="02020603050405020304" pitchFamily="18" charset="0"/>
              </a:rPr>
              <a:t>Build trust and partnership</a:t>
            </a:r>
            <a:endParaRPr lang="en-US" sz="2800">
              <a:latin typeface="Calibri" panose="020F0502020204030204" pitchFamily="34" charset="0"/>
              <a:ea typeface="Times New Roman" panose="02020603050405020304" pitchFamily="18" charset="0"/>
              <a:cs typeface="Times New Roman" panose="02020603050405020304" pitchFamily="18" charset="0"/>
            </a:endParaRPr>
          </a:p>
          <a:p>
            <a:pPr marR="0" lvl="0">
              <a:spcBef>
                <a:spcPct val="0"/>
              </a:spcBef>
              <a:spcAft>
                <a:spcPts val="800"/>
              </a:spcAft>
              <a:buSzPts val="1000"/>
              <a:tabLst>
                <a:tab pos="457200" algn="l"/>
              </a:tabLst>
            </a:pPr>
            <a:r>
              <a:rPr lang="en-US" sz="2800">
                <a:effectLst/>
                <a:latin typeface="Times New Roman" panose="02020603050405020304" pitchFamily="18" charset="0"/>
                <a:ea typeface="Times New Roman" panose="02020603050405020304" pitchFamily="18" charset="0"/>
                <a:cs typeface="Times New Roman" panose="02020603050405020304" pitchFamily="18" charset="0"/>
              </a:rPr>
              <a:t>Use courage + consideration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8" name="TextBox 87">
            <a:extLst>
              <a:ext uri="{FF2B5EF4-FFF2-40B4-BE49-F238E27FC236}">
                <a16:creationId xmlns:a16="http://schemas.microsoft.com/office/drawing/2014/main" id="{ABB1AA69-DCC3-4DBD-836F-BC78EC72E224}"/>
              </a:ext>
            </a:extLst>
          </p:cNvPr>
          <p:cNvSpPr txBox="1"/>
          <p:nvPr/>
        </p:nvSpPr>
        <p:spPr>
          <a:xfrm>
            <a:off x="-66284" y="7274906"/>
            <a:ext cx="18354283" cy="193899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b="1">
                <a:effectLst/>
                <a:latin typeface="Times New Roman" panose="02020603050405020304" pitchFamily="18" charset="0"/>
                <a:ea typeface="Times New Roman" panose="02020603050405020304" pitchFamily="18" charset="0"/>
              </a:rPr>
              <a:t>Short speaking script:</a:t>
            </a:r>
          </a:p>
          <a:p>
            <a:r>
              <a:rPr lang="en-US" sz="3600">
                <a:effectLst/>
                <a:latin typeface="Times New Roman" panose="02020603050405020304" pitchFamily="18" charset="0"/>
                <a:ea typeface="Times New Roman" panose="02020603050405020304" pitchFamily="18" charset="0"/>
              </a:rPr>
              <a:t>“Think Win-Win is about finding outcomes that are good for both sides. Instead of competing for a limited result, we focus on cooperation, trust, and shared success.”</a:t>
            </a:r>
            <a:endParaRPr lang="en-US" sz="360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TextBox 2"/>
          <p:cNvSpPr txBox="1"/>
          <p:nvPr/>
        </p:nvSpPr>
        <p:spPr>
          <a:xfrm>
            <a:off x="3694817" y="1521639"/>
            <a:ext cx="10898365" cy="125829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1200"/>
              </a:lnSpc>
            </a:pPr>
            <a:r>
              <a:rPr lang="en-US" sz="7200" b="1">
                <a:effectLst/>
                <a:latin typeface="Times New Roman" panose="02020603050405020304" pitchFamily="18" charset="0"/>
                <a:ea typeface="Times New Roman" panose="02020603050405020304" pitchFamily="18" charset="0"/>
              </a:rPr>
              <a:t>How to Apply It</a:t>
            </a:r>
            <a:endParaRPr lang="en-US" sz="7200">
              <a:solidFill>
                <a:srgbClr val="392503"/>
              </a:solidFill>
              <a:latin typeface="Aprila Bold"/>
              <a:ea typeface="Aprila Bold"/>
              <a:cs typeface="Aprila Bold"/>
              <a:sym typeface="Aprila Bold"/>
            </a:endParaRPr>
          </a:p>
        </p:txBody>
      </p:sp>
      <p:grpSp>
        <p:nvGrpSpPr>
          <p:cNvPr id="25" name="Group 25"/>
          <p:cNvGrpSpPr/>
          <p:nvPr/>
        </p:nvGrpSpPr>
        <p:grpSpPr>
          <a:xfrm>
            <a:off x="-194547" y="-3926739"/>
            <a:ext cx="18677096" cy="5238828"/>
            <a:chOff x="0" y="0"/>
            <a:chExt cx="24902793" cy="6985104"/>
          </a:xfrm>
        </p:grpSpPr>
        <p:grpSp>
          <p:nvGrpSpPr>
            <p:cNvPr id="26" name="Group 26"/>
            <p:cNvGrpSpPr/>
            <p:nvPr/>
          </p:nvGrpSpPr>
          <p:grpSpPr>
            <a:xfrm rot="-5400000">
              <a:off x="1972355" y="3840691"/>
              <a:ext cx="3850426" cy="2438400"/>
              <a:chOff x="0" y="0"/>
              <a:chExt cx="1284254" cy="813293"/>
            </a:xfrm>
          </p:grpSpPr>
          <p:sp>
            <p:nvSpPr>
              <p:cNvPr id="27" name="Freeform 2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TextBox 2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9" name="Group 29"/>
            <p:cNvGrpSpPr/>
            <p:nvPr/>
          </p:nvGrpSpPr>
          <p:grpSpPr>
            <a:xfrm rot="-5400000">
              <a:off x="4410755" y="3840691"/>
              <a:ext cx="3850426" cy="2438400"/>
              <a:chOff x="0" y="0"/>
              <a:chExt cx="1284254" cy="813293"/>
            </a:xfrm>
          </p:grpSpPr>
          <p:sp>
            <p:nvSpPr>
              <p:cNvPr id="30" name="Freeform 3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 name="TextBox 3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2" name="Group 32"/>
            <p:cNvGrpSpPr/>
            <p:nvPr/>
          </p:nvGrpSpPr>
          <p:grpSpPr>
            <a:xfrm rot="-5400000">
              <a:off x="6849155" y="3840691"/>
              <a:ext cx="3850426" cy="2438400"/>
              <a:chOff x="0" y="0"/>
              <a:chExt cx="1284254" cy="813293"/>
            </a:xfrm>
          </p:grpSpPr>
          <p:sp>
            <p:nvSpPr>
              <p:cNvPr id="33" name="Freeform 3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TextBox 3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5" name="Group 35"/>
            <p:cNvGrpSpPr/>
            <p:nvPr/>
          </p:nvGrpSpPr>
          <p:grpSpPr>
            <a:xfrm rot="-5400000">
              <a:off x="-466045" y="3840691"/>
              <a:ext cx="3850426" cy="2438400"/>
              <a:chOff x="0" y="0"/>
              <a:chExt cx="1284254" cy="813293"/>
            </a:xfrm>
          </p:grpSpPr>
          <p:sp>
            <p:nvSpPr>
              <p:cNvPr id="36" name="Freeform 3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TextBox 3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8" name="Group 38"/>
            <p:cNvGrpSpPr/>
            <p:nvPr/>
          </p:nvGrpSpPr>
          <p:grpSpPr>
            <a:xfrm rot="-5400000">
              <a:off x="9287555" y="3840691"/>
              <a:ext cx="3850426" cy="2438400"/>
              <a:chOff x="0" y="0"/>
              <a:chExt cx="1284254" cy="813293"/>
            </a:xfrm>
          </p:grpSpPr>
          <p:sp>
            <p:nvSpPr>
              <p:cNvPr id="39" name="Freeform 3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Box 4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1" name="Group 41"/>
            <p:cNvGrpSpPr/>
            <p:nvPr/>
          </p:nvGrpSpPr>
          <p:grpSpPr>
            <a:xfrm rot="-5400000">
              <a:off x="11725955" y="3840691"/>
              <a:ext cx="3850426" cy="2438400"/>
              <a:chOff x="0" y="0"/>
              <a:chExt cx="1284254" cy="813293"/>
            </a:xfrm>
          </p:grpSpPr>
          <p:sp>
            <p:nvSpPr>
              <p:cNvPr id="42" name="Freeform 4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3" name="TextBox 4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4" name="Group 44"/>
            <p:cNvGrpSpPr/>
            <p:nvPr/>
          </p:nvGrpSpPr>
          <p:grpSpPr>
            <a:xfrm rot="-5400000">
              <a:off x="14164356" y="3840691"/>
              <a:ext cx="3850426" cy="2438400"/>
              <a:chOff x="0" y="0"/>
              <a:chExt cx="1284254" cy="813293"/>
            </a:xfrm>
          </p:grpSpPr>
          <p:sp>
            <p:nvSpPr>
              <p:cNvPr id="45" name="Freeform 4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6" name="TextBox 4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7" name="Group 47"/>
            <p:cNvGrpSpPr/>
            <p:nvPr/>
          </p:nvGrpSpPr>
          <p:grpSpPr>
            <a:xfrm rot="-5400000">
              <a:off x="16602756" y="3840691"/>
              <a:ext cx="3850426" cy="2438400"/>
              <a:chOff x="0" y="0"/>
              <a:chExt cx="1284254" cy="813293"/>
            </a:xfrm>
          </p:grpSpPr>
          <p:sp>
            <p:nvSpPr>
              <p:cNvPr id="48" name="Freeform 4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9" name="TextBox 4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0" name="Group 50"/>
            <p:cNvGrpSpPr/>
            <p:nvPr/>
          </p:nvGrpSpPr>
          <p:grpSpPr>
            <a:xfrm rot="-5400000">
              <a:off x="19041156" y="3840691"/>
              <a:ext cx="3850426" cy="2438400"/>
              <a:chOff x="0" y="0"/>
              <a:chExt cx="1284254" cy="813293"/>
            </a:xfrm>
          </p:grpSpPr>
          <p:sp>
            <p:nvSpPr>
              <p:cNvPr id="51" name="Freeform 5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2" name="TextBox 5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3" name="Group 53"/>
            <p:cNvGrpSpPr/>
            <p:nvPr/>
          </p:nvGrpSpPr>
          <p:grpSpPr>
            <a:xfrm rot="-5400000">
              <a:off x="21479556" y="3840691"/>
              <a:ext cx="3850426" cy="2438400"/>
              <a:chOff x="0" y="0"/>
              <a:chExt cx="1284254" cy="813293"/>
            </a:xfrm>
          </p:grpSpPr>
          <p:sp>
            <p:nvSpPr>
              <p:cNvPr id="54" name="Freeform 5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5" name="TextBox 5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6" name="Group 56"/>
            <p:cNvGrpSpPr/>
            <p:nvPr/>
          </p:nvGrpSpPr>
          <p:grpSpPr>
            <a:xfrm>
              <a:off x="0" y="0"/>
              <a:ext cx="24902793" cy="6269356"/>
              <a:chOff x="0" y="0"/>
              <a:chExt cx="4919070" cy="1238391"/>
            </a:xfrm>
          </p:grpSpPr>
          <p:sp>
            <p:nvSpPr>
              <p:cNvPr id="57" name="Freeform 57"/>
              <p:cNvSpPr/>
              <p:nvPr/>
            </p:nvSpPr>
            <p:spPr>
              <a:xfrm>
                <a:off x="0" y="0"/>
                <a:ext cx="4919070" cy="1238391"/>
              </a:xfrm>
              <a:custGeom>
                <a:avLst/>
                <a:gdLst/>
                <a:ahLst/>
                <a:cxnLst/>
                <a:rect l="l" t="t" r="r" b="b"/>
                <a:pathLst>
                  <a:path w="4919070" h="1238391">
                    <a:moveTo>
                      <a:pt x="0" y="0"/>
                    </a:moveTo>
                    <a:lnTo>
                      <a:pt x="4919070" y="0"/>
                    </a:lnTo>
                    <a:lnTo>
                      <a:pt x="4919070" y="1238391"/>
                    </a:lnTo>
                    <a:lnTo>
                      <a:pt x="0" y="1238391"/>
                    </a:ln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8" name="TextBox 58"/>
              <p:cNvSpPr txBox="1"/>
              <p:nvPr/>
            </p:nvSpPr>
            <p:spPr>
              <a:xfrm>
                <a:off x="0" y="-38100"/>
                <a:ext cx="4919070" cy="1276491"/>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3" name="TextBox 2">
            <a:extLst>
              <a:ext uri="{FF2B5EF4-FFF2-40B4-BE49-F238E27FC236}">
                <a16:creationId xmlns:a16="http://schemas.microsoft.com/office/drawing/2014/main" id="{97853311-224E-4377-8A9D-C4DD005B8E48}"/>
              </a:ext>
            </a:extLst>
          </p:cNvPr>
          <p:cNvSpPr txBox="1"/>
          <p:nvPr/>
        </p:nvSpPr>
        <p:spPr>
          <a:xfrm>
            <a:off x="318855" y="3123354"/>
            <a:ext cx="12468174" cy="70051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lnSpc>
                <a:spcPct val="107000"/>
              </a:lnSpc>
              <a:spcBef>
                <a:spcPct val="0"/>
              </a:spcBef>
              <a:spcAft>
                <a:spcPts val="800"/>
              </a:spcAft>
            </a:pPr>
            <a:r>
              <a:rPr lang="en-US" sz="3200" b="1">
                <a:effectLst/>
                <a:latin typeface="Times New Roman" panose="02020603050405020304" pitchFamily="18" charset="0"/>
                <a:ea typeface="Times New Roman" panose="02020603050405020304" pitchFamily="18" charset="0"/>
                <a:cs typeface="Times New Roman" panose="02020603050405020304" pitchFamily="18" charset="0"/>
              </a:rPr>
              <a:t>Main message:</a:t>
            </a:r>
            <a:r>
              <a:rPr lang="en-US" sz="3200">
                <a:effectLst/>
                <a:latin typeface="Times New Roman" panose="02020603050405020304" pitchFamily="18" charset="0"/>
                <a:ea typeface="Times New Roman" panose="02020603050405020304" pitchFamily="18" charset="0"/>
                <a:cs typeface="Times New Roman" panose="02020603050405020304" pitchFamily="18" charset="0"/>
              </a:rPr>
              <a:t> To apply Think Win-Win, first understand what both sides need, then search for a fair solution that satisfies key interests. This approach strengthens relationships and improves collaboration. </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ct val="0"/>
              </a:spcBef>
              <a:spcAft>
                <a:spcPts val="800"/>
              </a:spcAft>
            </a:pPr>
            <a:r>
              <a:rPr lang="en-US" sz="3200" b="1">
                <a:effectLst/>
                <a:latin typeface="Times New Roman" panose="02020603050405020304" pitchFamily="18" charset="0"/>
                <a:ea typeface="Times New Roman" panose="02020603050405020304" pitchFamily="18" charset="0"/>
                <a:cs typeface="Times New Roman" panose="02020603050405020304" pitchFamily="18" charset="0"/>
              </a:rPr>
              <a:t>Text you can put on the slide:</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ct val="0"/>
              </a:spcBef>
              <a:spcAft>
                <a:spcPts val="800"/>
              </a:spcAft>
              <a:buSzPts val="1000"/>
              <a:buFont typeface="Symbol" panose="05050102010706020507" pitchFamily="18" charset="2"/>
              <a:buChar char=""/>
              <a:tabLst>
                <a:tab pos="457200" algn="l"/>
              </a:tabLst>
            </a:pPr>
            <a:r>
              <a:rPr lang="en-US" sz="3200">
                <a:effectLst/>
                <a:latin typeface="Times New Roman" panose="02020603050405020304" pitchFamily="18" charset="0"/>
                <a:ea typeface="Times New Roman" panose="02020603050405020304" pitchFamily="18" charset="0"/>
                <a:cs typeface="Times New Roman" panose="02020603050405020304" pitchFamily="18" charset="0"/>
              </a:rPr>
              <a:t>Listen to both sides</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ct val="0"/>
              </a:spcBef>
              <a:spcAft>
                <a:spcPts val="800"/>
              </a:spcAft>
              <a:buSzPts val="1000"/>
              <a:buFont typeface="Symbol" panose="05050102010706020507" pitchFamily="18" charset="2"/>
              <a:buChar char=""/>
              <a:tabLst>
                <a:tab pos="457200" algn="l"/>
              </a:tabLst>
            </a:pPr>
            <a:r>
              <a:rPr lang="en-US" sz="3200">
                <a:effectLst/>
                <a:latin typeface="Times New Roman" panose="02020603050405020304" pitchFamily="18" charset="0"/>
                <a:ea typeface="Times New Roman" panose="02020603050405020304" pitchFamily="18" charset="0"/>
                <a:cs typeface="Times New Roman" panose="02020603050405020304" pitchFamily="18" charset="0"/>
              </a:rPr>
              <a:t>Identify shared goals</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ct val="0"/>
              </a:spcBef>
              <a:spcAft>
                <a:spcPts val="800"/>
              </a:spcAft>
              <a:buSzPts val="1000"/>
              <a:buFont typeface="Symbol" panose="05050102010706020507" pitchFamily="18" charset="2"/>
              <a:buChar char=""/>
              <a:tabLst>
                <a:tab pos="457200" algn="l"/>
              </a:tabLst>
            </a:pPr>
            <a:r>
              <a:rPr lang="en-US" sz="3200">
                <a:effectLst/>
                <a:latin typeface="Times New Roman" panose="02020603050405020304" pitchFamily="18" charset="0"/>
                <a:ea typeface="Times New Roman" panose="02020603050405020304" pitchFamily="18" charset="0"/>
                <a:cs typeface="Times New Roman" panose="02020603050405020304" pitchFamily="18" charset="0"/>
              </a:rPr>
              <a:t>Create a fair solution</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ct val="0"/>
              </a:spcBef>
              <a:spcAft>
                <a:spcPts val="800"/>
              </a:spcAft>
              <a:buSzPts val="1000"/>
              <a:buFont typeface="Symbol" panose="05050102010706020507" pitchFamily="18" charset="2"/>
              <a:buChar char=""/>
              <a:tabLst>
                <a:tab pos="457200" algn="l"/>
              </a:tabLst>
            </a:pPr>
            <a:r>
              <a:rPr lang="en-US" sz="3200">
                <a:effectLst/>
                <a:latin typeface="Times New Roman" panose="02020603050405020304" pitchFamily="18" charset="0"/>
                <a:ea typeface="Times New Roman" panose="02020603050405020304" pitchFamily="18" charset="0"/>
                <a:cs typeface="Times New Roman" panose="02020603050405020304" pitchFamily="18" charset="0"/>
              </a:rPr>
              <a:t>Strengthen long-term relationships</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ct val="0"/>
              </a:spcBef>
              <a:spcAft>
                <a:spcPts val="800"/>
              </a:spcAft>
            </a:pPr>
            <a:r>
              <a:rPr lang="en-US" sz="3200" b="1">
                <a:effectLst/>
                <a:latin typeface="Times New Roman" panose="02020603050405020304" pitchFamily="18" charset="0"/>
                <a:ea typeface="Times New Roman" panose="02020603050405020304" pitchFamily="18" charset="0"/>
                <a:cs typeface="Times New Roman" panose="02020603050405020304" pitchFamily="18" charset="0"/>
              </a:rPr>
              <a:t>Example to say:</a:t>
            </a:r>
            <a:br>
              <a:rPr lang="en-US" sz="3200">
                <a:effectLst/>
                <a:latin typeface="Times New Roman" panose="02020603050405020304" pitchFamily="18" charset="0"/>
                <a:ea typeface="Times New Roman" panose="02020603050405020304" pitchFamily="18" charset="0"/>
                <a:cs typeface="Times New Roman" panose="02020603050405020304" pitchFamily="18" charset="0"/>
              </a:rPr>
            </a:br>
            <a:r>
              <a:rPr lang="en-US" sz="3200">
                <a:effectLst/>
                <a:latin typeface="Times New Roman" panose="02020603050405020304" pitchFamily="18" charset="0"/>
                <a:ea typeface="Times New Roman" panose="02020603050405020304" pitchFamily="18" charset="0"/>
                <a:cs typeface="Times New Roman" panose="02020603050405020304" pitchFamily="18" charset="0"/>
              </a:rPr>
              <a:t>“In a team project, Think Win-Win means dividing tasks fairly, respecting everyone’s ideas, and choosing a solution that helps the whole group succeed.”</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TextBox 2"/>
          <p:cNvSpPr txBox="1"/>
          <p:nvPr/>
        </p:nvSpPr>
        <p:spPr>
          <a:xfrm>
            <a:off x="-418994" y="1702866"/>
            <a:ext cx="18954641" cy="8322792"/>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3596"/>
              </a:lnSpc>
            </a:pPr>
            <a:endParaRPr lang="en-US" sz="6000" b="1" i="1">
              <a:solidFill>
                <a:srgbClr val="392503"/>
              </a:solidFill>
              <a:latin typeface="Aprila Bold"/>
              <a:ea typeface="Aprila Bold"/>
              <a:cs typeface="Aprila Bold"/>
              <a:sym typeface="Aprila Bold"/>
            </a:endParaRPr>
          </a:p>
          <a:p>
            <a:pPr algn="ctr">
              <a:lnSpc>
                <a:spcPts val="23596"/>
              </a:lnSpc>
            </a:pPr>
            <a:endParaRPr lang="en-US" sz="6000" b="1" i="1">
              <a:solidFill>
                <a:srgbClr val="392503"/>
              </a:solidFill>
              <a:latin typeface="Aprila Bold"/>
              <a:ea typeface="Aprila Bold"/>
              <a:cs typeface="Aprila Bold"/>
              <a:sym typeface="Aprila Bold"/>
            </a:endParaRPr>
          </a:p>
          <a:p>
            <a:pPr algn="ctr">
              <a:lnSpc>
                <a:spcPts val="23596"/>
              </a:lnSpc>
            </a:pPr>
            <a:endParaRPr lang="en-US" sz="6000" b="1" i="1">
              <a:solidFill>
                <a:srgbClr val="392503"/>
              </a:solidFill>
              <a:latin typeface="Aprila Bold"/>
              <a:ea typeface="Aprila Bold"/>
              <a:cs typeface="Aprila Bold"/>
              <a:sym typeface="Aprila Bold"/>
            </a:endParaRPr>
          </a:p>
        </p:txBody>
      </p:sp>
      <p:sp>
        <p:nvSpPr>
          <p:cNvPr id="3" name="Freeform 3"/>
          <p:cNvSpPr/>
          <p:nvPr/>
        </p:nvSpPr>
        <p:spPr>
          <a:xfrm>
            <a:off x="-42838" y="4189930"/>
            <a:ext cx="1914474" cy="1716534"/>
          </a:xfrm>
          <a:custGeom>
            <a:avLst/>
            <a:gdLst/>
            <a:ahLst/>
            <a:cxnLst/>
            <a:rect l="l" t="t" r="r" b="b"/>
            <a:pathLst>
              <a:path w="2576528" h="2576528">
                <a:moveTo>
                  <a:pt x="0" y="0"/>
                </a:moveTo>
                <a:lnTo>
                  <a:pt x="2576527" y="0"/>
                </a:lnTo>
                <a:lnTo>
                  <a:pt x="2576527" y="2576527"/>
                </a:lnTo>
                <a:lnTo>
                  <a:pt x="0" y="25765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 name="Freeform 4"/>
          <p:cNvSpPr/>
          <p:nvPr/>
        </p:nvSpPr>
        <p:spPr>
          <a:xfrm>
            <a:off x="1986768" y="2202466"/>
            <a:ext cx="1028026" cy="1028026"/>
          </a:xfrm>
          <a:custGeom>
            <a:avLst/>
            <a:gdLst/>
            <a:ahLst/>
            <a:cxnLst/>
            <a:rect l="l" t="t" r="r" b="b"/>
            <a:pathLst>
              <a:path w="1028025" h="1028025">
                <a:moveTo>
                  <a:pt x="0" y="0"/>
                </a:moveTo>
                <a:lnTo>
                  <a:pt x="1028025" y="0"/>
                </a:lnTo>
                <a:lnTo>
                  <a:pt x="1028025" y="1028025"/>
                </a:lnTo>
                <a:lnTo>
                  <a:pt x="0" y="10280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13" name="Group 13"/>
          <p:cNvGrpSpPr/>
          <p:nvPr/>
        </p:nvGrpSpPr>
        <p:grpSpPr>
          <a:xfrm>
            <a:off x="-85670" y="-1786776"/>
            <a:ext cx="18373674" cy="2887822"/>
            <a:chOff x="-114230" y="0"/>
            <a:chExt cx="24498230" cy="3850429"/>
          </a:xfrm>
        </p:grpSpPr>
        <p:grpSp>
          <p:nvGrpSpPr>
            <p:cNvPr id="14" name="Group 14"/>
            <p:cNvGrpSpPr/>
            <p:nvPr/>
          </p:nvGrpSpPr>
          <p:grpSpPr>
            <a:xfrm rot="-5400000">
              <a:off x="1675272" y="648898"/>
              <a:ext cx="3850426" cy="2552633"/>
              <a:chOff x="0" y="-38100"/>
              <a:chExt cx="1284254" cy="851394"/>
            </a:xfrm>
          </p:grpSpPr>
          <p:sp>
            <p:nvSpPr>
              <p:cNvPr id="15" name="Freeform 15"/>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 name="TextBox 16"/>
              <p:cNvSpPr txBox="1"/>
              <p:nvPr/>
            </p:nvSpPr>
            <p:spPr>
              <a:xfrm>
                <a:off x="0"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17" name="Group 17"/>
            <p:cNvGrpSpPr/>
            <p:nvPr/>
          </p:nvGrpSpPr>
          <p:grpSpPr>
            <a:xfrm rot="-5400000">
              <a:off x="4113673" y="648898"/>
              <a:ext cx="3850426" cy="2552630"/>
              <a:chOff x="0" y="-38100"/>
              <a:chExt cx="1284254" cy="851392"/>
            </a:xfrm>
          </p:grpSpPr>
          <p:sp>
            <p:nvSpPr>
              <p:cNvPr id="18" name="Freeform 18"/>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 name="TextBox 19"/>
              <p:cNvSpPr txBox="1"/>
              <p:nvPr/>
            </p:nvSpPr>
            <p:spPr>
              <a:xfrm>
                <a:off x="0"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0" name="Group 20"/>
            <p:cNvGrpSpPr/>
            <p:nvPr/>
          </p:nvGrpSpPr>
          <p:grpSpPr>
            <a:xfrm rot="-5400000">
              <a:off x="6552066" y="648901"/>
              <a:ext cx="3850426" cy="2552628"/>
              <a:chOff x="0" y="-38099"/>
              <a:chExt cx="1284254" cy="851393"/>
            </a:xfrm>
          </p:grpSpPr>
          <p:sp>
            <p:nvSpPr>
              <p:cNvPr id="21" name="Freeform 21"/>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 name="TextBox 22"/>
              <p:cNvSpPr txBox="1"/>
              <p:nvPr/>
            </p:nvSpPr>
            <p:spPr>
              <a:xfrm>
                <a:off x="0" y="-38099"/>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3" name="Group 23"/>
            <p:cNvGrpSpPr/>
            <p:nvPr/>
          </p:nvGrpSpPr>
          <p:grpSpPr>
            <a:xfrm rot="-5400000">
              <a:off x="-763128" y="648900"/>
              <a:ext cx="3850426" cy="2552630"/>
              <a:chOff x="0" y="-38100"/>
              <a:chExt cx="1284254" cy="851392"/>
            </a:xfrm>
          </p:grpSpPr>
          <p:sp>
            <p:nvSpPr>
              <p:cNvPr id="24" name="Freeform 24"/>
              <p:cNvSpPr/>
              <p:nvPr/>
            </p:nvSpPr>
            <p:spPr>
              <a:xfrm>
                <a:off x="0" y="0"/>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 name="TextBox 25"/>
              <p:cNvSpPr txBox="1"/>
              <p:nvPr/>
            </p:nvSpPr>
            <p:spPr>
              <a:xfrm>
                <a:off x="0"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6" name="Group 26"/>
            <p:cNvGrpSpPr/>
            <p:nvPr/>
          </p:nvGrpSpPr>
          <p:grpSpPr>
            <a:xfrm rot="-5400000">
              <a:off x="8990474" y="648900"/>
              <a:ext cx="3850427" cy="2552630"/>
              <a:chOff x="0" y="-38101"/>
              <a:chExt cx="1284254" cy="851392"/>
            </a:xfrm>
          </p:grpSpPr>
          <p:sp>
            <p:nvSpPr>
              <p:cNvPr id="27" name="Freeform 27"/>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TextBox 28"/>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9" name="Group 29"/>
            <p:cNvGrpSpPr/>
            <p:nvPr/>
          </p:nvGrpSpPr>
          <p:grpSpPr>
            <a:xfrm rot="-5400000">
              <a:off x="11428874" y="648900"/>
              <a:ext cx="3850427" cy="2552630"/>
              <a:chOff x="0" y="-38101"/>
              <a:chExt cx="1284254" cy="851392"/>
            </a:xfrm>
          </p:grpSpPr>
          <p:sp>
            <p:nvSpPr>
              <p:cNvPr id="30" name="Freeform 30"/>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 name="TextBox 31"/>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2" name="Group 32"/>
            <p:cNvGrpSpPr/>
            <p:nvPr/>
          </p:nvGrpSpPr>
          <p:grpSpPr>
            <a:xfrm rot="-5400000">
              <a:off x="13867276" y="648900"/>
              <a:ext cx="3850427" cy="2552630"/>
              <a:chOff x="0" y="-38101"/>
              <a:chExt cx="1284254" cy="851392"/>
            </a:xfrm>
          </p:grpSpPr>
          <p:sp>
            <p:nvSpPr>
              <p:cNvPr id="33" name="Freeform 33"/>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TextBox 34"/>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5" name="Group 35"/>
            <p:cNvGrpSpPr/>
            <p:nvPr/>
          </p:nvGrpSpPr>
          <p:grpSpPr>
            <a:xfrm rot="-5400000">
              <a:off x="16305671" y="648899"/>
              <a:ext cx="3850427" cy="2552632"/>
              <a:chOff x="0" y="-38102"/>
              <a:chExt cx="1284254" cy="851393"/>
            </a:xfrm>
          </p:grpSpPr>
          <p:sp>
            <p:nvSpPr>
              <p:cNvPr id="36" name="Freeform 36"/>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TextBox 37"/>
              <p:cNvSpPr txBox="1"/>
              <p:nvPr/>
            </p:nvSpPr>
            <p:spPr>
              <a:xfrm>
                <a:off x="0" y="-38102"/>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8" name="Group 38"/>
            <p:cNvGrpSpPr/>
            <p:nvPr/>
          </p:nvGrpSpPr>
          <p:grpSpPr>
            <a:xfrm rot="-5400000">
              <a:off x="18744078" y="648899"/>
              <a:ext cx="3850427" cy="2552632"/>
              <a:chOff x="0" y="-38101"/>
              <a:chExt cx="1284254" cy="851393"/>
            </a:xfrm>
          </p:grpSpPr>
          <p:sp>
            <p:nvSpPr>
              <p:cNvPr id="39" name="Freeform 39"/>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Box 40"/>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41" name="Group 41"/>
            <p:cNvGrpSpPr/>
            <p:nvPr/>
          </p:nvGrpSpPr>
          <p:grpSpPr>
            <a:xfrm rot="-5400000">
              <a:off x="21182467" y="648894"/>
              <a:ext cx="3850426" cy="2552640"/>
              <a:chOff x="0" y="-38105"/>
              <a:chExt cx="1284254" cy="851395"/>
            </a:xfrm>
          </p:grpSpPr>
          <p:sp>
            <p:nvSpPr>
              <p:cNvPr id="42" name="Freeform 42"/>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3" name="TextBox 43"/>
              <p:cNvSpPr txBox="1"/>
              <p:nvPr/>
            </p:nvSpPr>
            <p:spPr>
              <a:xfrm>
                <a:off x="0" y="-38105"/>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grpSp>
        <p:nvGrpSpPr>
          <p:cNvPr id="44" name="Group 44"/>
          <p:cNvGrpSpPr/>
          <p:nvPr/>
        </p:nvGrpSpPr>
        <p:grpSpPr>
          <a:xfrm>
            <a:off x="-85670" y="9258297"/>
            <a:ext cx="18373689" cy="2887826"/>
            <a:chOff x="-114234" y="-6"/>
            <a:chExt cx="24498252" cy="3850433"/>
          </a:xfrm>
        </p:grpSpPr>
        <p:grpSp>
          <p:nvGrpSpPr>
            <p:cNvPr id="45" name="Group 45"/>
            <p:cNvGrpSpPr/>
            <p:nvPr/>
          </p:nvGrpSpPr>
          <p:grpSpPr>
            <a:xfrm rot="-5400000">
              <a:off x="1675269" y="648896"/>
              <a:ext cx="3850429" cy="2552631"/>
              <a:chOff x="0" y="-38101"/>
              <a:chExt cx="1284255" cy="851394"/>
            </a:xfrm>
          </p:grpSpPr>
          <p:sp>
            <p:nvSpPr>
              <p:cNvPr id="46" name="Freeform 46"/>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7" name="TextBox 47"/>
              <p:cNvSpPr txBox="1"/>
              <p:nvPr/>
            </p:nvSpPr>
            <p:spPr>
              <a:xfrm>
                <a:off x="1"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48" name="Group 48"/>
            <p:cNvGrpSpPr/>
            <p:nvPr/>
          </p:nvGrpSpPr>
          <p:grpSpPr>
            <a:xfrm rot="-5400000">
              <a:off x="4113666" y="648895"/>
              <a:ext cx="3850427" cy="2552627"/>
              <a:chOff x="1" y="-38101"/>
              <a:chExt cx="1284254" cy="851392"/>
            </a:xfrm>
          </p:grpSpPr>
          <p:sp>
            <p:nvSpPr>
              <p:cNvPr id="49" name="Freeform 49"/>
              <p:cNvSpPr/>
              <p:nvPr/>
            </p:nvSpPr>
            <p:spPr>
              <a:xfrm>
                <a:off x="1" y="0"/>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0" name="TextBox 50"/>
              <p:cNvSpPr txBox="1"/>
              <p:nvPr/>
            </p:nvSpPr>
            <p:spPr>
              <a:xfrm>
                <a:off x="2"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1" name="Group 51"/>
            <p:cNvGrpSpPr/>
            <p:nvPr/>
          </p:nvGrpSpPr>
          <p:grpSpPr>
            <a:xfrm rot="-5400000">
              <a:off x="6552070" y="648893"/>
              <a:ext cx="3850427" cy="2552631"/>
              <a:chOff x="1" y="-38100"/>
              <a:chExt cx="1284254" cy="851394"/>
            </a:xfrm>
          </p:grpSpPr>
          <p:sp>
            <p:nvSpPr>
              <p:cNvPr id="52" name="Freeform 52"/>
              <p:cNvSpPr/>
              <p:nvPr/>
            </p:nvSpPr>
            <p:spPr>
              <a:xfrm>
                <a:off x="1"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3" name="TextBox 53"/>
              <p:cNvSpPr txBox="1"/>
              <p:nvPr/>
            </p:nvSpPr>
            <p:spPr>
              <a:xfrm>
                <a:off x="2"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4" name="Group 54"/>
            <p:cNvGrpSpPr/>
            <p:nvPr/>
          </p:nvGrpSpPr>
          <p:grpSpPr>
            <a:xfrm rot="-5400000">
              <a:off x="-763133" y="648893"/>
              <a:ext cx="3850428" cy="2552630"/>
              <a:chOff x="3" y="-38101"/>
              <a:chExt cx="1284254" cy="851392"/>
            </a:xfrm>
          </p:grpSpPr>
          <p:sp>
            <p:nvSpPr>
              <p:cNvPr id="55" name="Freeform 55"/>
              <p:cNvSpPr/>
              <p:nvPr/>
            </p:nvSpPr>
            <p:spPr>
              <a:xfrm>
                <a:off x="3"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6" name="TextBox 56"/>
              <p:cNvSpPr txBox="1"/>
              <p:nvPr/>
            </p:nvSpPr>
            <p:spPr>
              <a:xfrm>
                <a:off x="3"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7" name="Group 57"/>
            <p:cNvGrpSpPr/>
            <p:nvPr/>
          </p:nvGrpSpPr>
          <p:grpSpPr>
            <a:xfrm rot="-5400000">
              <a:off x="8990471" y="648893"/>
              <a:ext cx="3850426" cy="2552633"/>
              <a:chOff x="1" y="-38102"/>
              <a:chExt cx="1284254" cy="851393"/>
            </a:xfrm>
          </p:grpSpPr>
          <p:sp>
            <p:nvSpPr>
              <p:cNvPr id="58" name="Freeform 58"/>
              <p:cNvSpPr/>
              <p:nvPr/>
            </p:nvSpPr>
            <p:spPr>
              <a:xfrm>
                <a:off x="1"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9" name="TextBox 59"/>
              <p:cNvSpPr txBox="1"/>
              <p:nvPr/>
            </p:nvSpPr>
            <p:spPr>
              <a:xfrm>
                <a:off x="1" y="-38102"/>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0" name="Group 60"/>
            <p:cNvGrpSpPr/>
            <p:nvPr/>
          </p:nvGrpSpPr>
          <p:grpSpPr>
            <a:xfrm rot="-5400000">
              <a:off x="11428872" y="648895"/>
              <a:ext cx="3850427" cy="2552630"/>
              <a:chOff x="1" y="-38101"/>
              <a:chExt cx="1284254" cy="851392"/>
            </a:xfrm>
          </p:grpSpPr>
          <p:sp>
            <p:nvSpPr>
              <p:cNvPr id="61" name="Freeform 61"/>
              <p:cNvSpPr/>
              <p:nvPr/>
            </p:nvSpPr>
            <p:spPr>
              <a:xfrm>
                <a:off x="1" y="-4"/>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2" name="TextBox 62"/>
              <p:cNvSpPr txBox="1"/>
              <p:nvPr/>
            </p:nvSpPr>
            <p:spPr>
              <a:xfrm>
                <a:off x="1"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3" name="Group 63"/>
            <p:cNvGrpSpPr/>
            <p:nvPr/>
          </p:nvGrpSpPr>
          <p:grpSpPr>
            <a:xfrm rot="-5400000">
              <a:off x="13867271" y="648897"/>
              <a:ext cx="3850429" cy="2552631"/>
              <a:chOff x="0" y="-38102"/>
              <a:chExt cx="1284255" cy="851392"/>
            </a:xfrm>
          </p:grpSpPr>
          <p:sp>
            <p:nvSpPr>
              <p:cNvPr id="64" name="Freeform 64"/>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5" name="TextBox 65"/>
              <p:cNvSpPr txBox="1"/>
              <p:nvPr/>
            </p:nvSpPr>
            <p:spPr>
              <a:xfrm>
                <a:off x="1" y="-38102"/>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6" name="Group 66"/>
            <p:cNvGrpSpPr/>
            <p:nvPr/>
          </p:nvGrpSpPr>
          <p:grpSpPr>
            <a:xfrm rot="-5400000">
              <a:off x="16305681" y="648895"/>
              <a:ext cx="3850426" cy="2552630"/>
              <a:chOff x="1" y="-38099"/>
              <a:chExt cx="1284254" cy="851392"/>
            </a:xfrm>
          </p:grpSpPr>
          <p:sp>
            <p:nvSpPr>
              <p:cNvPr id="67" name="Freeform 67"/>
              <p:cNvSpPr/>
              <p:nvPr/>
            </p:nvSpPr>
            <p:spPr>
              <a:xfrm>
                <a:off x="2" y="0"/>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8" name="TextBox 68"/>
              <p:cNvSpPr txBox="1"/>
              <p:nvPr/>
            </p:nvSpPr>
            <p:spPr>
              <a:xfrm>
                <a:off x="1" y="-38099"/>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9" name="Group 69"/>
            <p:cNvGrpSpPr/>
            <p:nvPr/>
          </p:nvGrpSpPr>
          <p:grpSpPr>
            <a:xfrm rot="-5400000">
              <a:off x="18744079" y="648893"/>
              <a:ext cx="3850426" cy="2552635"/>
              <a:chOff x="1" y="-38101"/>
              <a:chExt cx="1284254" cy="851394"/>
            </a:xfrm>
          </p:grpSpPr>
          <p:sp>
            <p:nvSpPr>
              <p:cNvPr id="70" name="Freeform 70"/>
              <p:cNvSpPr/>
              <p:nvPr/>
            </p:nvSpPr>
            <p:spPr>
              <a:xfrm>
                <a:off x="2"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1" name="TextBox 71"/>
              <p:cNvSpPr txBox="1"/>
              <p:nvPr/>
            </p:nvSpPr>
            <p:spPr>
              <a:xfrm>
                <a:off x="1"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72" name="Group 72"/>
            <p:cNvGrpSpPr/>
            <p:nvPr/>
          </p:nvGrpSpPr>
          <p:grpSpPr>
            <a:xfrm rot="-5400000">
              <a:off x="21182490" y="648895"/>
              <a:ext cx="3850426" cy="2552630"/>
              <a:chOff x="1" y="-38098"/>
              <a:chExt cx="1284254" cy="851392"/>
            </a:xfrm>
          </p:grpSpPr>
          <p:sp>
            <p:nvSpPr>
              <p:cNvPr id="73" name="Freeform 73"/>
              <p:cNvSpPr/>
              <p:nvPr/>
            </p:nvSpPr>
            <p:spPr>
              <a:xfrm>
                <a:off x="2"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4" name="TextBox 74"/>
              <p:cNvSpPr txBox="1"/>
              <p:nvPr/>
            </p:nvSpPr>
            <p:spPr>
              <a:xfrm>
                <a:off x="1" y="-38098"/>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sp>
        <p:nvSpPr>
          <p:cNvPr id="75" name="Freeform 75"/>
          <p:cNvSpPr/>
          <p:nvPr/>
        </p:nvSpPr>
        <p:spPr>
          <a:xfrm>
            <a:off x="16859586" y="2363298"/>
            <a:ext cx="1028026" cy="1028026"/>
          </a:xfrm>
          <a:custGeom>
            <a:avLst/>
            <a:gdLst/>
            <a:ahLst/>
            <a:cxnLst/>
            <a:rect l="l" t="t" r="r" b="b"/>
            <a:pathLst>
              <a:path w="1028025" h="1028025">
                <a:moveTo>
                  <a:pt x="0" y="0"/>
                </a:moveTo>
                <a:lnTo>
                  <a:pt x="1028025" y="0"/>
                </a:lnTo>
                <a:lnTo>
                  <a:pt x="1028025" y="1028026"/>
                </a:lnTo>
                <a:lnTo>
                  <a:pt x="0" y="102802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90" name="Shape 4">
            <a:extLst>
              <a:ext uri="{FF2B5EF4-FFF2-40B4-BE49-F238E27FC236}">
                <a16:creationId xmlns:a16="http://schemas.microsoft.com/office/drawing/2014/main" id="{46DCD3F2-AA68-4DD6-B4D9-6821C0A037BA}"/>
              </a:ext>
            </a:extLst>
          </p:cNvPr>
          <p:cNvSpPr/>
          <p:nvPr/>
        </p:nvSpPr>
        <p:spPr>
          <a:xfrm>
            <a:off x="9524" y="919386"/>
            <a:ext cx="4572000" cy="2887822"/>
          </a:xfrm>
          <a:prstGeom prst="rect">
            <a:avLst/>
          </a:prstGeom>
          <a:solidFill>
            <a:srgbClr val="1C7293">
              <a:alpha val="70000"/>
            </a:srgbClr>
          </a:solidFill>
          <a:ln w="12700">
            <a:solidFill>
              <a:srgbClr val="02809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a:p>
            <a:pPr algn="ctr"/>
            <a:endParaRPr lang="en-US"/>
          </a:p>
          <a:p>
            <a:pPr algn="ctr"/>
            <a:r>
              <a:rPr lang="en-US" sz="7200">
                <a:solidFill>
                  <a:schemeClr val="bg1"/>
                </a:solidFill>
              </a:rPr>
              <a:t>7%</a:t>
            </a:r>
          </a:p>
          <a:p>
            <a:pPr marL="0" indent="0" algn="ctr">
              <a:buNone/>
            </a:pPr>
            <a:r>
              <a:rPr lang="en-US" sz="4000">
                <a:solidFill>
                  <a:srgbClr val="FFFFFF"/>
                </a:solidFill>
                <a:latin typeface="Calibri" panose="020F0502020204030204" pitchFamily="34" charset="0"/>
                <a:ea typeface="Calibri" panose="020F0502020204030204" pitchFamily="34" charset="0"/>
                <a:cs typeface="Calibri" pitchFamily="34" charset="-120"/>
              </a:rPr>
              <a:t>Words(what you say)</a:t>
            </a:r>
            <a:endParaRPr lang="en-US" sz="4000"/>
          </a:p>
          <a:p>
            <a:pPr algn="ctr"/>
            <a:endParaRPr lang="en-US" sz="4000">
              <a:solidFill>
                <a:schemeClr val="bg1"/>
              </a:solidFill>
            </a:endParaRPr>
          </a:p>
        </p:txBody>
      </p:sp>
      <p:sp>
        <p:nvSpPr>
          <p:cNvPr id="91" name="Shape 4">
            <a:extLst>
              <a:ext uri="{FF2B5EF4-FFF2-40B4-BE49-F238E27FC236}">
                <a16:creationId xmlns:a16="http://schemas.microsoft.com/office/drawing/2014/main" id="{CFB87E84-409C-448D-BFF4-F3FCB564F870}"/>
              </a:ext>
            </a:extLst>
          </p:cNvPr>
          <p:cNvSpPr/>
          <p:nvPr/>
        </p:nvSpPr>
        <p:spPr>
          <a:xfrm>
            <a:off x="6171176" y="891176"/>
            <a:ext cx="5283150" cy="2916030"/>
          </a:xfrm>
          <a:prstGeom prst="rect">
            <a:avLst/>
          </a:prstGeom>
          <a:solidFill>
            <a:srgbClr val="1C7293">
              <a:alpha val="70000"/>
            </a:srgbClr>
          </a:solidFill>
          <a:ln w="12700">
            <a:solidFill>
              <a:srgbClr val="02809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2" name="Shape 4">
            <a:extLst>
              <a:ext uri="{FF2B5EF4-FFF2-40B4-BE49-F238E27FC236}">
                <a16:creationId xmlns:a16="http://schemas.microsoft.com/office/drawing/2014/main" id="{26E2C159-36EE-4FA9-8E08-91F834877B19}"/>
              </a:ext>
            </a:extLst>
          </p:cNvPr>
          <p:cNvSpPr/>
          <p:nvPr/>
        </p:nvSpPr>
        <p:spPr>
          <a:xfrm>
            <a:off x="12715926" y="919386"/>
            <a:ext cx="4886276" cy="2887822"/>
          </a:xfrm>
          <a:prstGeom prst="rect">
            <a:avLst/>
          </a:prstGeom>
          <a:solidFill>
            <a:srgbClr val="1C7293">
              <a:alpha val="70000"/>
            </a:srgbClr>
          </a:solidFill>
          <a:ln w="12700">
            <a:solidFill>
              <a:srgbClr val="02809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95" name="Text 8">
            <a:extLst>
              <a:ext uri="{FF2B5EF4-FFF2-40B4-BE49-F238E27FC236}">
                <a16:creationId xmlns:a16="http://schemas.microsoft.com/office/drawing/2014/main" id="{48BECBE4-259E-4969-B7CE-0E49E07A8A46}"/>
              </a:ext>
            </a:extLst>
          </p:cNvPr>
          <p:cNvSpPr/>
          <p:nvPr/>
        </p:nvSpPr>
        <p:spPr>
          <a:xfrm>
            <a:off x="7738968" y="1446744"/>
            <a:ext cx="2560320" cy="777240"/>
          </a:xfrm>
          <a:prstGeom prst="rect">
            <a:avLst/>
          </a:prstGeom>
          <a:noFill/>
        </p:spPr>
        <p:txBody>
          <a:bodyPr wrap="square"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000" b="1">
                <a:solidFill>
                  <a:srgbClr val="FFFFFF"/>
                </a:solidFill>
                <a:latin typeface="Calibri" panose="020F0502020204030204" pitchFamily="34" charset="0"/>
                <a:ea typeface="Calibri" panose="020F0502020204030204" pitchFamily="34" charset="0"/>
                <a:cs typeface="Calibri" pitchFamily="34" charset="-120"/>
              </a:rPr>
              <a:t>40%</a:t>
            </a:r>
            <a:endParaRPr lang="en-US" sz="6000"/>
          </a:p>
        </p:txBody>
      </p:sp>
      <p:sp>
        <p:nvSpPr>
          <p:cNvPr id="96" name="TextBox 95">
            <a:extLst>
              <a:ext uri="{FF2B5EF4-FFF2-40B4-BE49-F238E27FC236}">
                <a16:creationId xmlns:a16="http://schemas.microsoft.com/office/drawing/2014/main" id="{393820D3-D472-452A-9E0B-C3F312CEC453}"/>
              </a:ext>
            </a:extLst>
          </p:cNvPr>
          <p:cNvSpPr txBox="1"/>
          <p:nvPr/>
        </p:nvSpPr>
        <p:spPr>
          <a:xfrm>
            <a:off x="6171174" y="2437186"/>
            <a:ext cx="5283152" cy="120032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600">
                <a:solidFill>
                  <a:srgbClr val="FFFFFF"/>
                </a:solidFill>
                <a:latin typeface="Calibri" panose="020F0502020204030204" pitchFamily="34" charset="0"/>
                <a:ea typeface="Calibri" panose="020F0502020204030204" pitchFamily="34" charset="0"/>
                <a:cs typeface="Calibri" pitchFamily="34" charset="-120"/>
              </a:rPr>
              <a:t>Tone &amp; Feeling</a:t>
            </a:r>
            <a:endParaRPr lang="en-US" sz="3600"/>
          </a:p>
          <a:p>
            <a:pPr marL="0" indent="0" algn="ctr">
              <a:buNone/>
            </a:pPr>
            <a:r>
              <a:rPr lang="en-US" sz="3600">
                <a:solidFill>
                  <a:srgbClr val="FFFFFF"/>
                </a:solidFill>
                <a:latin typeface="Calibri" panose="020F0502020204030204" pitchFamily="34" charset="0"/>
                <a:ea typeface="Calibri" panose="020F0502020204030204" pitchFamily="34" charset="0"/>
                <a:cs typeface="Calibri" pitchFamily="34" charset="-120"/>
              </a:rPr>
              <a:t>(how you say it)</a:t>
            </a:r>
            <a:endParaRPr lang="en-US" sz="3600"/>
          </a:p>
        </p:txBody>
      </p:sp>
      <p:sp>
        <p:nvSpPr>
          <p:cNvPr id="98" name="TextBox 97">
            <a:extLst>
              <a:ext uri="{FF2B5EF4-FFF2-40B4-BE49-F238E27FC236}">
                <a16:creationId xmlns:a16="http://schemas.microsoft.com/office/drawing/2014/main" id="{8E7960BF-2CC1-425C-B0B6-6D40AE8FBE6D}"/>
              </a:ext>
            </a:extLst>
          </p:cNvPr>
          <p:cNvSpPr txBox="1"/>
          <p:nvPr/>
        </p:nvSpPr>
        <p:spPr>
          <a:xfrm>
            <a:off x="10417079" y="2314076"/>
            <a:ext cx="9483968" cy="132343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000">
                <a:solidFill>
                  <a:srgbClr val="FFFFFF"/>
                </a:solidFill>
                <a:latin typeface="Calibri" panose="020F0502020204030204" pitchFamily="34" charset="0"/>
                <a:ea typeface="Calibri" panose="020F0502020204030204" pitchFamily="34" charset="0"/>
                <a:cs typeface="Calibri" pitchFamily="34" charset="-120"/>
              </a:rPr>
              <a:t>Body Language</a:t>
            </a:r>
            <a:endParaRPr lang="en-US" sz="4000"/>
          </a:p>
          <a:p>
            <a:pPr marL="0" indent="0" algn="ctr">
              <a:buNone/>
            </a:pPr>
            <a:r>
              <a:rPr lang="en-US" sz="4000">
                <a:solidFill>
                  <a:srgbClr val="FFFFFF"/>
                </a:solidFill>
                <a:latin typeface="Calibri" panose="020F0502020204030204" pitchFamily="34" charset="0"/>
                <a:ea typeface="Calibri" panose="020F0502020204030204" pitchFamily="34" charset="0"/>
                <a:cs typeface="Calibri" pitchFamily="34" charset="-120"/>
              </a:rPr>
              <a:t>(what you show)</a:t>
            </a:r>
            <a:endParaRPr lang="en-US" sz="4000"/>
          </a:p>
        </p:txBody>
      </p:sp>
      <p:sp>
        <p:nvSpPr>
          <p:cNvPr id="101" name="TextBox 100">
            <a:extLst>
              <a:ext uri="{FF2B5EF4-FFF2-40B4-BE49-F238E27FC236}">
                <a16:creationId xmlns:a16="http://schemas.microsoft.com/office/drawing/2014/main" id="{29ADF939-875B-400B-A03E-0D6A987F2DB7}"/>
              </a:ext>
            </a:extLst>
          </p:cNvPr>
          <p:cNvSpPr txBox="1"/>
          <p:nvPr/>
        </p:nvSpPr>
        <p:spPr>
          <a:xfrm>
            <a:off x="10462846" y="1230692"/>
            <a:ext cx="10163908" cy="110799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600" b="1">
                <a:solidFill>
                  <a:srgbClr val="F4A261"/>
                </a:solidFill>
                <a:latin typeface="Calibri" panose="020F0502020204030204" pitchFamily="34" charset="0"/>
                <a:ea typeface="Calibri" panose="020F0502020204030204" pitchFamily="34" charset="0"/>
                <a:cs typeface="Calibri" pitchFamily="34" charset="-120"/>
              </a:rPr>
              <a:t>53%</a:t>
            </a:r>
            <a:endParaRPr lang="en-US" sz="6600"/>
          </a:p>
        </p:txBody>
      </p:sp>
      <p:sp>
        <p:nvSpPr>
          <p:cNvPr id="102" name="Text 15">
            <a:extLst>
              <a:ext uri="{FF2B5EF4-FFF2-40B4-BE49-F238E27FC236}">
                <a16:creationId xmlns:a16="http://schemas.microsoft.com/office/drawing/2014/main" id="{DDD27121-5888-4F3A-BB3B-B0250CD3F905}"/>
              </a:ext>
            </a:extLst>
          </p:cNvPr>
          <p:cNvSpPr/>
          <p:nvPr/>
        </p:nvSpPr>
        <p:spPr>
          <a:xfrm>
            <a:off x="1305312" y="4345641"/>
            <a:ext cx="15839687" cy="5968376"/>
          </a:xfrm>
          <a:prstGeom prst="rect">
            <a:avLst/>
          </a:prstGeom>
          <a:noFill/>
        </p:spPr>
        <p:txBody>
          <a:bodyPr wrap="square"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b="1" i="1" u="sng">
                <a:solidFill>
                  <a:srgbClr val="7030A0"/>
                </a:solidFill>
                <a:latin typeface="Calibri" panose="020F0502020204030204" pitchFamily="34" charset="0"/>
                <a:ea typeface="Calibri" panose="020F0502020204030204" pitchFamily="34" charset="0"/>
                <a:cs typeface="Calibri" pitchFamily="34" charset="-120"/>
              </a:rPr>
              <a:t>Listen with Eyes, Heart &amp; Ears  </a:t>
            </a:r>
            <a:r>
              <a:rPr lang="en-US" sz="3200">
                <a:solidFill>
                  <a:srgbClr val="7030A0"/>
                </a:solidFill>
                <a:latin typeface="Calibri" panose="020F0502020204030204" pitchFamily="34" charset="0"/>
                <a:ea typeface="Calibri" panose="020F0502020204030204" pitchFamily="34" charset="0"/>
                <a:cs typeface="Calibri" pitchFamily="34" charset="-120"/>
              </a:rPr>
              <a:t>Understand not just words but tone, emotion, and body language — seek meaning, not just sound.</a:t>
            </a:r>
          </a:p>
          <a:p>
            <a:pPr marL="0" indent="0">
              <a:buNone/>
            </a:pPr>
            <a:endParaRPr lang="en-US" sz="3600" b="1" i="1" u="sng">
              <a:solidFill>
                <a:srgbClr val="7030A0"/>
              </a:solidFill>
              <a:latin typeface="Calibri" panose="020F0502020204030204" pitchFamily="34" charset="0"/>
              <a:cs typeface="Calibri" pitchFamily="34" charset="-120"/>
            </a:endParaRPr>
          </a:p>
          <a:p>
            <a:r>
              <a:rPr lang="en-US" sz="3600" b="1" i="1" u="sng">
                <a:solidFill>
                  <a:srgbClr val="7030A0"/>
                </a:solidFill>
                <a:latin typeface="Calibri" panose="020F0502020204030204" pitchFamily="34" charset="0"/>
                <a:ea typeface="Calibri" panose="020F0502020204030204" pitchFamily="34" charset="0"/>
                <a:cs typeface="Calibri" pitchFamily="34" charset="-120"/>
              </a:rPr>
              <a:t>Stand in Their Shoes  </a:t>
            </a:r>
            <a:r>
              <a:rPr lang="en-US" sz="3200">
                <a:solidFill>
                  <a:srgbClr val="7030A0"/>
                </a:solidFill>
                <a:latin typeface="Calibri" panose="020F0502020204030204" pitchFamily="34" charset="0"/>
                <a:ea typeface="Calibri" panose="020F0502020204030204" pitchFamily="34" charset="0"/>
                <a:cs typeface="Calibri" pitchFamily="34" charset="-120"/>
              </a:rPr>
              <a:t>Put yourself fully in their situation. Trying to "win" leads only to Win-Lose or Lose-Lose.</a:t>
            </a:r>
          </a:p>
          <a:p>
            <a:endParaRPr lang="en-US" sz="3600" b="1" i="1" u="sng">
              <a:solidFill>
                <a:srgbClr val="7030A0"/>
              </a:solidFill>
              <a:latin typeface="Calibri" panose="020F0502020204030204" pitchFamily="34" charset="0"/>
              <a:cs typeface="Calibri" pitchFamily="34" charset="-120"/>
            </a:endParaRPr>
          </a:p>
          <a:p>
            <a:r>
              <a:rPr lang="en-US" sz="3600" b="1" i="1" u="sng">
                <a:solidFill>
                  <a:srgbClr val="7030A0"/>
                </a:solidFill>
                <a:latin typeface="Calibri" panose="020F0502020204030204" pitchFamily="34" charset="0"/>
                <a:ea typeface="Calibri" panose="020F0502020204030204" pitchFamily="34" charset="0"/>
                <a:cs typeface="Calibri" pitchFamily="34" charset="-120"/>
              </a:rPr>
              <a:t>Practice Mirroring  </a:t>
            </a:r>
            <a:r>
              <a:rPr lang="en-US" sz="3200">
                <a:solidFill>
                  <a:srgbClr val="7030A0"/>
                </a:solidFill>
                <a:latin typeface="Calibri" panose="020F0502020204030204" pitchFamily="34" charset="0"/>
                <a:ea typeface="Calibri" panose="020F0502020204030204" pitchFamily="34" charset="0"/>
                <a:cs typeface="Calibri" pitchFamily="34" charset="-120"/>
              </a:rPr>
              <a:t>Reflect the meaning with care — not repeating exact words, but echoing understanding with affection</a:t>
            </a:r>
            <a:r>
              <a:rPr lang="en-US" sz="2800">
                <a:solidFill>
                  <a:srgbClr val="7030A0"/>
                </a:solidFill>
                <a:latin typeface="Calibri" panose="020F0502020204030204" pitchFamily="34" charset="0"/>
                <a:ea typeface="Calibri" panose="020F0502020204030204" pitchFamily="34" charset="0"/>
                <a:cs typeface="Calibri" pitchFamily="34" charset="-120"/>
              </a:rPr>
              <a:t>.</a:t>
            </a:r>
            <a:endParaRPr lang="en-US" sz="2800">
              <a:solidFill>
                <a:srgbClr val="7030A0"/>
              </a:solidFill>
            </a:endParaRPr>
          </a:p>
          <a:p>
            <a:endParaRPr lang="en-US" sz="2800"/>
          </a:p>
          <a:p>
            <a:pPr marL="0" indent="0">
              <a:buNone/>
            </a:pPr>
            <a:endParaRPr lang="en-US" sz="280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25" name="Group 25"/>
          <p:cNvGrpSpPr/>
          <p:nvPr/>
        </p:nvGrpSpPr>
        <p:grpSpPr>
          <a:xfrm>
            <a:off x="-194545" y="-4678556"/>
            <a:ext cx="18677096" cy="5383489"/>
            <a:chOff x="3" y="-192879"/>
            <a:chExt cx="24902795" cy="7177987"/>
          </a:xfrm>
        </p:grpSpPr>
        <p:grpSp>
          <p:nvGrpSpPr>
            <p:cNvPr id="26" name="Group 26"/>
            <p:cNvGrpSpPr/>
            <p:nvPr/>
          </p:nvGrpSpPr>
          <p:grpSpPr>
            <a:xfrm rot="-5400000">
              <a:off x="1915238" y="3783576"/>
              <a:ext cx="3850427" cy="2552630"/>
              <a:chOff x="0" y="-38100"/>
              <a:chExt cx="1284254" cy="851392"/>
            </a:xfrm>
          </p:grpSpPr>
          <p:sp>
            <p:nvSpPr>
              <p:cNvPr id="27" name="Freeform 27"/>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TextBox 28"/>
              <p:cNvSpPr txBox="1"/>
              <p:nvPr/>
            </p:nvSpPr>
            <p:spPr>
              <a:xfrm>
                <a:off x="0"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9" name="Group 29"/>
            <p:cNvGrpSpPr/>
            <p:nvPr/>
          </p:nvGrpSpPr>
          <p:grpSpPr>
            <a:xfrm rot="-5400000">
              <a:off x="4353639" y="3783576"/>
              <a:ext cx="3850427" cy="2552630"/>
              <a:chOff x="0" y="-38101"/>
              <a:chExt cx="1284254" cy="851392"/>
            </a:xfrm>
          </p:grpSpPr>
          <p:sp>
            <p:nvSpPr>
              <p:cNvPr id="30" name="Freeform 30"/>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 name="TextBox 31"/>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2" name="Group 32"/>
            <p:cNvGrpSpPr/>
            <p:nvPr/>
          </p:nvGrpSpPr>
          <p:grpSpPr>
            <a:xfrm rot="-5400000">
              <a:off x="6792040" y="3783576"/>
              <a:ext cx="3850427" cy="2552630"/>
              <a:chOff x="0" y="-38101"/>
              <a:chExt cx="1284254" cy="851392"/>
            </a:xfrm>
          </p:grpSpPr>
          <p:sp>
            <p:nvSpPr>
              <p:cNvPr id="33" name="Freeform 33"/>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TextBox 34"/>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5" name="Group 35"/>
            <p:cNvGrpSpPr/>
            <p:nvPr/>
          </p:nvGrpSpPr>
          <p:grpSpPr>
            <a:xfrm rot="-5400000">
              <a:off x="-523160" y="3783576"/>
              <a:ext cx="3850427" cy="2552630"/>
              <a:chOff x="0" y="-38100"/>
              <a:chExt cx="1284254" cy="851392"/>
            </a:xfrm>
          </p:grpSpPr>
          <p:sp>
            <p:nvSpPr>
              <p:cNvPr id="36" name="Freeform 36"/>
              <p:cNvSpPr/>
              <p:nvPr/>
            </p:nvSpPr>
            <p:spPr>
              <a:xfrm>
                <a:off x="0" y="0"/>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TextBox 37"/>
              <p:cNvSpPr txBox="1"/>
              <p:nvPr/>
            </p:nvSpPr>
            <p:spPr>
              <a:xfrm>
                <a:off x="1"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8" name="Group 38"/>
            <p:cNvGrpSpPr/>
            <p:nvPr/>
          </p:nvGrpSpPr>
          <p:grpSpPr>
            <a:xfrm rot="-5400000">
              <a:off x="9230438" y="3783580"/>
              <a:ext cx="3850427" cy="2552628"/>
              <a:chOff x="0" y="-38100"/>
              <a:chExt cx="1284254" cy="851392"/>
            </a:xfrm>
          </p:grpSpPr>
          <p:sp>
            <p:nvSpPr>
              <p:cNvPr id="39" name="Freeform 39"/>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Box 40"/>
              <p:cNvSpPr txBox="1"/>
              <p:nvPr/>
            </p:nvSpPr>
            <p:spPr>
              <a:xfrm>
                <a:off x="0"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41" name="Group 41"/>
            <p:cNvGrpSpPr/>
            <p:nvPr/>
          </p:nvGrpSpPr>
          <p:grpSpPr>
            <a:xfrm rot="-5400000">
              <a:off x="11668839" y="3783575"/>
              <a:ext cx="3850426" cy="2552630"/>
              <a:chOff x="0" y="-38101"/>
              <a:chExt cx="1284254" cy="851392"/>
            </a:xfrm>
          </p:grpSpPr>
          <p:sp>
            <p:nvSpPr>
              <p:cNvPr id="42" name="Freeform 42"/>
              <p:cNvSpPr/>
              <p:nvPr/>
            </p:nvSpPr>
            <p:spPr>
              <a:xfrm>
                <a:off x="0" y="-3"/>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3" name="TextBox 43"/>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44" name="Group 44"/>
            <p:cNvGrpSpPr/>
            <p:nvPr/>
          </p:nvGrpSpPr>
          <p:grpSpPr>
            <a:xfrm rot="-5400000">
              <a:off x="14107238" y="3783576"/>
              <a:ext cx="3850427" cy="2552632"/>
              <a:chOff x="0" y="-38103"/>
              <a:chExt cx="1284254" cy="851393"/>
            </a:xfrm>
          </p:grpSpPr>
          <p:sp>
            <p:nvSpPr>
              <p:cNvPr id="45" name="Freeform 45"/>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6" name="TextBox 46"/>
              <p:cNvSpPr txBox="1"/>
              <p:nvPr/>
            </p:nvSpPr>
            <p:spPr>
              <a:xfrm>
                <a:off x="0" y="-38103"/>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47" name="Group 47"/>
            <p:cNvGrpSpPr/>
            <p:nvPr/>
          </p:nvGrpSpPr>
          <p:grpSpPr>
            <a:xfrm rot="-5400000">
              <a:off x="16545643" y="3783578"/>
              <a:ext cx="3850427" cy="2552631"/>
              <a:chOff x="0" y="-38102"/>
              <a:chExt cx="1284254" cy="851392"/>
            </a:xfrm>
          </p:grpSpPr>
          <p:sp>
            <p:nvSpPr>
              <p:cNvPr id="48" name="Freeform 48"/>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9" name="TextBox 49"/>
              <p:cNvSpPr txBox="1"/>
              <p:nvPr/>
            </p:nvSpPr>
            <p:spPr>
              <a:xfrm>
                <a:off x="0" y="-38102"/>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0" name="Group 50"/>
            <p:cNvGrpSpPr/>
            <p:nvPr/>
          </p:nvGrpSpPr>
          <p:grpSpPr>
            <a:xfrm rot="-5400000">
              <a:off x="18984043" y="3783576"/>
              <a:ext cx="3850427" cy="2552635"/>
              <a:chOff x="-1" y="-38104"/>
              <a:chExt cx="1284254" cy="851393"/>
            </a:xfrm>
          </p:grpSpPr>
          <p:sp>
            <p:nvSpPr>
              <p:cNvPr id="51" name="Freeform 51"/>
              <p:cNvSpPr/>
              <p:nvPr/>
            </p:nvSpPr>
            <p:spPr>
              <a:xfrm>
                <a:off x="-1" y="-3"/>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2" name="TextBox 52"/>
              <p:cNvSpPr txBox="1"/>
              <p:nvPr/>
            </p:nvSpPr>
            <p:spPr>
              <a:xfrm>
                <a:off x="0" y="-38104"/>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3" name="Group 53"/>
            <p:cNvGrpSpPr/>
            <p:nvPr/>
          </p:nvGrpSpPr>
          <p:grpSpPr>
            <a:xfrm rot="-5400000">
              <a:off x="21422440" y="3783580"/>
              <a:ext cx="3850426" cy="2552630"/>
              <a:chOff x="-1" y="-38103"/>
              <a:chExt cx="1284254" cy="851392"/>
            </a:xfrm>
          </p:grpSpPr>
          <p:sp>
            <p:nvSpPr>
              <p:cNvPr id="54" name="Freeform 54"/>
              <p:cNvSpPr/>
              <p:nvPr/>
            </p:nvSpPr>
            <p:spPr>
              <a:xfrm>
                <a:off x="-1" y="-6"/>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5" name="TextBox 55"/>
              <p:cNvSpPr txBox="1"/>
              <p:nvPr/>
            </p:nvSpPr>
            <p:spPr>
              <a:xfrm>
                <a:off x="-1" y="-38103"/>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6" name="Group 56"/>
            <p:cNvGrpSpPr/>
            <p:nvPr/>
          </p:nvGrpSpPr>
          <p:grpSpPr>
            <a:xfrm>
              <a:off x="3" y="-192879"/>
              <a:ext cx="24902795" cy="6462237"/>
              <a:chOff x="1" y="-38099"/>
              <a:chExt cx="4919070" cy="1276490"/>
            </a:xfrm>
          </p:grpSpPr>
          <p:sp>
            <p:nvSpPr>
              <p:cNvPr id="57" name="Freeform 57"/>
              <p:cNvSpPr/>
              <p:nvPr/>
            </p:nvSpPr>
            <p:spPr>
              <a:xfrm>
                <a:off x="1" y="1"/>
                <a:ext cx="4919070" cy="1238390"/>
              </a:xfrm>
              <a:custGeom>
                <a:avLst/>
                <a:gdLst/>
                <a:ahLst/>
                <a:cxnLst/>
                <a:rect l="l" t="t" r="r" b="b"/>
                <a:pathLst>
                  <a:path w="4919070" h="1238391">
                    <a:moveTo>
                      <a:pt x="0" y="0"/>
                    </a:moveTo>
                    <a:lnTo>
                      <a:pt x="4919070" y="0"/>
                    </a:lnTo>
                    <a:lnTo>
                      <a:pt x="4919070" y="1238391"/>
                    </a:lnTo>
                    <a:lnTo>
                      <a:pt x="0" y="1238391"/>
                    </a:ln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8" name="TextBox 58"/>
              <p:cNvSpPr txBox="1"/>
              <p:nvPr/>
            </p:nvSpPr>
            <p:spPr>
              <a:xfrm>
                <a:off x="1" y="-38099"/>
                <a:ext cx="4919070" cy="127649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sp>
        <p:nvSpPr>
          <p:cNvPr id="60" name="TextBox 59">
            <a:extLst>
              <a:ext uri="{FF2B5EF4-FFF2-40B4-BE49-F238E27FC236}">
                <a16:creationId xmlns:a16="http://schemas.microsoft.com/office/drawing/2014/main" id="{6ACDC06D-5E57-4783-B989-72FD3CC9F771}"/>
              </a:ext>
            </a:extLst>
          </p:cNvPr>
          <p:cNvSpPr txBox="1"/>
          <p:nvPr/>
        </p:nvSpPr>
        <p:spPr>
          <a:xfrm>
            <a:off x="4988428" y="-2644558"/>
            <a:ext cx="8110650" cy="92333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5400" b="1">
                <a:solidFill>
                  <a:srgbClr val="1A3A4A"/>
                </a:solidFill>
                <a:latin typeface="Calibri" panose="020F0502020204030204" pitchFamily="34" charset="0"/>
                <a:ea typeface="Calibri" panose="020F0502020204030204" pitchFamily="34" charset="0"/>
                <a:cs typeface="Calibri" pitchFamily="34" charset="-120"/>
              </a:rPr>
              <a:t>What Does Habit 5 Mean?</a:t>
            </a:r>
            <a:endParaRPr lang="en-US" sz="5400"/>
          </a:p>
        </p:txBody>
      </p:sp>
      <p:sp>
        <p:nvSpPr>
          <p:cNvPr id="18" name="Rectangle 17">
            <a:extLst>
              <a:ext uri="{FF2B5EF4-FFF2-40B4-BE49-F238E27FC236}">
                <a16:creationId xmlns:a16="http://schemas.microsoft.com/office/drawing/2014/main" id="{4F82201F-FCD7-4537-AFE2-0F3D4592C59E}"/>
              </a:ext>
            </a:extLst>
          </p:cNvPr>
          <p:cNvSpPr/>
          <p:nvPr/>
        </p:nvSpPr>
        <p:spPr>
          <a:xfrm>
            <a:off x="457200" y="2057458"/>
            <a:ext cx="8001000" cy="185485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en-US"/>
            </a:defPPr>
            <a:lvl1pPr marL="0" algn="l" defTabSz="914400" rtl="0" eaLnBrk="1" latinLnBrk="0" hangingPunct="1">
              <a:defRPr sz="1800" kern="1200">
                <a:solidFill>
                  <a:srgbClr val="000000"/>
                </a:solidFill>
                <a:latin typeface="Calibri"/>
                <a:ea typeface="+mn-ea"/>
                <a:cs typeface="+mn-cs"/>
              </a:defRPr>
            </a:lvl1pPr>
            <a:lvl2pPr marL="457200" algn="l" defTabSz="914400" rtl="0" eaLnBrk="1" latinLnBrk="0" hangingPunct="1">
              <a:defRPr sz="1800" kern="1200">
                <a:solidFill>
                  <a:srgbClr val="000000"/>
                </a:solidFill>
                <a:latin typeface="Calibri"/>
                <a:ea typeface="+mn-ea"/>
                <a:cs typeface="+mn-cs"/>
              </a:defRPr>
            </a:lvl2pPr>
            <a:lvl3pPr marL="914400" algn="l" defTabSz="914400" rtl="0" eaLnBrk="1" latinLnBrk="0" hangingPunct="1">
              <a:defRPr sz="1800" kern="1200">
                <a:solidFill>
                  <a:srgbClr val="000000"/>
                </a:solidFill>
                <a:latin typeface="Calibri"/>
                <a:ea typeface="+mn-ea"/>
                <a:cs typeface="+mn-cs"/>
              </a:defRPr>
            </a:lvl3pPr>
            <a:lvl4pPr marL="1371600" algn="l" defTabSz="914400" rtl="0" eaLnBrk="1" latinLnBrk="0" hangingPunct="1">
              <a:defRPr sz="1800" kern="1200">
                <a:solidFill>
                  <a:srgbClr val="000000"/>
                </a:solidFill>
                <a:latin typeface="Calibri"/>
                <a:ea typeface="+mn-ea"/>
                <a:cs typeface="+mn-cs"/>
              </a:defRPr>
            </a:lvl4pPr>
            <a:lvl5pPr marL="1828800" algn="l" defTabSz="914400" rtl="0" eaLnBrk="1" latinLnBrk="0" hangingPunct="1">
              <a:defRPr sz="1800" kern="1200">
                <a:solidFill>
                  <a:srgbClr val="000000"/>
                </a:solidFill>
                <a:latin typeface="Calibri"/>
                <a:ea typeface="+mn-ea"/>
                <a:cs typeface="+mn-cs"/>
              </a:defRPr>
            </a:lvl5pPr>
            <a:lvl6pPr marL="2286000" algn="l" defTabSz="914400" rtl="0" eaLnBrk="1" latinLnBrk="0" hangingPunct="1">
              <a:defRPr sz="1800" kern="1200">
                <a:solidFill>
                  <a:srgbClr val="000000"/>
                </a:solidFill>
                <a:latin typeface="Calibri"/>
                <a:ea typeface="+mn-ea"/>
                <a:cs typeface="+mn-cs"/>
              </a:defRPr>
            </a:lvl6pPr>
            <a:lvl7pPr marL="2743200" algn="l" defTabSz="914400" rtl="0" eaLnBrk="1" latinLnBrk="0" hangingPunct="1">
              <a:defRPr sz="1800" kern="1200">
                <a:solidFill>
                  <a:srgbClr val="000000"/>
                </a:solidFill>
                <a:latin typeface="Calibri"/>
                <a:ea typeface="+mn-ea"/>
                <a:cs typeface="+mn-cs"/>
              </a:defRPr>
            </a:lvl7pPr>
            <a:lvl8pPr marL="3200400" algn="l" defTabSz="914400" rtl="0" eaLnBrk="1" latinLnBrk="0" hangingPunct="1">
              <a:defRPr sz="1800" kern="1200">
                <a:solidFill>
                  <a:srgbClr val="000000"/>
                </a:solidFill>
                <a:latin typeface="Calibri"/>
                <a:ea typeface="+mn-ea"/>
                <a:cs typeface="+mn-cs"/>
              </a:defRPr>
            </a:lvl8pPr>
            <a:lvl9pPr marL="3657600" algn="l" defTabSz="914400" rtl="0" eaLnBrk="1" latinLnBrk="0" hangingPunct="1">
              <a:defRPr sz="1800" kern="1200">
                <a:solidFill>
                  <a:srgbClr val="000000"/>
                </a:solidFill>
                <a:latin typeface="Calibri"/>
                <a:ea typeface="+mn-ea"/>
                <a:cs typeface="+mn-cs"/>
              </a:defRPr>
            </a:lvl9pPr>
          </a:lstStyle>
          <a:p>
            <a:pPr marL="0" indent="0">
              <a:buNone/>
            </a:pPr>
            <a:r>
              <a:rPr lang="en-US" sz="3200">
                <a:solidFill>
                  <a:srgbClr val="1A3A4A"/>
                </a:solidFill>
                <a:latin typeface="Calibri" panose="020F0502020204030204" pitchFamily="34" charset="0"/>
                <a:ea typeface="Calibri" panose="020F0502020204030204" pitchFamily="34" charset="0"/>
                <a:cs typeface="Calibri" pitchFamily="34" charset="-120"/>
              </a:rPr>
              <a:t>Before seeking to be heard, truly listen and understand the other person's perspective and feelings.</a:t>
            </a:r>
            <a:endParaRPr lang="en-US" sz="3200"/>
          </a:p>
        </p:txBody>
      </p:sp>
      <p:sp>
        <p:nvSpPr>
          <p:cNvPr id="24" name="Rectangle 23">
            <a:extLst>
              <a:ext uri="{FF2B5EF4-FFF2-40B4-BE49-F238E27FC236}">
                <a16:creationId xmlns:a16="http://schemas.microsoft.com/office/drawing/2014/main" id="{F0BCB0D6-6F6D-40B9-A8A7-662D908B97FA}"/>
              </a:ext>
            </a:extLst>
          </p:cNvPr>
          <p:cNvSpPr/>
          <p:nvPr/>
        </p:nvSpPr>
        <p:spPr>
          <a:xfrm>
            <a:off x="457200" y="5432430"/>
            <a:ext cx="8001000" cy="179863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en-US"/>
            </a:defPPr>
            <a:lvl1pPr marL="0" algn="l" defTabSz="914400" rtl="0" eaLnBrk="1" latinLnBrk="0" hangingPunct="1">
              <a:defRPr sz="1800" kern="1200">
                <a:solidFill>
                  <a:srgbClr val="000000"/>
                </a:solidFill>
                <a:latin typeface="Calibri"/>
                <a:ea typeface="+mn-ea"/>
                <a:cs typeface="+mn-cs"/>
              </a:defRPr>
            </a:lvl1pPr>
            <a:lvl2pPr marL="457200" algn="l" defTabSz="914400" rtl="0" eaLnBrk="1" latinLnBrk="0" hangingPunct="1">
              <a:defRPr sz="1800" kern="1200">
                <a:solidFill>
                  <a:srgbClr val="000000"/>
                </a:solidFill>
                <a:latin typeface="Calibri"/>
                <a:ea typeface="+mn-ea"/>
                <a:cs typeface="+mn-cs"/>
              </a:defRPr>
            </a:lvl2pPr>
            <a:lvl3pPr marL="914400" algn="l" defTabSz="914400" rtl="0" eaLnBrk="1" latinLnBrk="0" hangingPunct="1">
              <a:defRPr sz="1800" kern="1200">
                <a:solidFill>
                  <a:srgbClr val="000000"/>
                </a:solidFill>
                <a:latin typeface="Calibri"/>
                <a:ea typeface="+mn-ea"/>
                <a:cs typeface="+mn-cs"/>
              </a:defRPr>
            </a:lvl3pPr>
            <a:lvl4pPr marL="1371600" algn="l" defTabSz="914400" rtl="0" eaLnBrk="1" latinLnBrk="0" hangingPunct="1">
              <a:defRPr sz="1800" kern="1200">
                <a:solidFill>
                  <a:srgbClr val="000000"/>
                </a:solidFill>
                <a:latin typeface="Calibri"/>
                <a:ea typeface="+mn-ea"/>
                <a:cs typeface="+mn-cs"/>
              </a:defRPr>
            </a:lvl4pPr>
            <a:lvl5pPr marL="1828800" algn="l" defTabSz="914400" rtl="0" eaLnBrk="1" latinLnBrk="0" hangingPunct="1">
              <a:defRPr sz="1800" kern="1200">
                <a:solidFill>
                  <a:srgbClr val="000000"/>
                </a:solidFill>
                <a:latin typeface="Calibri"/>
                <a:ea typeface="+mn-ea"/>
                <a:cs typeface="+mn-cs"/>
              </a:defRPr>
            </a:lvl5pPr>
            <a:lvl6pPr marL="2286000" algn="l" defTabSz="914400" rtl="0" eaLnBrk="1" latinLnBrk="0" hangingPunct="1">
              <a:defRPr sz="1800" kern="1200">
                <a:solidFill>
                  <a:srgbClr val="000000"/>
                </a:solidFill>
                <a:latin typeface="Calibri"/>
                <a:ea typeface="+mn-ea"/>
                <a:cs typeface="+mn-cs"/>
              </a:defRPr>
            </a:lvl6pPr>
            <a:lvl7pPr marL="2743200" algn="l" defTabSz="914400" rtl="0" eaLnBrk="1" latinLnBrk="0" hangingPunct="1">
              <a:defRPr sz="1800" kern="1200">
                <a:solidFill>
                  <a:srgbClr val="000000"/>
                </a:solidFill>
                <a:latin typeface="Calibri"/>
                <a:ea typeface="+mn-ea"/>
                <a:cs typeface="+mn-cs"/>
              </a:defRPr>
            </a:lvl7pPr>
            <a:lvl8pPr marL="3200400" algn="l" defTabSz="914400" rtl="0" eaLnBrk="1" latinLnBrk="0" hangingPunct="1">
              <a:defRPr sz="1800" kern="1200">
                <a:solidFill>
                  <a:srgbClr val="000000"/>
                </a:solidFill>
                <a:latin typeface="Calibri"/>
                <a:ea typeface="+mn-ea"/>
                <a:cs typeface="+mn-cs"/>
              </a:defRPr>
            </a:lvl8pPr>
            <a:lvl9pPr marL="3657600" algn="l" defTabSz="914400" rtl="0" eaLnBrk="1" latinLnBrk="0" hangingPunct="1">
              <a:defRPr sz="1800" kern="1200">
                <a:solidFill>
                  <a:srgbClr val="000000"/>
                </a:solidFill>
                <a:latin typeface="Calibri"/>
                <a:ea typeface="+mn-ea"/>
                <a:cs typeface="+mn-cs"/>
              </a:defRPr>
            </a:lvl9pPr>
          </a:lstStyle>
          <a:p>
            <a:pPr marL="0" indent="0">
              <a:buNone/>
            </a:pPr>
            <a:r>
              <a:rPr lang="en-US" sz="3200">
                <a:solidFill>
                  <a:srgbClr val="1A3A4A"/>
                </a:solidFill>
                <a:latin typeface="Calibri" panose="020F0502020204030204" pitchFamily="34" charset="0"/>
                <a:ea typeface="Calibri" panose="020F0502020204030204" pitchFamily="34" charset="0"/>
                <a:cs typeface="Calibri" pitchFamily="34" charset="-120"/>
              </a:rPr>
              <a:t>Most people want to be understood before they'll open up to understanding you in return.</a:t>
            </a:r>
            <a:endParaRPr lang="en-US" sz="3200"/>
          </a:p>
        </p:txBody>
      </p:sp>
      <p:sp>
        <p:nvSpPr>
          <p:cNvPr id="62" name="Rectangle 61">
            <a:extLst>
              <a:ext uri="{FF2B5EF4-FFF2-40B4-BE49-F238E27FC236}">
                <a16:creationId xmlns:a16="http://schemas.microsoft.com/office/drawing/2014/main" id="{4105066C-3B69-442E-9DB6-A93138BEF2F5}"/>
              </a:ext>
            </a:extLst>
          </p:cNvPr>
          <p:cNvSpPr/>
          <p:nvPr/>
        </p:nvSpPr>
        <p:spPr>
          <a:xfrm>
            <a:off x="9425518" y="2057458"/>
            <a:ext cx="7848600" cy="179863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en-US"/>
            </a:defPPr>
            <a:lvl1pPr marL="0" algn="l" defTabSz="914400" rtl="0" eaLnBrk="1" latinLnBrk="0" hangingPunct="1">
              <a:defRPr sz="1800" kern="1200">
                <a:solidFill>
                  <a:srgbClr val="000000"/>
                </a:solidFill>
                <a:latin typeface="Calibri"/>
                <a:ea typeface="+mn-ea"/>
                <a:cs typeface="+mn-cs"/>
              </a:defRPr>
            </a:lvl1pPr>
            <a:lvl2pPr marL="457200" algn="l" defTabSz="914400" rtl="0" eaLnBrk="1" latinLnBrk="0" hangingPunct="1">
              <a:defRPr sz="1800" kern="1200">
                <a:solidFill>
                  <a:srgbClr val="000000"/>
                </a:solidFill>
                <a:latin typeface="Calibri"/>
                <a:ea typeface="+mn-ea"/>
                <a:cs typeface="+mn-cs"/>
              </a:defRPr>
            </a:lvl2pPr>
            <a:lvl3pPr marL="914400" algn="l" defTabSz="914400" rtl="0" eaLnBrk="1" latinLnBrk="0" hangingPunct="1">
              <a:defRPr sz="1800" kern="1200">
                <a:solidFill>
                  <a:srgbClr val="000000"/>
                </a:solidFill>
                <a:latin typeface="Calibri"/>
                <a:ea typeface="+mn-ea"/>
                <a:cs typeface="+mn-cs"/>
              </a:defRPr>
            </a:lvl3pPr>
            <a:lvl4pPr marL="1371600" algn="l" defTabSz="914400" rtl="0" eaLnBrk="1" latinLnBrk="0" hangingPunct="1">
              <a:defRPr sz="1800" kern="1200">
                <a:solidFill>
                  <a:srgbClr val="000000"/>
                </a:solidFill>
                <a:latin typeface="Calibri"/>
                <a:ea typeface="+mn-ea"/>
                <a:cs typeface="+mn-cs"/>
              </a:defRPr>
            </a:lvl4pPr>
            <a:lvl5pPr marL="1828800" algn="l" defTabSz="914400" rtl="0" eaLnBrk="1" latinLnBrk="0" hangingPunct="1">
              <a:defRPr sz="1800" kern="1200">
                <a:solidFill>
                  <a:srgbClr val="000000"/>
                </a:solidFill>
                <a:latin typeface="Calibri"/>
                <a:ea typeface="+mn-ea"/>
                <a:cs typeface="+mn-cs"/>
              </a:defRPr>
            </a:lvl5pPr>
            <a:lvl6pPr marL="2286000" algn="l" defTabSz="914400" rtl="0" eaLnBrk="1" latinLnBrk="0" hangingPunct="1">
              <a:defRPr sz="1800" kern="1200">
                <a:solidFill>
                  <a:srgbClr val="000000"/>
                </a:solidFill>
                <a:latin typeface="Calibri"/>
                <a:ea typeface="+mn-ea"/>
                <a:cs typeface="+mn-cs"/>
              </a:defRPr>
            </a:lvl6pPr>
            <a:lvl7pPr marL="2743200" algn="l" defTabSz="914400" rtl="0" eaLnBrk="1" latinLnBrk="0" hangingPunct="1">
              <a:defRPr sz="1800" kern="1200">
                <a:solidFill>
                  <a:srgbClr val="000000"/>
                </a:solidFill>
                <a:latin typeface="Calibri"/>
                <a:ea typeface="+mn-ea"/>
                <a:cs typeface="+mn-cs"/>
              </a:defRPr>
            </a:lvl7pPr>
            <a:lvl8pPr marL="3200400" algn="l" defTabSz="914400" rtl="0" eaLnBrk="1" latinLnBrk="0" hangingPunct="1">
              <a:defRPr sz="1800" kern="1200">
                <a:solidFill>
                  <a:srgbClr val="000000"/>
                </a:solidFill>
                <a:latin typeface="Calibri"/>
                <a:ea typeface="+mn-ea"/>
                <a:cs typeface="+mn-cs"/>
              </a:defRPr>
            </a:lvl8pPr>
            <a:lvl9pPr marL="3657600" algn="l" defTabSz="914400" rtl="0" eaLnBrk="1" latinLnBrk="0" hangingPunct="1">
              <a:defRPr sz="1800" kern="1200">
                <a:solidFill>
                  <a:srgbClr val="000000"/>
                </a:solidFill>
                <a:latin typeface="Calibri"/>
                <a:ea typeface="+mn-ea"/>
                <a:cs typeface="+mn-cs"/>
              </a:defRPr>
            </a:lvl9pPr>
          </a:lstStyle>
          <a:p>
            <a:pPr marL="0" indent="0">
              <a:buNone/>
            </a:pPr>
            <a:r>
              <a:rPr lang="en-US" sz="3200">
                <a:solidFill>
                  <a:srgbClr val="1A3A4A"/>
                </a:solidFill>
                <a:latin typeface="Calibri" panose="020F0502020204030204" pitchFamily="34" charset="0"/>
                <a:ea typeface="Calibri" panose="020F0502020204030204" pitchFamily="34" charset="0"/>
                <a:cs typeface="Calibri" pitchFamily="34" charset="-120"/>
              </a:rPr>
              <a:t>Shifting to another's perspective can dramatically change how you judge and connect with them.</a:t>
            </a:r>
            <a:endParaRPr lang="en-US" sz="3200"/>
          </a:p>
        </p:txBody>
      </p:sp>
      <p:sp>
        <p:nvSpPr>
          <p:cNvPr id="64" name="TextBox 63">
            <a:extLst>
              <a:ext uri="{FF2B5EF4-FFF2-40B4-BE49-F238E27FC236}">
                <a16:creationId xmlns:a16="http://schemas.microsoft.com/office/drawing/2014/main" id="{298FAA9D-B6FE-4466-B147-AF2AEF30EEC7}"/>
              </a:ext>
            </a:extLst>
          </p:cNvPr>
          <p:cNvSpPr txBox="1"/>
          <p:nvPr/>
        </p:nvSpPr>
        <p:spPr>
          <a:xfrm>
            <a:off x="451338" y="1303516"/>
            <a:ext cx="5791200" cy="76944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400" b="1">
                <a:solidFill>
                  <a:srgbClr val="028090"/>
                </a:solidFill>
                <a:latin typeface="Calibri" panose="020F0502020204030204" pitchFamily="34" charset="0"/>
                <a:ea typeface="Calibri" panose="020F0502020204030204" pitchFamily="34" charset="0"/>
                <a:cs typeface="Calibri" pitchFamily="34" charset="-120"/>
              </a:rPr>
              <a:t>Understand Others First</a:t>
            </a:r>
            <a:endParaRPr lang="en-US" sz="4400"/>
          </a:p>
        </p:txBody>
      </p:sp>
      <p:sp>
        <p:nvSpPr>
          <p:cNvPr id="66" name="TextBox 65">
            <a:extLst>
              <a:ext uri="{FF2B5EF4-FFF2-40B4-BE49-F238E27FC236}">
                <a16:creationId xmlns:a16="http://schemas.microsoft.com/office/drawing/2014/main" id="{B60B9921-349E-4D8A-9C0A-8BFDDCEC391C}"/>
              </a:ext>
            </a:extLst>
          </p:cNvPr>
          <p:cNvSpPr txBox="1"/>
          <p:nvPr/>
        </p:nvSpPr>
        <p:spPr>
          <a:xfrm>
            <a:off x="451338" y="4666254"/>
            <a:ext cx="6763616" cy="83099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800" b="1">
                <a:solidFill>
                  <a:srgbClr val="028090"/>
                </a:solidFill>
                <a:latin typeface="Calibri" panose="020F0502020204030204" pitchFamily="34" charset="0"/>
                <a:ea typeface="Calibri" panose="020F0502020204030204" pitchFamily="34" charset="0"/>
                <a:cs typeface="Calibri" pitchFamily="34" charset="-120"/>
              </a:rPr>
              <a:t>Listen First, Talk Second</a:t>
            </a:r>
            <a:endParaRPr lang="en-US" sz="4800"/>
          </a:p>
        </p:txBody>
      </p:sp>
      <p:sp>
        <p:nvSpPr>
          <p:cNvPr id="68" name="TextBox 67">
            <a:extLst>
              <a:ext uri="{FF2B5EF4-FFF2-40B4-BE49-F238E27FC236}">
                <a16:creationId xmlns:a16="http://schemas.microsoft.com/office/drawing/2014/main" id="{8915D457-B644-433A-8572-B551ED4682CD}"/>
              </a:ext>
            </a:extLst>
          </p:cNvPr>
          <p:cNvSpPr txBox="1"/>
          <p:nvPr/>
        </p:nvSpPr>
        <p:spPr>
          <a:xfrm>
            <a:off x="9425518" y="1308946"/>
            <a:ext cx="10914184" cy="83099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800" b="1">
                <a:solidFill>
                  <a:srgbClr val="028090"/>
                </a:solidFill>
                <a:latin typeface="Calibri" panose="020F0502020204030204" pitchFamily="34" charset="0"/>
                <a:ea typeface="Calibri" panose="020F0502020204030204" pitchFamily="34" charset="0"/>
                <a:cs typeface="Calibri" pitchFamily="34" charset="-120"/>
              </a:rPr>
              <a:t>See Their Point of View</a:t>
            </a:r>
            <a:endParaRPr lang="en-US" sz="480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46304"/>
          </a:xfrm>
          <a:prstGeom prst="rect">
            <a:avLst/>
          </a:prstGeom>
          <a:solidFill>
            <a:srgbClr val="028090"/>
          </a:solidFill>
          <a:ln w="12700">
            <a:solidFill>
              <a:srgbClr val="028090"/>
            </a:solidFill>
            <a:prstDash val="solid"/>
          </a:ln>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3" name="Text 1"/>
          <p:cNvSpPr/>
          <p:nvPr/>
        </p:nvSpPr>
        <p:spPr>
          <a:xfrm>
            <a:off x="914400" y="365760"/>
            <a:ext cx="16459200" cy="822960"/>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400" b="1" kern="0" spc="800">
                <a:solidFill>
                  <a:srgbClr val="F4A261"/>
                </a:solidFill>
                <a:latin typeface="Calibri" panose="020F0502020204030204" pitchFamily="34" charset="0"/>
                <a:ea typeface="Calibri" panose="020F0502020204030204" pitchFamily="34" charset="0"/>
                <a:cs typeface="Calibri" pitchFamily="34" charset="-120"/>
              </a:rPr>
              <a:t>Key Takeaways</a:t>
            </a:r>
            <a:endParaRPr lang="en-US" sz="2400"/>
          </a:p>
        </p:txBody>
      </p:sp>
      <p:sp>
        <p:nvSpPr>
          <p:cNvPr id="4" name="Text 2"/>
          <p:cNvSpPr/>
          <p:nvPr/>
        </p:nvSpPr>
        <p:spPr>
          <a:xfrm>
            <a:off x="274320" y="969264"/>
            <a:ext cx="16459200" cy="1371600"/>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7200" b="1">
                <a:solidFill>
                  <a:srgbClr val="1A3A4A"/>
                </a:solidFill>
                <a:latin typeface="Calibri" panose="020F0502020204030204" pitchFamily="34" charset="0"/>
                <a:ea typeface="Calibri" panose="020F0502020204030204" pitchFamily="34" charset="0"/>
                <a:cs typeface="Calibri" pitchFamily="34" charset="-120"/>
              </a:rPr>
              <a:t>Seek First to Understand</a:t>
            </a:r>
            <a:endParaRPr lang="en-US" sz="7200"/>
          </a:p>
        </p:txBody>
      </p:sp>
      <p:sp>
        <p:nvSpPr>
          <p:cNvPr id="5" name="Text 3"/>
          <p:cNvSpPr/>
          <p:nvPr/>
        </p:nvSpPr>
        <p:spPr>
          <a:xfrm>
            <a:off x="594360" y="2112206"/>
            <a:ext cx="16459200" cy="914400"/>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4400">
                <a:solidFill>
                  <a:srgbClr val="028090"/>
                </a:solidFill>
                <a:latin typeface="Calibri" panose="020F0502020204030204" pitchFamily="34" charset="0"/>
                <a:ea typeface="Calibri" panose="020F0502020204030204" pitchFamily="34" charset="0"/>
                <a:cs typeface="Calibri" pitchFamily="34" charset="-120"/>
              </a:rPr>
              <a:t>Then to Be Understood</a:t>
            </a:r>
            <a:endParaRPr lang="en-US" sz="4400"/>
          </a:p>
        </p:txBody>
      </p:sp>
      <p:sp>
        <p:nvSpPr>
          <p:cNvPr id="6" name="Shape 4"/>
          <p:cNvSpPr/>
          <p:nvPr/>
        </p:nvSpPr>
        <p:spPr>
          <a:xfrm>
            <a:off x="594360" y="3327534"/>
            <a:ext cx="8046720" cy="2468880"/>
          </a:xfrm>
          <a:prstGeom prst="rect">
            <a:avLst/>
          </a:prstGeom>
          <a:solidFill>
            <a:srgbClr val="F4FAFB"/>
          </a:solidFill>
          <a:ln w="12700">
            <a:solidFill>
              <a:srgbClr val="D9EDEF"/>
            </a:solidFill>
            <a:prstDash val="solid"/>
          </a:ln>
          <a:effectLst>
            <a:outerShdw blurRad="76200" dist="25400" dir="8100000" algn="bl" rotWithShape="0">
              <a:srgbClr val="000000">
                <a:alpha val="8000"/>
              </a:srgbClr>
            </a:outerShdw>
          </a:effectLst>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7" name="Shape 5"/>
          <p:cNvSpPr/>
          <p:nvPr/>
        </p:nvSpPr>
        <p:spPr>
          <a:xfrm>
            <a:off x="594360" y="3144654"/>
            <a:ext cx="8046720" cy="128016"/>
          </a:xfrm>
          <a:prstGeom prst="rect">
            <a:avLst/>
          </a:prstGeom>
          <a:solidFill>
            <a:srgbClr val="028090"/>
          </a:solidFill>
          <a:ln w="12700">
            <a:solidFill>
              <a:srgbClr val="028090"/>
            </a:solidFill>
            <a:prstDash val="solid"/>
          </a:ln>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8" name="Text 6"/>
          <p:cNvSpPr/>
          <p:nvPr/>
        </p:nvSpPr>
        <p:spPr>
          <a:xfrm>
            <a:off x="1005840" y="4059936"/>
            <a:ext cx="7498080" cy="603504"/>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600" b="1">
                <a:solidFill>
                  <a:srgbClr val="028090"/>
                </a:solidFill>
                <a:latin typeface="Calibri" panose="020F0502020204030204" pitchFamily="34" charset="0"/>
                <a:ea typeface="Calibri" panose="020F0502020204030204" pitchFamily="34" charset="0"/>
                <a:cs typeface="Calibri" pitchFamily="34" charset="-120"/>
              </a:rPr>
              <a:t>Listen Deeply</a:t>
            </a:r>
            <a:endParaRPr lang="en-US" sz="2600"/>
          </a:p>
        </p:txBody>
      </p:sp>
      <p:sp>
        <p:nvSpPr>
          <p:cNvPr id="9" name="Text 7"/>
          <p:cNvSpPr/>
          <p:nvPr/>
        </p:nvSpPr>
        <p:spPr>
          <a:xfrm>
            <a:off x="1005840" y="4718304"/>
            <a:ext cx="7498080" cy="1426464"/>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200">
                <a:solidFill>
                  <a:srgbClr val="1A3A4A"/>
                </a:solidFill>
                <a:latin typeface="Calibri" panose="020F0502020204030204" pitchFamily="34" charset="0"/>
                <a:ea typeface="Calibri" panose="020F0502020204030204" pitchFamily="34" charset="0"/>
                <a:cs typeface="Calibri" pitchFamily="34" charset="-120"/>
              </a:rPr>
              <a:t>Use your eyes, ears, and heart. 93% of communication comes from tone and body language, not words.</a:t>
            </a:r>
            <a:endParaRPr lang="en-US" sz="2200"/>
          </a:p>
        </p:txBody>
      </p:sp>
      <p:sp>
        <p:nvSpPr>
          <p:cNvPr id="10" name="Shape 8"/>
          <p:cNvSpPr/>
          <p:nvPr/>
        </p:nvSpPr>
        <p:spPr>
          <a:xfrm>
            <a:off x="9160443" y="3200400"/>
            <a:ext cx="8046720" cy="2468880"/>
          </a:xfrm>
          <a:prstGeom prst="rect">
            <a:avLst/>
          </a:prstGeom>
          <a:solidFill>
            <a:srgbClr val="F4FAFB"/>
          </a:solidFill>
          <a:ln w="12700">
            <a:solidFill>
              <a:srgbClr val="D9EDEF"/>
            </a:solidFill>
            <a:prstDash val="solid"/>
          </a:ln>
          <a:effectLst>
            <a:outerShdw blurRad="76200" dist="25400" dir="8100000" algn="bl" rotWithShape="0">
              <a:srgbClr val="000000">
                <a:alpha val="8000"/>
              </a:srgbClr>
            </a:outerShdw>
          </a:effectLst>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11" name="Shape 9"/>
          <p:cNvSpPr/>
          <p:nvPr/>
        </p:nvSpPr>
        <p:spPr>
          <a:xfrm>
            <a:off x="9134736" y="3090672"/>
            <a:ext cx="8046720" cy="128016"/>
          </a:xfrm>
          <a:prstGeom prst="rect">
            <a:avLst/>
          </a:prstGeom>
          <a:solidFill>
            <a:srgbClr val="1C7293"/>
          </a:solidFill>
          <a:ln w="12700">
            <a:solidFill>
              <a:srgbClr val="1C7293"/>
            </a:solidFill>
            <a:prstDash val="solid"/>
          </a:ln>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12" name="Text 10"/>
          <p:cNvSpPr/>
          <p:nvPr/>
        </p:nvSpPr>
        <p:spPr>
          <a:xfrm>
            <a:off x="9784081" y="4059936"/>
            <a:ext cx="7498080" cy="603504"/>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600" b="1">
                <a:solidFill>
                  <a:srgbClr val="1C7293"/>
                </a:solidFill>
                <a:latin typeface="Calibri" panose="020F0502020204030204" pitchFamily="34" charset="0"/>
                <a:ea typeface="Calibri" panose="020F0502020204030204" pitchFamily="34" charset="0"/>
                <a:cs typeface="Calibri" pitchFamily="34" charset="-120"/>
              </a:rPr>
              <a:t>Empathy First</a:t>
            </a:r>
            <a:endParaRPr lang="en-US" sz="2600"/>
          </a:p>
        </p:txBody>
      </p:sp>
      <p:sp>
        <p:nvSpPr>
          <p:cNvPr id="13" name="Text 11"/>
          <p:cNvSpPr/>
          <p:nvPr/>
        </p:nvSpPr>
        <p:spPr>
          <a:xfrm>
            <a:off x="9784081" y="4718304"/>
            <a:ext cx="7498080" cy="1426464"/>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200">
                <a:solidFill>
                  <a:srgbClr val="1A3A4A"/>
                </a:solidFill>
                <a:latin typeface="Calibri" panose="020F0502020204030204" pitchFamily="34" charset="0"/>
                <a:ea typeface="Calibri" panose="020F0502020204030204" pitchFamily="34" charset="0"/>
                <a:cs typeface="Calibri" pitchFamily="34" charset="-120"/>
              </a:rPr>
              <a:t>Stand in their shoes before you speak. Understanding someone changes how you judge and connect with them.</a:t>
            </a:r>
            <a:endParaRPr lang="en-US" sz="2200"/>
          </a:p>
        </p:txBody>
      </p:sp>
      <p:sp>
        <p:nvSpPr>
          <p:cNvPr id="14" name="Shape 12"/>
          <p:cNvSpPr/>
          <p:nvPr/>
        </p:nvSpPr>
        <p:spPr>
          <a:xfrm>
            <a:off x="594360" y="6299053"/>
            <a:ext cx="8046720" cy="2468880"/>
          </a:xfrm>
          <a:prstGeom prst="rect">
            <a:avLst/>
          </a:prstGeom>
          <a:solidFill>
            <a:srgbClr val="F4FAFB"/>
          </a:solidFill>
          <a:ln w="12700">
            <a:solidFill>
              <a:srgbClr val="D9EDEF"/>
            </a:solidFill>
            <a:prstDash val="solid"/>
          </a:ln>
          <a:effectLst>
            <a:outerShdw blurRad="76200" dist="25400" dir="8100000" algn="bl" rotWithShape="0">
              <a:srgbClr val="000000">
                <a:alpha val="8000"/>
              </a:srgbClr>
            </a:outerShdw>
          </a:effectLst>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15" name="Shape 13"/>
          <p:cNvSpPr/>
          <p:nvPr/>
        </p:nvSpPr>
        <p:spPr>
          <a:xfrm>
            <a:off x="594360" y="6121878"/>
            <a:ext cx="8046720" cy="128016"/>
          </a:xfrm>
          <a:prstGeom prst="rect">
            <a:avLst/>
          </a:prstGeom>
          <a:solidFill>
            <a:srgbClr val="C1440E"/>
          </a:solidFill>
          <a:ln w="12700">
            <a:solidFill>
              <a:srgbClr val="C1440E"/>
            </a:solidFill>
            <a:prstDash val="solid"/>
          </a:ln>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16" name="Text 14"/>
          <p:cNvSpPr/>
          <p:nvPr/>
        </p:nvSpPr>
        <p:spPr>
          <a:xfrm>
            <a:off x="1005840" y="6803136"/>
            <a:ext cx="7498080" cy="603504"/>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600" b="1">
                <a:solidFill>
                  <a:srgbClr val="C1440E"/>
                </a:solidFill>
                <a:latin typeface="Calibri" panose="020F0502020204030204" pitchFamily="34" charset="0"/>
                <a:ea typeface="Calibri" panose="020F0502020204030204" pitchFamily="34" charset="0"/>
                <a:cs typeface="Calibri" pitchFamily="34" charset="-120"/>
              </a:rPr>
              <a:t>Give Real Feedback</a:t>
            </a:r>
            <a:endParaRPr lang="en-US" sz="2600"/>
          </a:p>
        </p:txBody>
      </p:sp>
      <p:sp>
        <p:nvSpPr>
          <p:cNvPr id="17" name="Text 15"/>
          <p:cNvSpPr/>
          <p:nvPr/>
        </p:nvSpPr>
        <p:spPr>
          <a:xfrm>
            <a:off x="1005840" y="7461504"/>
            <a:ext cx="7498080" cy="1426464"/>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200">
                <a:solidFill>
                  <a:srgbClr val="1A3A4A"/>
                </a:solidFill>
                <a:latin typeface="Calibri" panose="020F0502020204030204" pitchFamily="34" charset="0"/>
                <a:ea typeface="Calibri" panose="020F0502020204030204" pitchFamily="34" charset="0"/>
                <a:cs typeface="Calibri" pitchFamily="34" charset="-120"/>
              </a:rPr>
              <a:t>Only give feedback that truly helps. When you do, make it a first-person, caring comment.</a:t>
            </a:r>
            <a:endParaRPr lang="en-US" sz="2200"/>
          </a:p>
        </p:txBody>
      </p:sp>
      <p:sp>
        <p:nvSpPr>
          <p:cNvPr id="18" name="Shape 16"/>
          <p:cNvSpPr/>
          <p:nvPr/>
        </p:nvSpPr>
        <p:spPr>
          <a:xfrm>
            <a:off x="9326880" y="6379325"/>
            <a:ext cx="8046720" cy="2468880"/>
          </a:xfrm>
          <a:prstGeom prst="rect">
            <a:avLst/>
          </a:prstGeom>
          <a:solidFill>
            <a:srgbClr val="F4FAFB"/>
          </a:solidFill>
          <a:ln w="12700">
            <a:solidFill>
              <a:srgbClr val="D9EDEF"/>
            </a:solidFill>
            <a:prstDash val="solid"/>
          </a:ln>
          <a:effectLst>
            <a:outerShdw blurRad="76200" dist="25400" dir="8100000" algn="bl" rotWithShape="0">
              <a:srgbClr val="000000">
                <a:alpha val="8000"/>
              </a:srgbClr>
            </a:outerShdw>
          </a:effectLst>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19" name="Shape 17"/>
          <p:cNvSpPr/>
          <p:nvPr/>
        </p:nvSpPr>
        <p:spPr>
          <a:xfrm>
            <a:off x="9385434" y="6228496"/>
            <a:ext cx="8046720" cy="128016"/>
          </a:xfrm>
          <a:prstGeom prst="rect">
            <a:avLst/>
          </a:prstGeom>
          <a:solidFill>
            <a:srgbClr val="1A3A4A"/>
          </a:solidFill>
          <a:ln w="12700">
            <a:solidFill>
              <a:srgbClr val="1A3A4A"/>
            </a:solidFill>
            <a:prstDash val="solid"/>
          </a:ln>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20" name="Text 18"/>
          <p:cNvSpPr/>
          <p:nvPr/>
        </p:nvSpPr>
        <p:spPr>
          <a:xfrm>
            <a:off x="9784081" y="6803136"/>
            <a:ext cx="7498080" cy="603504"/>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600" b="1">
                <a:solidFill>
                  <a:srgbClr val="1A3A4A"/>
                </a:solidFill>
                <a:latin typeface="Calibri" panose="020F0502020204030204" pitchFamily="34" charset="0"/>
                <a:ea typeface="Calibri" panose="020F0502020204030204" pitchFamily="34" charset="0"/>
                <a:cs typeface="Calibri" pitchFamily="34" charset="-120"/>
              </a:rPr>
              <a:t>Courage to Be Understood</a:t>
            </a:r>
            <a:endParaRPr lang="en-US" sz="2600"/>
          </a:p>
        </p:txBody>
      </p:sp>
      <p:sp>
        <p:nvSpPr>
          <p:cNvPr id="21" name="Text 19"/>
          <p:cNvSpPr/>
          <p:nvPr/>
        </p:nvSpPr>
        <p:spPr>
          <a:xfrm>
            <a:off x="9784081" y="7461504"/>
            <a:ext cx="7498080" cy="1426464"/>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200">
                <a:solidFill>
                  <a:srgbClr val="1A3A4A"/>
                </a:solidFill>
                <a:latin typeface="Calibri" panose="020F0502020204030204" pitchFamily="34" charset="0"/>
                <a:ea typeface="Calibri" panose="020F0502020204030204" pitchFamily="34" charset="0"/>
                <a:cs typeface="Calibri" pitchFamily="34" charset="-120"/>
              </a:rPr>
              <a:t>Seeking to be understood requires vulnerability and courage — but it deepens every relationship.</a:t>
            </a:r>
            <a:endParaRPr lang="en-US" sz="2200"/>
          </a:p>
        </p:txBody>
      </p:sp>
      <p:sp>
        <p:nvSpPr>
          <p:cNvPr id="22" name="Shape 20"/>
          <p:cNvSpPr/>
          <p:nvPr/>
        </p:nvSpPr>
        <p:spPr>
          <a:xfrm>
            <a:off x="914400" y="9473184"/>
            <a:ext cx="16459200" cy="36576"/>
          </a:xfrm>
          <a:prstGeom prst="rect">
            <a:avLst/>
          </a:prstGeom>
          <a:solidFill>
            <a:srgbClr val="9DD9D2"/>
          </a:solidFill>
          <a:ln w="12700">
            <a:solidFill>
              <a:srgbClr val="9DD9D2"/>
            </a:solidFill>
            <a:prstDash val="solid"/>
          </a:ln>
        </p:spPr>
        <p:txBody>
          <a:bodyP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a:p>
        </p:txBody>
      </p:sp>
      <p:sp>
        <p:nvSpPr>
          <p:cNvPr id="23" name="Text 21"/>
          <p:cNvSpPr/>
          <p:nvPr/>
        </p:nvSpPr>
        <p:spPr>
          <a:xfrm>
            <a:off x="914400" y="9601200"/>
            <a:ext cx="16459200" cy="548640"/>
          </a:xfrm>
          <a:prstGeom prst="rect">
            <a:avLst/>
          </a:prstGeom>
          <a:noFill/>
        </p:spPr>
        <p:txBody>
          <a:bodyPr wrap="square" rtlCol="0" anchor="ctr"/>
          <a:lst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000">
                <a:solidFill>
                  <a:srgbClr val="6B7B80"/>
                </a:solidFill>
                <a:latin typeface="Calibri" panose="020F0502020204030204" pitchFamily="34" charset="0"/>
                <a:ea typeface="Calibri" panose="020F0502020204030204" pitchFamily="34" charset="0"/>
                <a:cs typeface="Calibri" pitchFamily="34" charset="-120"/>
              </a:rPr>
              <a:t>Habit 5: Seek First to Understand  —  Aisha Javed Khan  |  BUS_24F_637</a:t>
            </a:r>
            <a:endParaRPr lang="en-US" sz="2000"/>
          </a:p>
        </p:txBody>
      </p:sp>
      <p:grpSp>
        <p:nvGrpSpPr>
          <p:cNvPr id="24" name="Group 8">
            <a:extLst>
              <a:ext uri="{FF2B5EF4-FFF2-40B4-BE49-F238E27FC236}">
                <a16:creationId xmlns:a16="http://schemas.microsoft.com/office/drawing/2014/main" id="{CC625984-5177-43AA-8748-75C7C5845F58}"/>
              </a:ext>
            </a:extLst>
          </p:cNvPr>
          <p:cNvGrpSpPr/>
          <p:nvPr/>
        </p:nvGrpSpPr>
        <p:grpSpPr>
          <a:xfrm>
            <a:off x="-170982" y="-266700"/>
            <a:ext cx="18525069" cy="1565033"/>
            <a:chOff x="-114232" y="-1"/>
            <a:chExt cx="24498229" cy="3850428"/>
          </a:xfrm>
        </p:grpSpPr>
        <p:grpSp>
          <p:nvGrpSpPr>
            <p:cNvPr id="25" name="Group 9">
              <a:extLst>
                <a:ext uri="{FF2B5EF4-FFF2-40B4-BE49-F238E27FC236}">
                  <a16:creationId xmlns:a16="http://schemas.microsoft.com/office/drawing/2014/main" id="{9DDB70D7-E3EC-40CC-8C0C-447B48B51286}"/>
                </a:ext>
              </a:extLst>
            </p:cNvPr>
            <p:cNvGrpSpPr/>
            <p:nvPr/>
          </p:nvGrpSpPr>
          <p:grpSpPr>
            <a:xfrm rot="-5400000">
              <a:off x="1675270" y="648897"/>
              <a:ext cx="3850426" cy="2552630"/>
              <a:chOff x="0" y="-38101"/>
              <a:chExt cx="1284254" cy="851392"/>
            </a:xfrm>
          </p:grpSpPr>
          <p:sp>
            <p:nvSpPr>
              <p:cNvPr id="53" name="Freeform 10">
                <a:extLst>
                  <a:ext uri="{FF2B5EF4-FFF2-40B4-BE49-F238E27FC236}">
                    <a16:creationId xmlns:a16="http://schemas.microsoft.com/office/drawing/2014/main" id="{DC61F180-399A-442A-B589-55F87D41EF61}"/>
                  </a:ext>
                </a:extLst>
              </p:cNvPr>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4" name="TextBox 11">
                <a:extLst>
                  <a:ext uri="{FF2B5EF4-FFF2-40B4-BE49-F238E27FC236}">
                    <a16:creationId xmlns:a16="http://schemas.microsoft.com/office/drawing/2014/main" id="{B5D4807D-D07F-49A9-9923-DE76E1FDC516}"/>
                  </a:ext>
                </a:extLst>
              </p:cNvPr>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6" name="Group 12">
              <a:extLst>
                <a:ext uri="{FF2B5EF4-FFF2-40B4-BE49-F238E27FC236}">
                  <a16:creationId xmlns:a16="http://schemas.microsoft.com/office/drawing/2014/main" id="{BF0BC347-EEC1-49F0-86EE-7BEC22253DA5}"/>
                </a:ext>
              </a:extLst>
            </p:cNvPr>
            <p:cNvGrpSpPr/>
            <p:nvPr/>
          </p:nvGrpSpPr>
          <p:grpSpPr>
            <a:xfrm rot="-5400000">
              <a:off x="4113665" y="648900"/>
              <a:ext cx="3850426" cy="2552627"/>
              <a:chOff x="0" y="-38101"/>
              <a:chExt cx="1284254" cy="851392"/>
            </a:xfrm>
          </p:grpSpPr>
          <p:sp>
            <p:nvSpPr>
              <p:cNvPr id="51" name="Freeform 13">
                <a:extLst>
                  <a:ext uri="{FF2B5EF4-FFF2-40B4-BE49-F238E27FC236}">
                    <a16:creationId xmlns:a16="http://schemas.microsoft.com/office/drawing/2014/main" id="{017D880E-4EDA-4F5D-B592-4475A95B30C1}"/>
                  </a:ext>
                </a:extLst>
              </p:cNvPr>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2" name="TextBox 14">
                <a:extLst>
                  <a:ext uri="{FF2B5EF4-FFF2-40B4-BE49-F238E27FC236}">
                    <a16:creationId xmlns:a16="http://schemas.microsoft.com/office/drawing/2014/main" id="{0E100745-CD6E-470F-974A-CC7717F7291D}"/>
                  </a:ext>
                </a:extLst>
              </p:cNvPr>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7" name="Group 15">
              <a:extLst>
                <a:ext uri="{FF2B5EF4-FFF2-40B4-BE49-F238E27FC236}">
                  <a16:creationId xmlns:a16="http://schemas.microsoft.com/office/drawing/2014/main" id="{B5257120-6B24-4419-A577-5876DAC6F462}"/>
                </a:ext>
              </a:extLst>
            </p:cNvPr>
            <p:cNvGrpSpPr/>
            <p:nvPr/>
          </p:nvGrpSpPr>
          <p:grpSpPr>
            <a:xfrm rot="-5400000">
              <a:off x="6552071" y="648898"/>
              <a:ext cx="3850426" cy="2552630"/>
              <a:chOff x="0" y="-38101"/>
              <a:chExt cx="1284254" cy="851392"/>
            </a:xfrm>
          </p:grpSpPr>
          <p:sp>
            <p:nvSpPr>
              <p:cNvPr id="49" name="Freeform 16">
                <a:extLst>
                  <a:ext uri="{FF2B5EF4-FFF2-40B4-BE49-F238E27FC236}">
                    <a16:creationId xmlns:a16="http://schemas.microsoft.com/office/drawing/2014/main" id="{6B5E791D-D35F-42F6-8ED5-FA5D579FCAE1}"/>
                  </a:ext>
                </a:extLst>
              </p:cNvPr>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0" name="TextBox 17">
                <a:extLst>
                  <a:ext uri="{FF2B5EF4-FFF2-40B4-BE49-F238E27FC236}">
                    <a16:creationId xmlns:a16="http://schemas.microsoft.com/office/drawing/2014/main" id="{06106956-39B9-427A-9B91-BEA900E64EF4}"/>
                  </a:ext>
                </a:extLst>
              </p:cNvPr>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8" name="Group 18">
              <a:extLst>
                <a:ext uri="{FF2B5EF4-FFF2-40B4-BE49-F238E27FC236}">
                  <a16:creationId xmlns:a16="http://schemas.microsoft.com/office/drawing/2014/main" id="{CC3B8564-1383-4C44-BC09-8345D3418656}"/>
                </a:ext>
              </a:extLst>
            </p:cNvPr>
            <p:cNvGrpSpPr/>
            <p:nvPr/>
          </p:nvGrpSpPr>
          <p:grpSpPr>
            <a:xfrm rot="-5400000">
              <a:off x="-763130" y="648898"/>
              <a:ext cx="3850426" cy="2552630"/>
              <a:chOff x="0" y="-38100"/>
              <a:chExt cx="1284254" cy="851392"/>
            </a:xfrm>
          </p:grpSpPr>
          <p:sp>
            <p:nvSpPr>
              <p:cNvPr id="47" name="Freeform 19">
                <a:extLst>
                  <a:ext uri="{FF2B5EF4-FFF2-40B4-BE49-F238E27FC236}">
                    <a16:creationId xmlns:a16="http://schemas.microsoft.com/office/drawing/2014/main" id="{7C3A1132-1C06-41B5-B18F-F2EFF2FE38FF}"/>
                  </a:ext>
                </a:extLst>
              </p:cNvPr>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8" name="TextBox 20">
                <a:extLst>
                  <a:ext uri="{FF2B5EF4-FFF2-40B4-BE49-F238E27FC236}">
                    <a16:creationId xmlns:a16="http://schemas.microsoft.com/office/drawing/2014/main" id="{C20D7422-6584-4939-834E-A7A5949E601F}"/>
                  </a:ext>
                </a:extLst>
              </p:cNvPr>
              <p:cNvSpPr txBox="1"/>
              <p:nvPr/>
            </p:nvSpPr>
            <p:spPr>
              <a:xfrm>
                <a:off x="0"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29" name="Group 21">
              <a:extLst>
                <a:ext uri="{FF2B5EF4-FFF2-40B4-BE49-F238E27FC236}">
                  <a16:creationId xmlns:a16="http://schemas.microsoft.com/office/drawing/2014/main" id="{211AE1FA-BAE7-4456-A0AC-54F1A9D45BC5}"/>
                </a:ext>
              </a:extLst>
            </p:cNvPr>
            <p:cNvGrpSpPr/>
            <p:nvPr/>
          </p:nvGrpSpPr>
          <p:grpSpPr>
            <a:xfrm rot="-5400000">
              <a:off x="8990471" y="648898"/>
              <a:ext cx="3850426" cy="2552630"/>
              <a:chOff x="0" y="-38101"/>
              <a:chExt cx="1284254" cy="851392"/>
            </a:xfrm>
          </p:grpSpPr>
          <p:sp>
            <p:nvSpPr>
              <p:cNvPr id="45" name="Freeform 22">
                <a:extLst>
                  <a:ext uri="{FF2B5EF4-FFF2-40B4-BE49-F238E27FC236}">
                    <a16:creationId xmlns:a16="http://schemas.microsoft.com/office/drawing/2014/main" id="{30A43FD6-3182-474B-BCED-9FD0DA052A2D}"/>
                  </a:ext>
                </a:extLst>
              </p:cNvPr>
              <p:cNvSpPr/>
              <p:nvPr/>
            </p:nvSpPr>
            <p:spPr>
              <a:xfrm>
                <a:off x="0" y="-3"/>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6" name="TextBox 45">
                <a:extLst>
                  <a:ext uri="{FF2B5EF4-FFF2-40B4-BE49-F238E27FC236}">
                    <a16:creationId xmlns:a16="http://schemas.microsoft.com/office/drawing/2014/main" id="{0D78D798-F7FE-4CB5-B204-EE3B7D6004FE}"/>
                  </a:ext>
                </a:extLst>
              </p:cNvPr>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0" name="Group 24">
              <a:extLst>
                <a:ext uri="{FF2B5EF4-FFF2-40B4-BE49-F238E27FC236}">
                  <a16:creationId xmlns:a16="http://schemas.microsoft.com/office/drawing/2014/main" id="{067DD1E9-5C25-4521-92A3-2C3D5F0EF894}"/>
                </a:ext>
              </a:extLst>
            </p:cNvPr>
            <p:cNvGrpSpPr/>
            <p:nvPr/>
          </p:nvGrpSpPr>
          <p:grpSpPr>
            <a:xfrm rot="-5400000">
              <a:off x="11428870" y="648898"/>
              <a:ext cx="3850426" cy="2552630"/>
              <a:chOff x="0" y="-38102"/>
              <a:chExt cx="1284254" cy="851392"/>
            </a:xfrm>
          </p:grpSpPr>
          <p:sp>
            <p:nvSpPr>
              <p:cNvPr id="43" name="Freeform 25">
                <a:extLst>
                  <a:ext uri="{FF2B5EF4-FFF2-40B4-BE49-F238E27FC236}">
                    <a16:creationId xmlns:a16="http://schemas.microsoft.com/office/drawing/2014/main" id="{17139E4D-860E-4605-AB62-81DDD7BB66B5}"/>
                  </a:ext>
                </a:extLst>
              </p:cNvPr>
              <p:cNvSpPr/>
              <p:nvPr/>
            </p:nvSpPr>
            <p:spPr>
              <a:xfrm>
                <a:off x="0" y="-2"/>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4" name="TextBox 26">
                <a:extLst>
                  <a:ext uri="{FF2B5EF4-FFF2-40B4-BE49-F238E27FC236}">
                    <a16:creationId xmlns:a16="http://schemas.microsoft.com/office/drawing/2014/main" id="{364A4E55-79E2-4090-A9A3-01AD8350699B}"/>
                  </a:ext>
                </a:extLst>
              </p:cNvPr>
              <p:cNvSpPr txBox="1"/>
              <p:nvPr/>
            </p:nvSpPr>
            <p:spPr>
              <a:xfrm>
                <a:off x="0" y="-38102"/>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1" name="Group 27">
              <a:extLst>
                <a:ext uri="{FF2B5EF4-FFF2-40B4-BE49-F238E27FC236}">
                  <a16:creationId xmlns:a16="http://schemas.microsoft.com/office/drawing/2014/main" id="{62AD41EF-1719-4415-8CCC-1A8C58BC8F46}"/>
                </a:ext>
              </a:extLst>
            </p:cNvPr>
            <p:cNvGrpSpPr/>
            <p:nvPr/>
          </p:nvGrpSpPr>
          <p:grpSpPr>
            <a:xfrm rot="-5400000">
              <a:off x="13867279" y="648897"/>
              <a:ext cx="3850427" cy="2552630"/>
              <a:chOff x="0" y="-38100"/>
              <a:chExt cx="1284254" cy="851392"/>
            </a:xfrm>
          </p:grpSpPr>
          <p:sp>
            <p:nvSpPr>
              <p:cNvPr id="41" name="Freeform 28">
                <a:extLst>
                  <a:ext uri="{FF2B5EF4-FFF2-40B4-BE49-F238E27FC236}">
                    <a16:creationId xmlns:a16="http://schemas.microsoft.com/office/drawing/2014/main" id="{0CFF842F-AE2E-41DF-970F-6C4A232532D1}"/>
                  </a:ext>
                </a:extLst>
              </p:cNvPr>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2" name="TextBox 29">
                <a:extLst>
                  <a:ext uri="{FF2B5EF4-FFF2-40B4-BE49-F238E27FC236}">
                    <a16:creationId xmlns:a16="http://schemas.microsoft.com/office/drawing/2014/main" id="{BCA8C3FC-9064-4543-B47E-04FE584A0022}"/>
                  </a:ext>
                </a:extLst>
              </p:cNvPr>
              <p:cNvSpPr txBox="1"/>
              <p:nvPr/>
            </p:nvSpPr>
            <p:spPr>
              <a:xfrm>
                <a:off x="0" y="-3810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2" name="Group 30">
              <a:extLst>
                <a:ext uri="{FF2B5EF4-FFF2-40B4-BE49-F238E27FC236}">
                  <a16:creationId xmlns:a16="http://schemas.microsoft.com/office/drawing/2014/main" id="{B8D1AAB6-608A-46CE-BDA2-D5FAA8440A45}"/>
                </a:ext>
              </a:extLst>
            </p:cNvPr>
            <p:cNvGrpSpPr/>
            <p:nvPr/>
          </p:nvGrpSpPr>
          <p:grpSpPr>
            <a:xfrm rot="-5400000">
              <a:off x="16305668" y="648901"/>
              <a:ext cx="3850426" cy="2552626"/>
              <a:chOff x="0" y="-38098"/>
              <a:chExt cx="1284254" cy="851392"/>
            </a:xfrm>
          </p:grpSpPr>
          <p:sp>
            <p:nvSpPr>
              <p:cNvPr id="39" name="Freeform 31">
                <a:extLst>
                  <a:ext uri="{FF2B5EF4-FFF2-40B4-BE49-F238E27FC236}">
                    <a16:creationId xmlns:a16="http://schemas.microsoft.com/office/drawing/2014/main" id="{0AC57D1E-31BB-4362-A0AF-3D2F7D624A84}"/>
                  </a:ext>
                </a:extLst>
              </p:cNvPr>
              <p:cNvSpPr/>
              <p:nvPr/>
            </p:nvSpPr>
            <p:spPr>
              <a:xfrm>
                <a:off x="0" y="1"/>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Box 32">
                <a:extLst>
                  <a:ext uri="{FF2B5EF4-FFF2-40B4-BE49-F238E27FC236}">
                    <a16:creationId xmlns:a16="http://schemas.microsoft.com/office/drawing/2014/main" id="{EB651D4A-03FF-4F9B-B74F-4F1FF6CBA2AE}"/>
                  </a:ext>
                </a:extLst>
              </p:cNvPr>
              <p:cNvSpPr txBox="1"/>
              <p:nvPr/>
            </p:nvSpPr>
            <p:spPr>
              <a:xfrm>
                <a:off x="0" y="-38098"/>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3" name="Group 33">
              <a:extLst>
                <a:ext uri="{FF2B5EF4-FFF2-40B4-BE49-F238E27FC236}">
                  <a16:creationId xmlns:a16="http://schemas.microsoft.com/office/drawing/2014/main" id="{C82063D0-2CD7-4D6D-8400-DEA419DC6C81}"/>
                </a:ext>
              </a:extLst>
            </p:cNvPr>
            <p:cNvGrpSpPr/>
            <p:nvPr/>
          </p:nvGrpSpPr>
          <p:grpSpPr>
            <a:xfrm rot="-5400000">
              <a:off x="18744079" y="648898"/>
              <a:ext cx="3850426" cy="2552630"/>
              <a:chOff x="0" y="-38101"/>
              <a:chExt cx="1284254" cy="851392"/>
            </a:xfrm>
          </p:grpSpPr>
          <p:sp>
            <p:nvSpPr>
              <p:cNvPr id="37" name="Freeform 34">
                <a:extLst>
                  <a:ext uri="{FF2B5EF4-FFF2-40B4-BE49-F238E27FC236}">
                    <a16:creationId xmlns:a16="http://schemas.microsoft.com/office/drawing/2014/main" id="{9837B63E-5DDA-4989-8792-639098189D3E}"/>
                  </a:ext>
                </a:extLst>
              </p:cNvPr>
              <p:cNvSpPr/>
              <p:nvPr/>
            </p:nvSpPr>
            <p:spPr>
              <a:xfrm>
                <a:off x="0" y="-3"/>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8" name="TextBox 35">
                <a:extLst>
                  <a:ext uri="{FF2B5EF4-FFF2-40B4-BE49-F238E27FC236}">
                    <a16:creationId xmlns:a16="http://schemas.microsoft.com/office/drawing/2014/main" id="{5EE52F44-77B7-4AD1-9667-CA54B1F5866B}"/>
                  </a:ext>
                </a:extLst>
              </p:cNvPr>
              <p:cNvSpPr txBox="1"/>
              <p:nvPr/>
            </p:nvSpPr>
            <p:spPr>
              <a:xfrm>
                <a:off x="0" y="-38101"/>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34" name="Group 36">
              <a:extLst>
                <a:ext uri="{FF2B5EF4-FFF2-40B4-BE49-F238E27FC236}">
                  <a16:creationId xmlns:a16="http://schemas.microsoft.com/office/drawing/2014/main" id="{66D5FABC-B3BA-4707-BE4E-9ABB929AB7C5}"/>
                </a:ext>
              </a:extLst>
            </p:cNvPr>
            <p:cNvGrpSpPr/>
            <p:nvPr/>
          </p:nvGrpSpPr>
          <p:grpSpPr>
            <a:xfrm rot="-5400000">
              <a:off x="21182467" y="648896"/>
              <a:ext cx="3850426" cy="2552635"/>
              <a:chOff x="0" y="-38105"/>
              <a:chExt cx="1284254" cy="851394"/>
            </a:xfrm>
          </p:grpSpPr>
          <p:sp>
            <p:nvSpPr>
              <p:cNvPr id="35" name="Freeform 37">
                <a:extLst>
                  <a:ext uri="{FF2B5EF4-FFF2-40B4-BE49-F238E27FC236}">
                    <a16:creationId xmlns:a16="http://schemas.microsoft.com/office/drawing/2014/main" id="{5CBD4976-B2DC-4D87-B151-69321BAFB43A}"/>
                  </a:ext>
                </a:extLst>
              </p:cNvPr>
              <p:cNvSpPr/>
              <p:nvPr/>
            </p:nvSpPr>
            <p:spPr>
              <a:xfrm>
                <a:off x="0" y="-3"/>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6" name="TextBox 38">
                <a:extLst>
                  <a:ext uri="{FF2B5EF4-FFF2-40B4-BE49-F238E27FC236}">
                    <a16:creationId xmlns:a16="http://schemas.microsoft.com/office/drawing/2014/main" id="{8794D7C3-51CB-4F3F-A724-5CD394B3FA5A}"/>
                  </a:ext>
                </a:extLst>
              </p:cNvPr>
              <p:cNvSpPr txBox="1"/>
              <p:nvPr/>
            </p:nvSpPr>
            <p:spPr>
              <a:xfrm>
                <a:off x="0" y="-38105"/>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grpSp>
        <p:nvGrpSpPr>
          <p:cNvPr id="55" name="Group 8">
            <a:extLst>
              <a:ext uri="{FF2B5EF4-FFF2-40B4-BE49-F238E27FC236}">
                <a16:creationId xmlns:a16="http://schemas.microsoft.com/office/drawing/2014/main" id="{2524FD87-5729-4911-BD10-AD4F01928EC0}"/>
              </a:ext>
            </a:extLst>
          </p:cNvPr>
          <p:cNvGrpSpPr/>
          <p:nvPr/>
        </p:nvGrpSpPr>
        <p:grpSpPr>
          <a:xfrm>
            <a:off x="-179698" y="9093003"/>
            <a:ext cx="18525080" cy="1565037"/>
            <a:chOff x="-119999" y="11513766"/>
            <a:chExt cx="24498241" cy="3850437"/>
          </a:xfrm>
        </p:grpSpPr>
        <p:grpSp>
          <p:nvGrpSpPr>
            <p:cNvPr id="56" name="Group 9">
              <a:extLst>
                <a:ext uri="{FF2B5EF4-FFF2-40B4-BE49-F238E27FC236}">
                  <a16:creationId xmlns:a16="http://schemas.microsoft.com/office/drawing/2014/main" id="{486C1195-37CF-418F-9986-28AD8E953C55}"/>
                </a:ext>
              </a:extLst>
            </p:cNvPr>
            <p:cNvGrpSpPr/>
            <p:nvPr/>
          </p:nvGrpSpPr>
          <p:grpSpPr>
            <a:xfrm rot="-5400000">
              <a:off x="1669502" y="12162669"/>
              <a:ext cx="3850428" cy="2552630"/>
              <a:chOff x="-3840252" y="-40024"/>
              <a:chExt cx="1284255" cy="851392"/>
            </a:xfrm>
          </p:grpSpPr>
          <p:sp>
            <p:nvSpPr>
              <p:cNvPr id="84" name="Freeform 10">
                <a:extLst>
                  <a:ext uri="{FF2B5EF4-FFF2-40B4-BE49-F238E27FC236}">
                    <a16:creationId xmlns:a16="http://schemas.microsoft.com/office/drawing/2014/main" id="{CFB3ED48-8B1E-48C7-AD08-63A72D768229}"/>
                  </a:ext>
                </a:extLst>
              </p:cNvPr>
              <p:cNvSpPr/>
              <p:nvPr/>
            </p:nvSpPr>
            <p:spPr>
              <a:xfrm>
                <a:off x="-3840252" y="-1924"/>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85" name="TextBox 11">
                <a:extLst>
                  <a:ext uri="{FF2B5EF4-FFF2-40B4-BE49-F238E27FC236}">
                    <a16:creationId xmlns:a16="http://schemas.microsoft.com/office/drawing/2014/main" id="{DE726158-6D50-4234-9056-4F76FBF6DD2E}"/>
                  </a:ext>
                </a:extLst>
              </p:cNvPr>
              <p:cNvSpPr txBox="1"/>
              <p:nvPr/>
            </p:nvSpPr>
            <p:spPr>
              <a:xfrm>
                <a:off x="-3840252" y="-40024"/>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7" name="Group 12">
              <a:extLst>
                <a:ext uri="{FF2B5EF4-FFF2-40B4-BE49-F238E27FC236}">
                  <a16:creationId xmlns:a16="http://schemas.microsoft.com/office/drawing/2014/main" id="{0D42F367-12A6-44AC-8FC4-AFB737895FC0}"/>
                </a:ext>
              </a:extLst>
            </p:cNvPr>
            <p:cNvGrpSpPr/>
            <p:nvPr/>
          </p:nvGrpSpPr>
          <p:grpSpPr>
            <a:xfrm rot="-5400000">
              <a:off x="4107896" y="12162668"/>
              <a:ext cx="3850430" cy="2552627"/>
              <a:chOff x="-3840253" y="-40024"/>
              <a:chExt cx="1284256" cy="851392"/>
            </a:xfrm>
          </p:grpSpPr>
          <p:sp>
            <p:nvSpPr>
              <p:cNvPr id="82" name="Freeform 13">
                <a:extLst>
                  <a:ext uri="{FF2B5EF4-FFF2-40B4-BE49-F238E27FC236}">
                    <a16:creationId xmlns:a16="http://schemas.microsoft.com/office/drawing/2014/main" id="{175D1632-F63D-4F6B-AF95-849A25DBA415}"/>
                  </a:ext>
                </a:extLst>
              </p:cNvPr>
              <p:cNvSpPr/>
              <p:nvPr/>
            </p:nvSpPr>
            <p:spPr>
              <a:xfrm>
                <a:off x="-3840253" y="-1924"/>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83" name="TextBox 14">
                <a:extLst>
                  <a:ext uri="{FF2B5EF4-FFF2-40B4-BE49-F238E27FC236}">
                    <a16:creationId xmlns:a16="http://schemas.microsoft.com/office/drawing/2014/main" id="{C6077354-CB76-4FCF-B5B0-4197CF64B4FD}"/>
                  </a:ext>
                </a:extLst>
              </p:cNvPr>
              <p:cNvSpPr txBox="1"/>
              <p:nvPr/>
            </p:nvSpPr>
            <p:spPr>
              <a:xfrm>
                <a:off x="-3840252" y="-40024"/>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8" name="Group 15">
              <a:extLst>
                <a:ext uri="{FF2B5EF4-FFF2-40B4-BE49-F238E27FC236}">
                  <a16:creationId xmlns:a16="http://schemas.microsoft.com/office/drawing/2014/main" id="{989015AA-D1E6-4D6A-B889-67B0EE0DF071}"/>
                </a:ext>
              </a:extLst>
            </p:cNvPr>
            <p:cNvGrpSpPr/>
            <p:nvPr/>
          </p:nvGrpSpPr>
          <p:grpSpPr>
            <a:xfrm rot="-5400000">
              <a:off x="6546302" y="12162669"/>
              <a:ext cx="3850429" cy="2552630"/>
              <a:chOff x="-3840253" y="-40025"/>
              <a:chExt cx="1284255" cy="851392"/>
            </a:xfrm>
          </p:grpSpPr>
          <p:sp>
            <p:nvSpPr>
              <p:cNvPr id="80" name="Freeform 16">
                <a:extLst>
                  <a:ext uri="{FF2B5EF4-FFF2-40B4-BE49-F238E27FC236}">
                    <a16:creationId xmlns:a16="http://schemas.microsoft.com/office/drawing/2014/main" id="{A152750F-D4FC-4CC8-B6CD-99E76D74ED35}"/>
                  </a:ext>
                </a:extLst>
              </p:cNvPr>
              <p:cNvSpPr/>
              <p:nvPr/>
            </p:nvSpPr>
            <p:spPr>
              <a:xfrm>
                <a:off x="-3840253" y="-1925"/>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81" name="TextBox 17">
                <a:extLst>
                  <a:ext uri="{FF2B5EF4-FFF2-40B4-BE49-F238E27FC236}">
                    <a16:creationId xmlns:a16="http://schemas.microsoft.com/office/drawing/2014/main" id="{A35E0FE2-5076-43B0-894B-B96F71D948DA}"/>
                  </a:ext>
                </a:extLst>
              </p:cNvPr>
              <p:cNvSpPr txBox="1"/>
              <p:nvPr/>
            </p:nvSpPr>
            <p:spPr>
              <a:xfrm>
                <a:off x="-3840252" y="-40025"/>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59" name="Group 18">
              <a:extLst>
                <a:ext uri="{FF2B5EF4-FFF2-40B4-BE49-F238E27FC236}">
                  <a16:creationId xmlns:a16="http://schemas.microsoft.com/office/drawing/2014/main" id="{01BC5478-FCD5-44D0-9986-5E08F88FCC29}"/>
                </a:ext>
              </a:extLst>
            </p:cNvPr>
            <p:cNvGrpSpPr/>
            <p:nvPr/>
          </p:nvGrpSpPr>
          <p:grpSpPr>
            <a:xfrm rot="-5400000">
              <a:off x="-768898" y="12162668"/>
              <a:ext cx="3850428" cy="2552630"/>
              <a:chOff x="-3840253" y="-40023"/>
              <a:chExt cx="1284255" cy="851392"/>
            </a:xfrm>
          </p:grpSpPr>
          <p:sp>
            <p:nvSpPr>
              <p:cNvPr id="78" name="Freeform 19">
                <a:extLst>
                  <a:ext uri="{FF2B5EF4-FFF2-40B4-BE49-F238E27FC236}">
                    <a16:creationId xmlns:a16="http://schemas.microsoft.com/office/drawing/2014/main" id="{60DB2D68-1848-4DCA-8D17-59C5BC083C01}"/>
                  </a:ext>
                </a:extLst>
              </p:cNvPr>
              <p:cNvSpPr/>
              <p:nvPr/>
            </p:nvSpPr>
            <p:spPr>
              <a:xfrm>
                <a:off x="-3840253" y="-1925"/>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9" name="TextBox 20">
                <a:extLst>
                  <a:ext uri="{FF2B5EF4-FFF2-40B4-BE49-F238E27FC236}">
                    <a16:creationId xmlns:a16="http://schemas.microsoft.com/office/drawing/2014/main" id="{F81E1FE0-C0C5-40CA-8606-5F19B761A8B8}"/>
                  </a:ext>
                </a:extLst>
              </p:cNvPr>
              <p:cNvSpPr txBox="1"/>
              <p:nvPr/>
            </p:nvSpPr>
            <p:spPr>
              <a:xfrm>
                <a:off x="-3840252" y="-40023"/>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0" name="Group 21">
              <a:extLst>
                <a:ext uri="{FF2B5EF4-FFF2-40B4-BE49-F238E27FC236}">
                  <a16:creationId xmlns:a16="http://schemas.microsoft.com/office/drawing/2014/main" id="{A98185C4-DB89-4AA7-94AB-9EB14907E71A}"/>
                </a:ext>
              </a:extLst>
            </p:cNvPr>
            <p:cNvGrpSpPr/>
            <p:nvPr/>
          </p:nvGrpSpPr>
          <p:grpSpPr>
            <a:xfrm rot="-5400000">
              <a:off x="8984700" y="12162669"/>
              <a:ext cx="3850429" cy="2552630"/>
              <a:chOff x="-3840253" y="-40025"/>
              <a:chExt cx="1284255" cy="851392"/>
            </a:xfrm>
          </p:grpSpPr>
          <p:sp>
            <p:nvSpPr>
              <p:cNvPr id="76" name="Freeform 22">
                <a:extLst>
                  <a:ext uri="{FF2B5EF4-FFF2-40B4-BE49-F238E27FC236}">
                    <a16:creationId xmlns:a16="http://schemas.microsoft.com/office/drawing/2014/main" id="{05346C7A-7F68-4248-BC08-DDD23689E3C0}"/>
                  </a:ext>
                </a:extLst>
              </p:cNvPr>
              <p:cNvSpPr/>
              <p:nvPr/>
            </p:nvSpPr>
            <p:spPr>
              <a:xfrm>
                <a:off x="-3840253" y="-1927"/>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7" name="TextBox 76">
                <a:extLst>
                  <a:ext uri="{FF2B5EF4-FFF2-40B4-BE49-F238E27FC236}">
                    <a16:creationId xmlns:a16="http://schemas.microsoft.com/office/drawing/2014/main" id="{BE5BEBC5-623E-49EA-AC2C-5D5BC6B3D8EA}"/>
                  </a:ext>
                </a:extLst>
              </p:cNvPr>
              <p:cNvSpPr txBox="1"/>
              <p:nvPr/>
            </p:nvSpPr>
            <p:spPr>
              <a:xfrm>
                <a:off x="-3840252" y="-40025"/>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1" name="Group 24">
              <a:extLst>
                <a:ext uri="{FF2B5EF4-FFF2-40B4-BE49-F238E27FC236}">
                  <a16:creationId xmlns:a16="http://schemas.microsoft.com/office/drawing/2014/main" id="{E614E284-8DEE-4B31-98CA-93834A363FFD}"/>
                </a:ext>
              </a:extLst>
            </p:cNvPr>
            <p:cNvGrpSpPr/>
            <p:nvPr/>
          </p:nvGrpSpPr>
          <p:grpSpPr>
            <a:xfrm rot="-5400000">
              <a:off x="11423102" y="12162666"/>
              <a:ext cx="3850430" cy="2552630"/>
              <a:chOff x="-3840253" y="-40025"/>
              <a:chExt cx="1284256" cy="851392"/>
            </a:xfrm>
          </p:grpSpPr>
          <p:sp>
            <p:nvSpPr>
              <p:cNvPr id="74" name="Freeform 25">
                <a:extLst>
                  <a:ext uri="{FF2B5EF4-FFF2-40B4-BE49-F238E27FC236}">
                    <a16:creationId xmlns:a16="http://schemas.microsoft.com/office/drawing/2014/main" id="{4B63783E-B9C1-42C6-86FA-D7D30DBFA9BE}"/>
                  </a:ext>
                </a:extLst>
              </p:cNvPr>
              <p:cNvSpPr/>
              <p:nvPr/>
            </p:nvSpPr>
            <p:spPr>
              <a:xfrm>
                <a:off x="-3840252" y="-1926"/>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5" name="TextBox 26">
                <a:extLst>
                  <a:ext uri="{FF2B5EF4-FFF2-40B4-BE49-F238E27FC236}">
                    <a16:creationId xmlns:a16="http://schemas.microsoft.com/office/drawing/2014/main" id="{5904A1A5-E175-4279-9A14-0A1D9740CB98}"/>
                  </a:ext>
                </a:extLst>
              </p:cNvPr>
              <p:cNvSpPr txBox="1"/>
              <p:nvPr/>
            </p:nvSpPr>
            <p:spPr>
              <a:xfrm>
                <a:off x="-3840253" y="-40025"/>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2" name="Group 27">
              <a:extLst>
                <a:ext uri="{FF2B5EF4-FFF2-40B4-BE49-F238E27FC236}">
                  <a16:creationId xmlns:a16="http://schemas.microsoft.com/office/drawing/2014/main" id="{569B325E-3D55-4027-8EF5-2F83D35E3C2E}"/>
                </a:ext>
              </a:extLst>
            </p:cNvPr>
            <p:cNvGrpSpPr/>
            <p:nvPr/>
          </p:nvGrpSpPr>
          <p:grpSpPr>
            <a:xfrm rot="-5400000">
              <a:off x="13861512" y="12162675"/>
              <a:ext cx="3850427" cy="2552630"/>
              <a:chOff x="-3840254" y="-40023"/>
              <a:chExt cx="1284254" cy="851392"/>
            </a:xfrm>
          </p:grpSpPr>
          <p:sp>
            <p:nvSpPr>
              <p:cNvPr id="72" name="Freeform 28">
                <a:extLst>
                  <a:ext uri="{FF2B5EF4-FFF2-40B4-BE49-F238E27FC236}">
                    <a16:creationId xmlns:a16="http://schemas.microsoft.com/office/drawing/2014/main" id="{89B3D7C7-E792-44D5-AF58-8C3003E25566}"/>
                  </a:ext>
                </a:extLst>
              </p:cNvPr>
              <p:cNvSpPr/>
              <p:nvPr/>
            </p:nvSpPr>
            <p:spPr>
              <a:xfrm>
                <a:off x="-3840254" y="-1924"/>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3" name="TextBox 29">
                <a:extLst>
                  <a:ext uri="{FF2B5EF4-FFF2-40B4-BE49-F238E27FC236}">
                    <a16:creationId xmlns:a16="http://schemas.microsoft.com/office/drawing/2014/main" id="{8ECA7E6C-5864-450C-8AF6-FB9D8710ECF3}"/>
                  </a:ext>
                </a:extLst>
              </p:cNvPr>
              <p:cNvSpPr txBox="1"/>
              <p:nvPr/>
            </p:nvSpPr>
            <p:spPr>
              <a:xfrm>
                <a:off x="-3840253" y="-40023"/>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3" name="Group 30">
              <a:extLst>
                <a:ext uri="{FF2B5EF4-FFF2-40B4-BE49-F238E27FC236}">
                  <a16:creationId xmlns:a16="http://schemas.microsoft.com/office/drawing/2014/main" id="{DB1AF1C9-2F60-42FA-9F70-6051FA8B17E8}"/>
                </a:ext>
              </a:extLst>
            </p:cNvPr>
            <p:cNvGrpSpPr/>
            <p:nvPr/>
          </p:nvGrpSpPr>
          <p:grpSpPr>
            <a:xfrm rot="-5400000">
              <a:off x="16299906" y="12162677"/>
              <a:ext cx="3850427" cy="2552627"/>
              <a:chOff x="-3840254" y="-40020"/>
              <a:chExt cx="1284254" cy="851392"/>
            </a:xfrm>
          </p:grpSpPr>
          <p:sp>
            <p:nvSpPr>
              <p:cNvPr id="70" name="Freeform 31">
                <a:extLst>
                  <a:ext uri="{FF2B5EF4-FFF2-40B4-BE49-F238E27FC236}">
                    <a16:creationId xmlns:a16="http://schemas.microsoft.com/office/drawing/2014/main" id="{3917BCB4-FD9E-446B-BDA5-93F3B623EE67}"/>
                  </a:ext>
                </a:extLst>
              </p:cNvPr>
              <p:cNvSpPr/>
              <p:nvPr/>
            </p:nvSpPr>
            <p:spPr>
              <a:xfrm>
                <a:off x="-3840254" y="-1920"/>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1" name="TextBox 32">
                <a:extLst>
                  <a:ext uri="{FF2B5EF4-FFF2-40B4-BE49-F238E27FC236}">
                    <a16:creationId xmlns:a16="http://schemas.microsoft.com/office/drawing/2014/main" id="{B6AC6DCF-F5F2-4A3F-8B8A-125B3B63FF6E}"/>
                  </a:ext>
                </a:extLst>
              </p:cNvPr>
              <p:cNvSpPr txBox="1"/>
              <p:nvPr/>
            </p:nvSpPr>
            <p:spPr>
              <a:xfrm>
                <a:off x="-3840254" y="-40020"/>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4" name="Group 33">
              <a:extLst>
                <a:ext uri="{FF2B5EF4-FFF2-40B4-BE49-F238E27FC236}">
                  <a16:creationId xmlns:a16="http://schemas.microsoft.com/office/drawing/2014/main" id="{73FE0711-78BA-4C24-A5C7-C61728140F0F}"/>
                </a:ext>
              </a:extLst>
            </p:cNvPr>
            <p:cNvGrpSpPr/>
            <p:nvPr/>
          </p:nvGrpSpPr>
          <p:grpSpPr>
            <a:xfrm rot="-5400000">
              <a:off x="18738318" y="12162675"/>
              <a:ext cx="3850427" cy="2552630"/>
              <a:chOff x="-3840254" y="-40022"/>
              <a:chExt cx="1284254" cy="851392"/>
            </a:xfrm>
          </p:grpSpPr>
          <p:sp>
            <p:nvSpPr>
              <p:cNvPr id="68" name="Freeform 34">
                <a:extLst>
                  <a:ext uri="{FF2B5EF4-FFF2-40B4-BE49-F238E27FC236}">
                    <a16:creationId xmlns:a16="http://schemas.microsoft.com/office/drawing/2014/main" id="{A5507053-DD81-45F9-806C-85B530606811}"/>
                  </a:ext>
                </a:extLst>
              </p:cNvPr>
              <p:cNvSpPr/>
              <p:nvPr/>
            </p:nvSpPr>
            <p:spPr>
              <a:xfrm>
                <a:off x="-3840254" y="-1924"/>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9" name="TextBox 35">
                <a:extLst>
                  <a:ext uri="{FF2B5EF4-FFF2-40B4-BE49-F238E27FC236}">
                    <a16:creationId xmlns:a16="http://schemas.microsoft.com/office/drawing/2014/main" id="{DAC256A2-737F-4B14-86C1-D62D7F99D919}"/>
                  </a:ext>
                </a:extLst>
              </p:cNvPr>
              <p:cNvSpPr txBox="1"/>
              <p:nvPr/>
            </p:nvSpPr>
            <p:spPr>
              <a:xfrm>
                <a:off x="-3840254" y="-40022"/>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nvGrpSpPr>
            <p:cNvPr id="65" name="Group 36">
              <a:extLst>
                <a:ext uri="{FF2B5EF4-FFF2-40B4-BE49-F238E27FC236}">
                  <a16:creationId xmlns:a16="http://schemas.microsoft.com/office/drawing/2014/main" id="{D887502B-DF3D-4E05-BA9C-EEE0F376A1F2}"/>
                </a:ext>
              </a:extLst>
            </p:cNvPr>
            <p:cNvGrpSpPr/>
            <p:nvPr/>
          </p:nvGrpSpPr>
          <p:grpSpPr>
            <a:xfrm rot="-5400000">
              <a:off x="21176712" y="12162675"/>
              <a:ext cx="3850427" cy="2552630"/>
              <a:chOff x="-3840254" y="-40024"/>
              <a:chExt cx="1284254" cy="851392"/>
            </a:xfrm>
          </p:grpSpPr>
          <p:sp>
            <p:nvSpPr>
              <p:cNvPr id="66" name="Freeform 37">
                <a:extLst>
                  <a:ext uri="{FF2B5EF4-FFF2-40B4-BE49-F238E27FC236}">
                    <a16:creationId xmlns:a16="http://schemas.microsoft.com/office/drawing/2014/main" id="{1C2EF5F0-45EF-49AC-A339-3068CB64489F}"/>
                  </a:ext>
                </a:extLst>
              </p:cNvPr>
              <p:cNvSpPr/>
              <p:nvPr/>
            </p:nvSpPr>
            <p:spPr>
              <a:xfrm>
                <a:off x="-3840254" y="-1925"/>
                <a:ext cx="1284254" cy="813292"/>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7" name="TextBox 38">
                <a:extLst>
                  <a:ext uri="{FF2B5EF4-FFF2-40B4-BE49-F238E27FC236}">
                    <a16:creationId xmlns:a16="http://schemas.microsoft.com/office/drawing/2014/main" id="{3A09709B-55B4-41AB-9414-CDBE55D96404}"/>
                  </a:ext>
                </a:extLst>
              </p:cNvPr>
              <p:cNvSpPr txBox="1"/>
              <p:nvPr/>
            </p:nvSpPr>
            <p:spPr>
              <a:xfrm>
                <a:off x="-3840254" y="-40024"/>
                <a:ext cx="1284254" cy="85139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60"/>
                  </a:lnSpc>
                </a:pPr>
                <a:endParaRPr/>
              </a:p>
            </p:txBody>
          </p:sp>
        </p:grpSp>
      </p:grpSp>
    </p:spTree>
    <p:extLst>
      <p:ext uri="{BB962C8B-B14F-4D97-AF65-F5344CB8AC3E}">
        <p14:creationId xmlns:p14="http://schemas.microsoft.com/office/powerpoint/2010/main" val="266097189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8" name="Group 8"/>
          <p:cNvGrpSpPr/>
          <p:nvPr/>
        </p:nvGrpSpPr>
        <p:grpSpPr>
          <a:xfrm>
            <a:off x="0" y="-1859120"/>
            <a:ext cx="18288000" cy="2887820"/>
            <a:chOff x="0" y="0"/>
            <a:chExt cx="24384000" cy="3850426"/>
          </a:xfrm>
        </p:grpSpPr>
        <p:grpSp>
          <p:nvGrpSpPr>
            <p:cNvPr id="9" name="Group 9"/>
            <p:cNvGrpSpPr/>
            <p:nvPr/>
          </p:nvGrpSpPr>
          <p:grpSpPr>
            <a:xfrm rot="-5400000">
              <a:off x="1732387" y="706013"/>
              <a:ext cx="3850426" cy="2438400"/>
              <a:chOff x="0" y="0"/>
              <a:chExt cx="1284254" cy="813293"/>
            </a:xfrm>
          </p:grpSpPr>
          <p:sp>
            <p:nvSpPr>
              <p:cNvPr id="10" name="Freeform 1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1" name="TextBox 1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 name="Group 12"/>
            <p:cNvGrpSpPr/>
            <p:nvPr/>
          </p:nvGrpSpPr>
          <p:grpSpPr>
            <a:xfrm rot="-5400000">
              <a:off x="4170787" y="706013"/>
              <a:ext cx="3850426" cy="2438400"/>
              <a:chOff x="0" y="0"/>
              <a:chExt cx="1284254" cy="813293"/>
            </a:xfrm>
          </p:grpSpPr>
          <p:sp>
            <p:nvSpPr>
              <p:cNvPr id="13" name="Freeform 1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 name="TextBox 1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5" name="Group 15"/>
            <p:cNvGrpSpPr/>
            <p:nvPr/>
          </p:nvGrpSpPr>
          <p:grpSpPr>
            <a:xfrm rot="-5400000">
              <a:off x="6609187" y="706013"/>
              <a:ext cx="3850426" cy="2438400"/>
              <a:chOff x="0" y="0"/>
              <a:chExt cx="1284254" cy="813293"/>
            </a:xfrm>
          </p:grpSpPr>
          <p:sp>
            <p:nvSpPr>
              <p:cNvPr id="16" name="Freeform 1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 name="TextBox 1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8" name="Group 18"/>
            <p:cNvGrpSpPr/>
            <p:nvPr/>
          </p:nvGrpSpPr>
          <p:grpSpPr>
            <a:xfrm rot="-5400000">
              <a:off x="-706013" y="706013"/>
              <a:ext cx="3850426" cy="2438400"/>
              <a:chOff x="0" y="0"/>
              <a:chExt cx="1284254" cy="813293"/>
            </a:xfrm>
          </p:grpSpPr>
          <p:sp>
            <p:nvSpPr>
              <p:cNvPr id="19" name="Freeform 1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 name="TextBox 2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1" name="Group 21"/>
            <p:cNvGrpSpPr/>
            <p:nvPr/>
          </p:nvGrpSpPr>
          <p:grpSpPr>
            <a:xfrm rot="-5400000">
              <a:off x="9047587" y="706013"/>
              <a:ext cx="3850426" cy="2438400"/>
              <a:chOff x="0" y="0"/>
              <a:chExt cx="1284254" cy="813293"/>
            </a:xfrm>
          </p:grpSpPr>
          <p:sp>
            <p:nvSpPr>
              <p:cNvPr id="22" name="Freeform 2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 name="TextBox 2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4" name="Group 24"/>
            <p:cNvGrpSpPr/>
            <p:nvPr/>
          </p:nvGrpSpPr>
          <p:grpSpPr>
            <a:xfrm rot="-5400000">
              <a:off x="11485987" y="706013"/>
              <a:ext cx="3850426" cy="2438400"/>
              <a:chOff x="0" y="0"/>
              <a:chExt cx="1284254" cy="813293"/>
            </a:xfrm>
          </p:grpSpPr>
          <p:sp>
            <p:nvSpPr>
              <p:cNvPr id="25" name="Freeform 2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 name="TextBox 2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7" name="Group 27"/>
            <p:cNvGrpSpPr/>
            <p:nvPr/>
          </p:nvGrpSpPr>
          <p:grpSpPr>
            <a:xfrm rot="-5400000">
              <a:off x="13924387" y="706013"/>
              <a:ext cx="3850426" cy="2438400"/>
              <a:chOff x="0" y="0"/>
              <a:chExt cx="1284254" cy="813293"/>
            </a:xfrm>
          </p:grpSpPr>
          <p:sp>
            <p:nvSpPr>
              <p:cNvPr id="28" name="Freeform 2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 name="TextBox 2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0" name="Group 30"/>
            <p:cNvGrpSpPr/>
            <p:nvPr/>
          </p:nvGrpSpPr>
          <p:grpSpPr>
            <a:xfrm rot="-5400000">
              <a:off x="16362787" y="706013"/>
              <a:ext cx="3850426" cy="2438400"/>
              <a:chOff x="0" y="0"/>
              <a:chExt cx="1284254" cy="813293"/>
            </a:xfrm>
          </p:grpSpPr>
          <p:sp>
            <p:nvSpPr>
              <p:cNvPr id="31" name="Freeform 3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 name="TextBox 3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3" name="Group 33"/>
            <p:cNvGrpSpPr/>
            <p:nvPr/>
          </p:nvGrpSpPr>
          <p:grpSpPr>
            <a:xfrm rot="-5400000">
              <a:off x="18801187" y="706013"/>
              <a:ext cx="3850426" cy="2438400"/>
              <a:chOff x="0" y="0"/>
              <a:chExt cx="1284254" cy="813293"/>
            </a:xfrm>
          </p:grpSpPr>
          <p:sp>
            <p:nvSpPr>
              <p:cNvPr id="34" name="Freeform 3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5" name="TextBox 3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6" name="Group 36"/>
            <p:cNvGrpSpPr/>
            <p:nvPr/>
          </p:nvGrpSpPr>
          <p:grpSpPr>
            <a:xfrm rot="-5400000">
              <a:off x="21239587" y="706013"/>
              <a:ext cx="3850426" cy="2438400"/>
              <a:chOff x="0" y="0"/>
              <a:chExt cx="1284254" cy="813293"/>
            </a:xfrm>
          </p:grpSpPr>
          <p:sp>
            <p:nvSpPr>
              <p:cNvPr id="37" name="Freeform 3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8" name="TextBox 3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grpSp>
        <p:nvGrpSpPr>
          <p:cNvPr id="39" name="Group 39"/>
          <p:cNvGrpSpPr/>
          <p:nvPr/>
        </p:nvGrpSpPr>
        <p:grpSpPr>
          <a:xfrm>
            <a:off x="0" y="9258300"/>
            <a:ext cx="18288000" cy="2887820"/>
            <a:chOff x="0" y="0"/>
            <a:chExt cx="24384000" cy="3850426"/>
          </a:xfrm>
        </p:grpSpPr>
        <p:grpSp>
          <p:nvGrpSpPr>
            <p:cNvPr id="40" name="Group 40"/>
            <p:cNvGrpSpPr/>
            <p:nvPr/>
          </p:nvGrpSpPr>
          <p:grpSpPr>
            <a:xfrm rot="-5400000">
              <a:off x="1732387" y="706013"/>
              <a:ext cx="3850426" cy="2438400"/>
              <a:chOff x="0" y="0"/>
              <a:chExt cx="1284254" cy="813293"/>
            </a:xfrm>
          </p:grpSpPr>
          <p:sp>
            <p:nvSpPr>
              <p:cNvPr id="41" name="Freeform 4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2" name="TextBox 4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3" name="Group 43"/>
            <p:cNvGrpSpPr/>
            <p:nvPr/>
          </p:nvGrpSpPr>
          <p:grpSpPr>
            <a:xfrm rot="-5400000">
              <a:off x="4170787" y="706013"/>
              <a:ext cx="3850426" cy="2438400"/>
              <a:chOff x="0" y="0"/>
              <a:chExt cx="1284254" cy="813293"/>
            </a:xfrm>
          </p:grpSpPr>
          <p:sp>
            <p:nvSpPr>
              <p:cNvPr id="44" name="Freeform 4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5" name="TextBox 4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6" name="Group 46"/>
            <p:cNvGrpSpPr/>
            <p:nvPr/>
          </p:nvGrpSpPr>
          <p:grpSpPr>
            <a:xfrm rot="-5400000">
              <a:off x="6609187" y="706013"/>
              <a:ext cx="3850426" cy="2438400"/>
              <a:chOff x="0" y="0"/>
              <a:chExt cx="1284254" cy="813293"/>
            </a:xfrm>
          </p:grpSpPr>
          <p:sp>
            <p:nvSpPr>
              <p:cNvPr id="47" name="Freeform 4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8" name="TextBox 4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9" name="Group 49"/>
            <p:cNvGrpSpPr/>
            <p:nvPr/>
          </p:nvGrpSpPr>
          <p:grpSpPr>
            <a:xfrm rot="-5400000">
              <a:off x="-706013" y="706013"/>
              <a:ext cx="3850426" cy="2438400"/>
              <a:chOff x="0" y="0"/>
              <a:chExt cx="1284254" cy="813293"/>
            </a:xfrm>
          </p:grpSpPr>
          <p:sp>
            <p:nvSpPr>
              <p:cNvPr id="50" name="Freeform 5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1" name="TextBox 5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2" name="Group 52"/>
            <p:cNvGrpSpPr/>
            <p:nvPr/>
          </p:nvGrpSpPr>
          <p:grpSpPr>
            <a:xfrm rot="-5400000">
              <a:off x="9047587" y="706013"/>
              <a:ext cx="3850426" cy="2438400"/>
              <a:chOff x="0" y="0"/>
              <a:chExt cx="1284254" cy="813293"/>
            </a:xfrm>
          </p:grpSpPr>
          <p:sp>
            <p:nvSpPr>
              <p:cNvPr id="53" name="Freeform 5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4" name="TextBox 5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5" name="Group 55"/>
            <p:cNvGrpSpPr/>
            <p:nvPr/>
          </p:nvGrpSpPr>
          <p:grpSpPr>
            <a:xfrm rot="-5400000">
              <a:off x="11485987" y="706013"/>
              <a:ext cx="3850426" cy="2438400"/>
              <a:chOff x="0" y="0"/>
              <a:chExt cx="1284254" cy="813293"/>
            </a:xfrm>
          </p:grpSpPr>
          <p:sp>
            <p:nvSpPr>
              <p:cNvPr id="56" name="Freeform 5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7" name="TextBox 5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8" name="Group 58"/>
            <p:cNvGrpSpPr/>
            <p:nvPr/>
          </p:nvGrpSpPr>
          <p:grpSpPr>
            <a:xfrm rot="-5400000">
              <a:off x="13924387" y="706013"/>
              <a:ext cx="3850426" cy="2438400"/>
              <a:chOff x="0" y="0"/>
              <a:chExt cx="1284254" cy="813293"/>
            </a:xfrm>
          </p:grpSpPr>
          <p:sp>
            <p:nvSpPr>
              <p:cNvPr id="59" name="Freeform 5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0" name="TextBox 6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1" name="Group 61"/>
            <p:cNvGrpSpPr/>
            <p:nvPr/>
          </p:nvGrpSpPr>
          <p:grpSpPr>
            <a:xfrm rot="-5400000">
              <a:off x="16362787" y="706013"/>
              <a:ext cx="3850426" cy="2438400"/>
              <a:chOff x="0" y="0"/>
              <a:chExt cx="1284254" cy="813293"/>
            </a:xfrm>
          </p:grpSpPr>
          <p:sp>
            <p:nvSpPr>
              <p:cNvPr id="62" name="Freeform 6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3" name="TextBox 6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4" name="Group 64"/>
            <p:cNvGrpSpPr/>
            <p:nvPr/>
          </p:nvGrpSpPr>
          <p:grpSpPr>
            <a:xfrm rot="-5400000">
              <a:off x="18801187" y="706013"/>
              <a:ext cx="3850426" cy="2438400"/>
              <a:chOff x="0" y="0"/>
              <a:chExt cx="1284254" cy="813293"/>
            </a:xfrm>
          </p:grpSpPr>
          <p:sp>
            <p:nvSpPr>
              <p:cNvPr id="65" name="Freeform 6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6" name="TextBox 6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7" name="Group 67"/>
            <p:cNvGrpSpPr/>
            <p:nvPr/>
          </p:nvGrpSpPr>
          <p:grpSpPr>
            <a:xfrm rot="-5400000">
              <a:off x="21239587" y="706013"/>
              <a:ext cx="3850426" cy="2438400"/>
              <a:chOff x="0" y="0"/>
              <a:chExt cx="1284254" cy="813293"/>
            </a:xfrm>
          </p:grpSpPr>
          <p:sp>
            <p:nvSpPr>
              <p:cNvPr id="68" name="Freeform 6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9" name="TextBox 6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71" name="Freeform 71"/>
          <p:cNvSpPr/>
          <p:nvPr/>
        </p:nvSpPr>
        <p:spPr>
          <a:xfrm>
            <a:off x="13993068" y="5596420"/>
            <a:ext cx="2576528" cy="2576528"/>
          </a:xfrm>
          <a:custGeom>
            <a:avLst/>
            <a:gdLst/>
            <a:ahLst/>
            <a:cxnLst/>
            <a:rect l="l" t="t" r="r" b="b"/>
            <a:pathLst>
              <a:path w="2576528" h="2576528">
                <a:moveTo>
                  <a:pt x="0" y="0"/>
                </a:moveTo>
                <a:lnTo>
                  <a:pt x="2576527" y="0"/>
                </a:lnTo>
                <a:lnTo>
                  <a:pt x="2576527" y="2576528"/>
                </a:lnTo>
                <a:lnTo>
                  <a:pt x="0" y="25765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2" name="TextBox 71">
            <a:extLst>
              <a:ext uri="{FF2B5EF4-FFF2-40B4-BE49-F238E27FC236}">
                <a16:creationId xmlns:a16="http://schemas.microsoft.com/office/drawing/2014/main" id="{2E767D87-C82C-453F-83E4-2DDA67980271}"/>
              </a:ext>
            </a:extLst>
          </p:cNvPr>
          <p:cNvSpPr txBox="1"/>
          <p:nvPr/>
        </p:nvSpPr>
        <p:spPr>
          <a:xfrm>
            <a:off x="5487811" y="-822488"/>
            <a:ext cx="9187542" cy="144655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8800" b="1">
                <a:solidFill>
                  <a:schemeClr val="accent6">
                    <a:lumMod val="50000"/>
                  </a:schemeClr>
                </a:solidFill>
                <a:latin typeface="Calibri" panose="020F0502020204030204" pitchFamily="34" charset="0"/>
                <a:ea typeface="Calibri" panose="020F0502020204030204" pitchFamily="34" charset="0"/>
                <a:cs typeface="Calibri" pitchFamily="34" charset="-120"/>
              </a:rPr>
              <a:t>Habit 6: Synergize</a:t>
            </a:r>
            <a:endParaRPr lang="en-US" sz="8800">
              <a:solidFill>
                <a:schemeClr val="accent6">
                  <a:lumMod val="50000"/>
                </a:schemeClr>
              </a:solidFill>
            </a:endParaRPr>
          </a:p>
        </p:txBody>
      </p:sp>
      <p:sp>
        <p:nvSpPr>
          <p:cNvPr id="79" name="TextBox 78">
            <a:extLst>
              <a:ext uri="{FF2B5EF4-FFF2-40B4-BE49-F238E27FC236}">
                <a16:creationId xmlns:a16="http://schemas.microsoft.com/office/drawing/2014/main" id="{77AC0837-095B-4BA0-BD7E-BB4AD3B00D9F}"/>
              </a:ext>
            </a:extLst>
          </p:cNvPr>
          <p:cNvSpPr txBox="1"/>
          <p:nvPr/>
        </p:nvSpPr>
        <p:spPr>
          <a:xfrm>
            <a:off x="239487" y="963594"/>
            <a:ext cx="9187542"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3600" i="1">
                <a:solidFill>
                  <a:srgbClr val="4A4A4A"/>
                </a:solidFill>
                <a:latin typeface="Calibri" panose="020F0502020204030204" pitchFamily="34" charset="0"/>
                <a:ea typeface="Calibri" panose="020F0502020204030204" pitchFamily="34" charset="0"/>
                <a:cs typeface="Calibri" pitchFamily="34" charset="-120"/>
              </a:rPr>
              <a:t>Combining Strengths Through</a:t>
            </a:r>
            <a:endParaRPr lang="en-US" sz="3600"/>
          </a:p>
          <a:p>
            <a:pPr marL="0" indent="0" algn="l">
              <a:buNone/>
            </a:pPr>
            <a:r>
              <a:rPr lang="en-US" sz="3600" i="1">
                <a:solidFill>
                  <a:srgbClr val="4A4A4A"/>
                </a:solidFill>
                <a:latin typeface="Calibri" panose="020F0502020204030204" pitchFamily="34" charset="0"/>
                <a:ea typeface="Calibri" panose="020F0502020204030204" pitchFamily="34" charset="0"/>
                <a:cs typeface="Calibri" pitchFamily="34" charset="-120"/>
              </a:rPr>
              <a:t>Creative Cooperation</a:t>
            </a:r>
            <a:endParaRPr lang="en-US" sz="3600"/>
          </a:p>
        </p:txBody>
      </p:sp>
      <p:sp>
        <p:nvSpPr>
          <p:cNvPr id="80" name="TextBox 79">
            <a:extLst>
              <a:ext uri="{FF2B5EF4-FFF2-40B4-BE49-F238E27FC236}">
                <a16:creationId xmlns:a16="http://schemas.microsoft.com/office/drawing/2014/main" id="{1E65DD76-67A4-45AB-92C3-E1CFDBCDFF17}"/>
              </a:ext>
            </a:extLst>
          </p:cNvPr>
          <p:cNvSpPr txBox="1"/>
          <p:nvPr/>
        </p:nvSpPr>
        <p:spPr>
          <a:xfrm>
            <a:off x="174172" y="2962817"/>
            <a:ext cx="9220200"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a:solidFill>
                  <a:srgbClr val="1A1A1A"/>
                </a:solidFill>
                <a:latin typeface="Calibri" panose="020F0502020204030204" pitchFamily="34" charset="0"/>
                <a:ea typeface="Calibri" panose="020F0502020204030204" pitchFamily="34" charset="0"/>
                <a:cs typeface="Calibri" pitchFamily="34" charset="-120"/>
              </a:rPr>
              <a:t>Synergize means working together in a way that produces better results than working alone.</a:t>
            </a:r>
            <a:endParaRPr lang="en-US" sz="3600"/>
          </a:p>
        </p:txBody>
      </p:sp>
      <p:sp>
        <p:nvSpPr>
          <p:cNvPr id="82" name="TextBox 81">
            <a:extLst>
              <a:ext uri="{FF2B5EF4-FFF2-40B4-BE49-F238E27FC236}">
                <a16:creationId xmlns:a16="http://schemas.microsoft.com/office/drawing/2014/main" id="{0D34F508-3177-4398-8253-047C3574E485}"/>
              </a:ext>
            </a:extLst>
          </p:cNvPr>
          <p:cNvSpPr txBox="1"/>
          <p:nvPr/>
        </p:nvSpPr>
        <p:spPr>
          <a:xfrm>
            <a:off x="240898" y="2173458"/>
            <a:ext cx="9285514" cy="7694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400" b="1" i="1" u="sng">
                <a:solidFill>
                  <a:schemeClr val="accent2">
                    <a:lumMod val="50000"/>
                  </a:schemeClr>
                </a:solidFill>
                <a:latin typeface="Calibri" panose="020F0502020204030204" pitchFamily="34" charset="0"/>
                <a:ea typeface="Calibri" panose="020F0502020204030204" pitchFamily="34" charset="0"/>
                <a:cs typeface="Calibri" pitchFamily="34" charset="-120"/>
              </a:rPr>
              <a:t>What is Synergize?</a:t>
            </a:r>
            <a:endParaRPr lang="en-US" sz="4400" i="1" u="sng">
              <a:solidFill>
                <a:schemeClr val="accent2">
                  <a:lumMod val="50000"/>
                </a:schemeClr>
              </a:solidFill>
            </a:endParaRPr>
          </a:p>
        </p:txBody>
      </p:sp>
      <p:sp>
        <p:nvSpPr>
          <p:cNvPr id="83" name="TextBox 82">
            <a:extLst>
              <a:ext uri="{FF2B5EF4-FFF2-40B4-BE49-F238E27FC236}">
                <a16:creationId xmlns:a16="http://schemas.microsoft.com/office/drawing/2014/main" id="{58690D39-4218-4DC2-8DFA-817E997E0C2A}"/>
              </a:ext>
            </a:extLst>
          </p:cNvPr>
          <p:cNvSpPr txBox="1"/>
          <p:nvPr/>
        </p:nvSpPr>
        <p:spPr>
          <a:xfrm>
            <a:off x="371527" y="4586524"/>
            <a:ext cx="9285514" cy="280076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400" b="1" i="1" u="sng">
                <a:solidFill>
                  <a:schemeClr val="accent2">
                    <a:lumMod val="50000"/>
                  </a:schemeClr>
                </a:solidFill>
                <a:latin typeface="Calibri" panose="020F0502020204030204" pitchFamily="34" charset="0"/>
                <a:ea typeface="Calibri" panose="020F0502020204030204" pitchFamily="34" charset="0"/>
                <a:cs typeface="Calibri" pitchFamily="34" charset="-120"/>
              </a:rPr>
              <a:t>Easy Definition:</a:t>
            </a:r>
            <a:r>
              <a:rPr lang="en-US" sz="4400" b="1">
                <a:solidFill>
                  <a:srgbClr val="2E7D32"/>
                </a:solidFill>
                <a:latin typeface="Calibri" panose="020F0502020204030204" pitchFamily="34" charset="0"/>
                <a:ea typeface="Calibri" panose="020F0502020204030204" pitchFamily="34" charset="0"/>
                <a:cs typeface="Calibri" pitchFamily="34" charset="-120"/>
              </a:rPr>
              <a:t> </a:t>
            </a:r>
            <a:r>
              <a:rPr lang="en-US" sz="4400" i="1">
                <a:solidFill>
                  <a:srgbClr val="4A4A4A"/>
                </a:solidFill>
                <a:latin typeface="Calibri" panose="020F0502020204030204" pitchFamily="34" charset="0"/>
                <a:ea typeface="Calibri" panose="020F0502020204030204" pitchFamily="34" charset="0"/>
                <a:cs typeface="Calibri" pitchFamily="34" charset="-120"/>
              </a:rPr>
              <a:t>Synergize is when people combine their ideas, skills, and efforts to achieve a result that is greater than individual work.</a:t>
            </a:r>
            <a:endParaRPr lang="en-US" sz="44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
            <a:extLst>
              <a:ext uri="{FF2B5EF4-FFF2-40B4-BE49-F238E27FC236}">
                <a16:creationId xmlns:a16="http://schemas.microsoft.com/office/drawing/2014/main" id="{207448A3-AF38-4E3B-A81A-BE0303CB61FF}"/>
              </a:ext>
            </a:extLst>
          </p:cNvPr>
          <p:cNvGrpSpPr/>
          <p:nvPr/>
        </p:nvGrpSpPr>
        <p:grpSpPr>
          <a:xfrm rot="-5400000">
            <a:off x="-1706087" y="2857501"/>
            <a:ext cx="8839200" cy="6019798"/>
            <a:chOff x="0" y="-38100"/>
            <a:chExt cx="1284254" cy="851393"/>
          </a:xfrm>
        </p:grpSpPr>
        <p:sp>
          <p:nvSpPr>
            <p:cNvPr id="3" name="Freeform 10">
              <a:extLst>
                <a:ext uri="{FF2B5EF4-FFF2-40B4-BE49-F238E27FC236}">
                  <a16:creationId xmlns:a16="http://schemas.microsoft.com/office/drawing/2014/main" id="{866511AC-542F-4580-B454-5A2F5C94820B}"/>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 name="TextBox 11">
              <a:extLst>
                <a:ext uri="{FF2B5EF4-FFF2-40B4-BE49-F238E27FC236}">
                  <a16:creationId xmlns:a16="http://schemas.microsoft.com/office/drawing/2014/main" id="{0CBE7C41-90BC-4DC0-AC29-A22936E75AA4}"/>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 name="Group 3">
            <a:extLst>
              <a:ext uri="{FF2B5EF4-FFF2-40B4-BE49-F238E27FC236}">
                <a16:creationId xmlns:a16="http://schemas.microsoft.com/office/drawing/2014/main" id="{6F6ACC37-B014-41DC-84D8-C641452DACE6}"/>
              </a:ext>
            </a:extLst>
          </p:cNvPr>
          <p:cNvGrpSpPr/>
          <p:nvPr/>
        </p:nvGrpSpPr>
        <p:grpSpPr>
          <a:xfrm rot="-5400000">
            <a:off x="10563580" y="2570699"/>
            <a:ext cx="9105900" cy="6326701"/>
            <a:chOff x="0" y="0"/>
            <a:chExt cx="1284254" cy="813293"/>
          </a:xfrm>
        </p:grpSpPr>
        <p:sp>
          <p:nvSpPr>
            <p:cNvPr id="6" name="Freeform 4">
              <a:extLst>
                <a:ext uri="{FF2B5EF4-FFF2-40B4-BE49-F238E27FC236}">
                  <a16:creationId xmlns:a16="http://schemas.microsoft.com/office/drawing/2014/main" id="{1F98FBB1-D69A-495F-8747-BA1D27E6D3CE}"/>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 name="TextBox 5">
              <a:extLst>
                <a:ext uri="{FF2B5EF4-FFF2-40B4-BE49-F238E27FC236}">
                  <a16:creationId xmlns:a16="http://schemas.microsoft.com/office/drawing/2014/main" id="{55E7A783-489C-4A7C-83C5-DA6211D1D8ED}"/>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8" name="Group 5">
            <a:extLst>
              <a:ext uri="{FF2B5EF4-FFF2-40B4-BE49-F238E27FC236}">
                <a16:creationId xmlns:a16="http://schemas.microsoft.com/office/drawing/2014/main" id="{752797A7-B792-4BA4-AD1F-EA56DCA4CDA7}"/>
              </a:ext>
            </a:extLst>
          </p:cNvPr>
          <p:cNvGrpSpPr/>
          <p:nvPr/>
        </p:nvGrpSpPr>
        <p:grpSpPr>
          <a:xfrm rot="-5400000">
            <a:off x="4410763" y="2795623"/>
            <a:ext cx="8860972" cy="6165321"/>
            <a:chOff x="0" y="0"/>
            <a:chExt cx="1284254" cy="813293"/>
          </a:xfrm>
        </p:grpSpPr>
        <p:sp>
          <p:nvSpPr>
            <p:cNvPr id="9" name="Freeform 6">
              <a:extLst>
                <a:ext uri="{FF2B5EF4-FFF2-40B4-BE49-F238E27FC236}">
                  <a16:creationId xmlns:a16="http://schemas.microsoft.com/office/drawing/2014/main" id="{9C833C85-3198-498C-A6FA-2687C557C65A}"/>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TextBox 7">
              <a:extLst>
                <a:ext uri="{FF2B5EF4-FFF2-40B4-BE49-F238E27FC236}">
                  <a16:creationId xmlns:a16="http://schemas.microsoft.com/office/drawing/2014/main" id="{D68B513F-99A9-404C-B2A2-E9259A5E772B}"/>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sp>
        <p:nvSpPr>
          <p:cNvPr id="12" name="TextBox 11">
            <a:extLst>
              <a:ext uri="{FF2B5EF4-FFF2-40B4-BE49-F238E27FC236}">
                <a16:creationId xmlns:a16="http://schemas.microsoft.com/office/drawing/2014/main" id="{01CA6825-533A-4C9D-947F-6AF524B5CAFC}"/>
              </a:ext>
            </a:extLst>
          </p:cNvPr>
          <p:cNvSpPr txBox="1"/>
          <p:nvPr/>
        </p:nvSpPr>
        <p:spPr>
          <a:xfrm>
            <a:off x="-296387" y="205727"/>
            <a:ext cx="17602200" cy="7694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400" b="1" i="1" u="sng">
                <a:solidFill>
                  <a:schemeClr val="accent2">
                    <a:lumMod val="50000"/>
                  </a:schemeClr>
                </a:solidFill>
                <a:latin typeface="Calibri" panose="020F0502020204030204" pitchFamily="34" charset="0"/>
                <a:ea typeface="Calibri" panose="020F0502020204030204" pitchFamily="34" charset="0"/>
                <a:cs typeface="Calibri" pitchFamily="34" charset="-120"/>
              </a:rPr>
              <a:t>How to Practice Synergy, Barriers &amp; Conclusion</a:t>
            </a:r>
            <a:endParaRPr lang="en-US" sz="4400" i="1" u="sng">
              <a:solidFill>
                <a:schemeClr val="accent2">
                  <a:lumMod val="50000"/>
                </a:schemeClr>
              </a:solidFill>
            </a:endParaRPr>
          </a:p>
        </p:txBody>
      </p:sp>
      <p:sp>
        <p:nvSpPr>
          <p:cNvPr id="14" name="TextBox 13">
            <a:extLst>
              <a:ext uri="{FF2B5EF4-FFF2-40B4-BE49-F238E27FC236}">
                <a16:creationId xmlns:a16="http://schemas.microsoft.com/office/drawing/2014/main" id="{C768AB11-4F53-4553-93CF-22392F950DF7}"/>
              </a:ext>
            </a:extLst>
          </p:cNvPr>
          <p:cNvSpPr txBox="1"/>
          <p:nvPr/>
        </p:nvSpPr>
        <p:spPr>
          <a:xfrm>
            <a:off x="342434" y="2719760"/>
            <a:ext cx="5291361" cy="24237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300"/>
              </a:spcAft>
              <a:buSzTx/>
              <a:buChar char="■"/>
            </a:pPr>
            <a:r>
              <a:rPr lang="en-US" sz="3600">
                <a:solidFill>
                  <a:srgbClr val="1A1A1A"/>
                </a:solidFill>
                <a:latin typeface="Calibri" panose="020F0502020204030204" pitchFamily="34" charset="0"/>
                <a:ea typeface="Calibri" panose="020F0502020204030204" pitchFamily="34" charset="0"/>
                <a:cs typeface="Calibri" pitchFamily="34" charset="-120"/>
              </a:rPr>
              <a:t>Be open-minded</a:t>
            </a:r>
            <a:endParaRPr lang="en-US" sz="3600"/>
          </a:p>
          <a:p>
            <a:pPr marL="342900" indent="-342900">
              <a:spcAft>
                <a:spcPts val="300"/>
              </a:spcAft>
              <a:buSzTx/>
              <a:buChar char="■"/>
            </a:pPr>
            <a:r>
              <a:rPr lang="en-US" sz="3600">
                <a:solidFill>
                  <a:srgbClr val="1A1A1A"/>
                </a:solidFill>
                <a:latin typeface="Calibri" panose="020F0502020204030204" pitchFamily="34" charset="0"/>
                <a:ea typeface="Calibri" panose="020F0502020204030204" pitchFamily="34" charset="0"/>
                <a:cs typeface="Calibri" pitchFamily="34" charset="-120"/>
              </a:rPr>
              <a:t>Listen actively</a:t>
            </a:r>
            <a:endParaRPr lang="en-US" sz="3600"/>
          </a:p>
          <a:p>
            <a:pPr marL="342900" indent="-342900">
              <a:spcAft>
                <a:spcPts val="300"/>
              </a:spcAft>
              <a:buSzTx/>
              <a:buChar char="■"/>
            </a:pPr>
            <a:r>
              <a:rPr lang="en-US" sz="3600">
                <a:solidFill>
                  <a:srgbClr val="1A1A1A"/>
                </a:solidFill>
                <a:latin typeface="Calibri" panose="020F0502020204030204" pitchFamily="34" charset="0"/>
                <a:ea typeface="Calibri" panose="020F0502020204030204" pitchFamily="34" charset="0"/>
                <a:cs typeface="Calibri" pitchFamily="34" charset="-120"/>
              </a:rPr>
              <a:t>Respect differences</a:t>
            </a:r>
            <a:endParaRPr lang="en-US" sz="3600"/>
          </a:p>
          <a:p>
            <a:pPr marL="342900" indent="-342900">
              <a:spcAft>
                <a:spcPts val="300"/>
              </a:spcAft>
              <a:buSzTx/>
              <a:buChar char="■"/>
            </a:pPr>
            <a:r>
              <a:rPr lang="en-US" sz="3600">
                <a:solidFill>
                  <a:srgbClr val="1A1A1A"/>
                </a:solidFill>
                <a:latin typeface="Calibri" panose="020F0502020204030204" pitchFamily="34" charset="0"/>
                <a:ea typeface="Calibri" panose="020F0502020204030204" pitchFamily="34" charset="0"/>
                <a:cs typeface="Calibri" pitchFamily="34" charset="-120"/>
              </a:rPr>
              <a:t>Focus on shared goals</a:t>
            </a:r>
            <a:endParaRPr lang="en-US" sz="3600"/>
          </a:p>
        </p:txBody>
      </p:sp>
      <p:sp>
        <p:nvSpPr>
          <p:cNvPr id="16" name="TextBox 15">
            <a:extLst>
              <a:ext uri="{FF2B5EF4-FFF2-40B4-BE49-F238E27FC236}">
                <a16:creationId xmlns:a16="http://schemas.microsoft.com/office/drawing/2014/main" id="{CCD8ED50-B712-4953-9DB4-1B6A7C37CAA9}"/>
              </a:ext>
            </a:extLst>
          </p:cNvPr>
          <p:cNvSpPr txBox="1"/>
          <p:nvPr/>
        </p:nvSpPr>
        <p:spPr>
          <a:xfrm>
            <a:off x="794929" y="1818063"/>
            <a:ext cx="4188448" cy="7694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400" b="1" i="1" u="sng">
                <a:solidFill>
                  <a:schemeClr val="accent2">
                    <a:lumMod val="50000"/>
                  </a:schemeClr>
                </a:solidFill>
                <a:latin typeface="Calibri" panose="020F0502020204030204" pitchFamily="34" charset="0"/>
                <a:ea typeface="Calibri" panose="020F0502020204030204" pitchFamily="34" charset="0"/>
                <a:cs typeface="Calibri" pitchFamily="34" charset="-120"/>
              </a:rPr>
              <a:t>How to Practice</a:t>
            </a:r>
            <a:endParaRPr lang="en-US" sz="4400" i="1" u="sng">
              <a:solidFill>
                <a:schemeClr val="accent2">
                  <a:lumMod val="50000"/>
                </a:schemeClr>
              </a:solidFill>
            </a:endParaRPr>
          </a:p>
        </p:txBody>
      </p:sp>
      <p:pic>
        <p:nvPicPr>
          <p:cNvPr id="17" name="Image 0" descr="preencoded.png">
            <a:extLst>
              <a:ext uri="{FF2B5EF4-FFF2-40B4-BE49-F238E27FC236}">
                <a16:creationId xmlns:a16="http://schemas.microsoft.com/office/drawing/2014/main" id="{9EB9A7A4-E893-4DE7-A76F-D0BF0D2FB211}"/>
              </a:ext>
            </a:extLst>
          </p:cNvPr>
          <p:cNvPicPr>
            <a:picLocks noChangeAspect="1"/>
          </p:cNvPicPr>
          <p:nvPr/>
        </p:nvPicPr>
        <p:blipFill>
          <a:blip r:embed="rId2"/>
          <a:stretch>
            <a:fillRect/>
          </a:stretch>
        </p:blipFill>
        <p:spPr>
          <a:xfrm>
            <a:off x="-12564" y="5275756"/>
            <a:ext cx="5735977" cy="3903719"/>
          </a:xfrm>
          <a:prstGeom prst="rect">
            <a:avLst/>
          </a:prstGeom>
        </p:spPr>
      </p:pic>
      <p:sp>
        <p:nvSpPr>
          <p:cNvPr id="21" name="TextBox 20">
            <a:extLst>
              <a:ext uri="{FF2B5EF4-FFF2-40B4-BE49-F238E27FC236}">
                <a16:creationId xmlns:a16="http://schemas.microsoft.com/office/drawing/2014/main" id="{E14735E5-E8A3-4CBA-8DFB-E1BC18E9CC16}"/>
              </a:ext>
            </a:extLst>
          </p:cNvPr>
          <p:cNvSpPr txBox="1"/>
          <p:nvPr/>
        </p:nvSpPr>
        <p:spPr>
          <a:xfrm>
            <a:off x="6019797" y="2719760"/>
            <a:ext cx="5634235" cy="242374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300"/>
              </a:spcAft>
              <a:buSzTx/>
              <a:buChar char="■"/>
            </a:pPr>
            <a:r>
              <a:rPr lang="en-US" sz="3600">
                <a:solidFill>
                  <a:srgbClr val="1A1A1A"/>
                </a:solidFill>
                <a:latin typeface="Calibri" panose="020F0502020204030204" pitchFamily="34" charset="0"/>
                <a:ea typeface="Calibri" panose="020F0502020204030204" pitchFamily="34" charset="0"/>
                <a:cs typeface="Calibri" pitchFamily="34" charset="-120"/>
              </a:rPr>
              <a:t>Ego, lack of trust</a:t>
            </a:r>
            <a:endParaRPr lang="en-US" sz="3600"/>
          </a:p>
          <a:p>
            <a:pPr marL="342900" indent="-342900">
              <a:spcAft>
                <a:spcPts val="300"/>
              </a:spcAft>
              <a:buSzTx/>
              <a:buChar char="■"/>
            </a:pPr>
            <a:r>
              <a:rPr lang="en-US" sz="3600">
                <a:solidFill>
                  <a:srgbClr val="1A1A1A"/>
                </a:solidFill>
                <a:latin typeface="Calibri" panose="020F0502020204030204" pitchFamily="34" charset="0"/>
                <a:ea typeface="Calibri" panose="020F0502020204030204" pitchFamily="34" charset="0"/>
                <a:cs typeface="Calibri" pitchFamily="34" charset="-120"/>
              </a:rPr>
              <a:t>Poor communication</a:t>
            </a:r>
            <a:endParaRPr lang="en-US" sz="3600"/>
          </a:p>
          <a:p>
            <a:pPr marL="342900" indent="-342900">
              <a:spcAft>
                <a:spcPts val="300"/>
              </a:spcAft>
              <a:buSzTx/>
              <a:buChar char="■"/>
            </a:pPr>
            <a:r>
              <a:rPr lang="en-US" sz="3600">
                <a:solidFill>
                  <a:srgbClr val="1A1A1A"/>
                </a:solidFill>
                <a:latin typeface="Calibri" panose="020F0502020204030204" pitchFamily="34" charset="0"/>
                <a:ea typeface="Calibri" panose="020F0502020204030204" pitchFamily="34" charset="0"/>
                <a:cs typeface="Calibri" pitchFamily="34" charset="-120"/>
              </a:rPr>
              <a:t>Lack of openness</a:t>
            </a:r>
            <a:endParaRPr lang="en-US" sz="3600"/>
          </a:p>
          <a:p>
            <a:pPr marL="342900" indent="-342900">
              <a:spcAft>
                <a:spcPts val="300"/>
              </a:spcAft>
              <a:buSzTx/>
              <a:buChar char="■"/>
            </a:pPr>
            <a:r>
              <a:rPr lang="en-US" sz="3600">
                <a:solidFill>
                  <a:srgbClr val="1A1A1A"/>
                </a:solidFill>
                <a:latin typeface="Calibri" panose="020F0502020204030204" pitchFamily="34" charset="0"/>
                <a:ea typeface="Calibri" panose="020F0502020204030204" pitchFamily="34" charset="0"/>
                <a:cs typeface="Calibri" pitchFamily="34" charset="-120"/>
              </a:rPr>
              <a:t>Seeking power over others</a:t>
            </a:r>
            <a:endParaRPr lang="en-US" sz="3600"/>
          </a:p>
        </p:txBody>
      </p:sp>
      <p:sp>
        <p:nvSpPr>
          <p:cNvPr id="23" name="TextBox 22">
            <a:extLst>
              <a:ext uri="{FF2B5EF4-FFF2-40B4-BE49-F238E27FC236}">
                <a16:creationId xmlns:a16="http://schemas.microsoft.com/office/drawing/2014/main" id="{1992C1E4-C135-4D90-911C-F1ED14A673D9}"/>
              </a:ext>
            </a:extLst>
          </p:cNvPr>
          <p:cNvSpPr txBox="1"/>
          <p:nvPr/>
        </p:nvSpPr>
        <p:spPr>
          <a:xfrm>
            <a:off x="6466618" y="1704086"/>
            <a:ext cx="4944221" cy="7694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400" b="1" i="1" u="sng">
                <a:solidFill>
                  <a:schemeClr val="accent2">
                    <a:lumMod val="50000"/>
                  </a:schemeClr>
                </a:solidFill>
                <a:latin typeface="Calibri" panose="020F0502020204030204" pitchFamily="34" charset="0"/>
                <a:ea typeface="Calibri" panose="020F0502020204030204" pitchFamily="34" charset="0"/>
                <a:cs typeface="Calibri" pitchFamily="34" charset="-120"/>
              </a:rPr>
              <a:t>Barriers to Synergy</a:t>
            </a:r>
            <a:endParaRPr lang="en-US" sz="4400" i="1" u="sng">
              <a:solidFill>
                <a:schemeClr val="accent2">
                  <a:lumMod val="50000"/>
                </a:schemeClr>
              </a:solidFill>
            </a:endParaRPr>
          </a:p>
        </p:txBody>
      </p:sp>
      <p:pic>
        <p:nvPicPr>
          <p:cNvPr id="24" name="Image 1" descr="preencoded.png">
            <a:extLst>
              <a:ext uri="{FF2B5EF4-FFF2-40B4-BE49-F238E27FC236}">
                <a16:creationId xmlns:a16="http://schemas.microsoft.com/office/drawing/2014/main" id="{7E56DF6A-F5F7-442F-847F-89281B6719A6}"/>
              </a:ext>
            </a:extLst>
          </p:cNvPr>
          <p:cNvPicPr>
            <a:picLocks noChangeAspect="1"/>
          </p:cNvPicPr>
          <p:nvPr/>
        </p:nvPicPr>
        <p:blipFill>
          <a:blip r:embed="rId3"/>
          <a:stretch>
            <a:fillRect/>
          </a:stretch>
        </p:blipFill>
        <p:spPr>
          <a:xfrm>
            <a:off x="5828636" y="5263762"/>
            <a:ext cx="6046921" cy="4179376"/>
          </a:xfrm>
          <a:prstGeom prst="rect">
            <a:avLst/>
          </a:prstGeom>
        </p:spPr>
      </p:pic>
      <p:sp>
        <p:nvSpPr>
          <p:cNvPr id="26" name="TextBox 25">
            <a:extLst>
              <a:ext uri="{FF2B5EF4-FFF2-40B4-BE49-F238E27FC236}">
                <a16:creationId xmlns:a16="http://schemas.microsoft.com/office/drawing/2014/main" id="{89B6328A-5B46-4864-8D69-A5698BBCC9CA}"/>
              </a:ext>
            </a:extLst>
          </p:cNvPr>
          <p:cNvSpPr txBox="1"/>
          <p:nvPr/>
        </p:nvSpPr>
        <p:spPr>
          <a:xfrm>
            <a:off x="13767992" y="1653946"/>
            <a:ext cx="4482578" cy="7694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400" b="1" i="1" u="sng">
                <a:solidFill>
                  <a:schemeClr val="accent2">
                    <a:lumMod val="50000"/>
                  </a:schemeClr>
                </a:solidFill>
                <a:latin typeface="Calibri" panose="020F0502020204030204" pitchFamily="34" charset="0"/>
                <a:ea typeface="Calibri" panose="020F0502020204030204" pitchFamily="34" charset="0"/>
                <a:cs typeface="Calibri" pitchFamily="34" charset="-120"/>
              </a:rPr>
              <a:t>Conclusion</a:t>
            </a:r>
            <a:endParaRPr lang="en-US" sz="4400" i="1" u="sng">
              <a:solidFill>
                <a:schemeClr val="accent2">
                  <a:lumMod val="50000"/>
                </a:schemeClr>
              </a:solidFill>
            </a:endParaRPr>
          </a:p>
        </p:txBody>
      </p:sp>
      <p:sp>
        <p:nvSpPr>
          <p:cNvPr id="28" name="TextBox 27">
            <a:extLst>
              <a:ext uri="{FF2B5EF4-FFF2-40B4-BE49-F238E27FC236}">
                <a16:creationId xmlns:a16="http://schemas.microsoft.com/office/drawing/2014/main" id="{4D055358-D823-4A57-92D5-D07D13D9BE7F}"/>
              </a:ext>
            </a:extLst>
          </p:cNvPr>
          <p:cNvSpPr txBox="1"/>
          <p:nvPr/>
        </p:nvSpPr>
        <p:spPr>
          <a:xfrm>
            <a:off x="11993958" y="2738996"/>
            <a:ext cx="7132242" cy="238526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71500" indent="-571500">
              <a:spcAft>
                <a:spcPts val="300"/>
              </a:spcAft>
              <a:buSzTx/>
              <a:buFont typeface="Wingdings" panose="05000000000000000000" pitchFamily="2" charset="2"/>
              <a:buChar char="§"/>
            </a:pPr>
            <a:r>
              <a:rPr lang="en-US" sz="3600">
                <a:solidFill>
                  <a:srgbClr val="1A1A1A"/>
                </a:solidFill>
                <a:latin typeface="Calibri" panose="020F0502020204030204" pitchFamily="34" charset="0"/>
                <a:ea typeface="Calibri" panose="020F0502020204030204" pitchFamily="34" charset="0"/>
                <a:cs typeface="Calibri" pitchFamily="34" charset="-120"/>
              </a:rPr>
              <a:t>Value differences in others</a:t>
            </a:r>
            <a:endParaRPr lang="en-US" sz="3600"/>
          </a:p>
          <a:p>
            <a:pPr marL="571500" indent="-571500">
              <a:spcAft>
                <a:spcPts val="300"/>
              </a:spcAft>
              <a:buSzTx/>
              <a:buFont typeface="Wingdings" panose="05000000000000000000" pitchFamily="2" charset="2"/>
              <a:buChar char="§"/>
            </a:pPr>
            <a:r>
              <a:rPr lang="en-US" sz="3600">
                <a:solidFill>
                  <a:srgbClr val="1A1A1A"/>
                </a:solidFill>
                <a:latin typeface="Calibri" panose="020F0502020204030204" pitchFamily="34" charset="0"/>
                <a:ea typeface="Calibri" panose="020F0502020204030204" pitchFamily="34" charset="0"/>
                <a:cs typeface="Calibri" pitchFamily="34" charset="-120"/>
              </a:rPr>
              <a:t>Collaboration = Extraordinary results</a:t>
            </a:r>
            <a:endParaRPr lang="en-US" sz="3600"/>
          </a:p>
          <a:p>
            <a:pPr marL="571500" indent="-571500">
              <a:spcAft>
                <a:spcPts val="300"/>
              </a:spcAft>
              <a:buSzTx/>
              <a:buFont typeface="Wingdings" panose="05000000000000000000" pitchFamily="2" charset="2"/>
              <a:buChar char="§"/>
            </a:pPr>
            <a:r>
              <a:rPr lang="en-US" sz="3600">
                <a:solidFill>
                  <a:srgbClr val="1A1A1A"/>
                </a:solidFill>
                <a:latin typeface="Calibri" panose="020F0502020204030204" pitchFamily="34" charset="0"/>
                <a:ea typeface="Calibri" panose="020F0502020204030204" pitchFamily="34" charset="0"/>
                <a:cs typeface="Calibri" pitchFamily="34" charset="-120"/>
              </a:rPr>
              <a:t>Synergy builds stronger teams</a:t>
            </a:r>
            <a:endParaRPr lang="en-US" sz="3600"/>
          </a:p>
        </p:txBody>
      </p:sp>
      <p:pic>
        <p:nvPicPr>
          <p:cNvPr id="29" name="Image 2" descr="preencoded.png">
            <a:extLst>
              <a:ext uri="{FF2B5EF4-FFF2-40B4-BE49-F238E27FC236}">
                <a16:creationId xmlns:a16="http://schemas.microsoft.com/office/drawing/2014/main" id="{38299A90-6129-4704-8EC5-569304EFF7B0}"/>
              </a:ext>
            </a:extLst>
          </p:cNvPr>
          <p:cNvPicPr>
            <a:picLocks noChangeAspect="1"/>
          </p:cNvPicPr>
          <p:nvPr/>
        </p:nvPicPr>
        <p:blipFill>
          <a:blip r:embed="rId4"/>
          <a:stretch>
            <a:fillRect/>
          </a:stretch>
        </p:blipFill>
        <p:spPr>
          <a:xfrm>
            <a:off x="11953178" y="5275756"/>
            <a:ext cx="6454146" cy="4167382"/>
          </a:xfrm>
          <a:prstGeom prst="rect">
            <a:avLst/>
          </a:prstGeom>
        </p:spPr>
      </p:pic>
    </p:spTree>
    <p:extLst>
      <p:ext uri="{BB962C8B-B14F-4D97-AF65-F5344CB8AC3E}">
        <p14:creationId xmlns:p14="http://schemas.microsoft.com/office/powerpoint/2010/main" val="310687421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39" name="Group 3">
            <a:extLst>
              <a:ext uri="{FF2B5EF4-FFF2-40B4-BE49-F238E27FC236}">
                <a16:creationId xmlns:a16="http://schemas.microsoft.com/office/drawing/2014/main" id="{6C803A48-D00D-4C3E-A8B9-9B415DACDCE9}"/>
              </a:ext>
            </a:extLst>
          </p:cNvPr>
          <p:cNvGrpSpPr/>
          <p:nvPr/>
        </p:nvGrpSpPr>
        <p:grpSpPr>
          <a:xfrm rot="-5400000">
            <a:off x="10465380" y="2805839"/>
            <a:ext cx="9105900" cy="6623085"/>
            <a:chOff x="0" y="-38100"/>
            <a:chExt cx="1284254" cy="851393"/>
          </a:xfrm>
        </p:grpSpPr>
        <p:sp>
          <p:nvSpPr>
            <p:cNvPr id="40" name="Freeform 4">
              <a:extLst>
                <a:ext uri="{FF2B5EF4-FFF2-40B4-BE49-F238E27FC236}">
                  <a16:creationId xmlns:a16="http://schemas.microsoft.com/office/drawing/2014/main" id="{FC8C1208-A924-432D-9994-86C76FFEEB2F}"/>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1" name="TextBox 5">
              <a:extLst>
                <a:ext uri="{FF2B5EF4-FFF2-40B4-BE49-F238E27FC236}">
                  <a16:creationId xmlns:a16="http://schemas.microsoft.com/office/drawing/2014/main" id="{7ED208FF-BD3B-4EDE-B897-24C14821FE29}"/>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0" name="Group 5">
            <a:extLst>
              <a:ext uri="{FF2B5EF4-FFF2-40B4-BE49-F238E27FC236}">
                <a16:creationId xmlns:a16="http://schemas.microsoft.com/office/drawing/2014/main" id="{017BCD63-D0DE-4726-915B-A31BE1BDB263}"/>
              </a:ext>
            </a:extLst>
          </p:cNvPr>
          <p:cNvGrpSpPr/>
          <p:nvPr/>
        </p:nvGrpSpPr>
        <p:grpSpPr>
          <a:xfrm rot="-5400000">
            <a:off x="-1450888" y="2773855"/>
            <a:ext cx="8860972" cy="6165321"/>
            <a:chOff x="0" y="0"/>
            <a:chExt cx="1284254" cy="813293"/>
          </a:xfrm>
        </p:grpSpPr>
        <p:sp>
          <p:nvSpPr>
            <p:cNvPr id="51" name="Freeform 6">
              <a:extLst>
                <a:ext uri="{FF2B5EF4-FFF2-40B4-BE49-F238E27FC236}">
                  <a16:creationId xmlns:a16="http://schemas.microsoft.com/office/drawing/2014/main" id="{F2603B2A-570A-4778-A1B5-3B09859598E8}"/>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2" name="TextBox 7">
              <a:extLst>
                <a:ext uri="{FF2B5EF4-FFF2-40B4-BE49-F238E27FC236}">
                  <a16:creationId xmlns:a16="http://schemas.microsoft.com/office/drawing/2014/main" id="{E0C822C4-48DE-4331-8EFE-553DAF2B0804}"/>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3" name="Group 9">
            <a:extLst>
              <a:ext uri="{FF2B5EF4-FFF2-40B4-BE49-F238E27FC236}">
                <a16:creationId xmlns:a16="http://schemas.microsoft.com/office/drawing/2014/main" id="{C0D6C3D5-020F-42EF-8F96-890CC8ECDF71}"/>
              </a:ext>
            </a:extLst>
          </p:cNvPr>
          <p:cNvGrpSpPr/>
          <p:nvPr/>
        </p:nvGrpSpPr>
        <p:grpSpPr>
          <a:xfrm rot="-5400000">
            <a:off x="4646662" y="2960966"/>
            <a:ext cx="8590966" cy="6061101"/>
            <a:chOff x="0" y="-38100"/>
            <a:chExt cx="1284254" cy="851393"/>
          </a:xfrm>
        </p:grpSpPr>
        <p:sp>
          <p:nvSpPr>
            <p:cNvPr id="54" name="Freeform 10">
              <a:extLst>
                <a:ext uri="{FF2B5EF4-FFF2-40B4-BE49-F238E27FC236}">
                  <a16:creationId xmlns:a16="http://schemas.microsoft.com/office/drawing/2014/main" id="{31F29CA8-0A41-4632-B004-86A1C8E4F3EC}"/>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 name="TextBox 11">
              <a:extLst>
                <a:ext uri="{FF2B5EF4-FFF2-40B4-BE49-F238E27FC236}">
                  <a16:creationId xmlns:a16="http://schemas.microsoft.com/office/drawing/2014/main" id="{C4C11B41-EB0B-4FBE-B7F4-9BC45F746B16}"/>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sp>
        <p:nvSpPr>
          <p:cNvPr id="57" name="TextBox 56">
            <a:extLst>
              <a:ext uri="{FF2B5EF4-FFF2-40B4-BE49-F238E27FC236}">
                <a16:creationId xmlns:a16="http://schemas.microsoft.com/office/drawing/2014/main" id="{221DED26-E770-4221-A441-00EFACFB3F88}"/>
              </a:ext>
            </a:extLst>
          </p:cNvPr>
          <p:cNvSpPr txBox="1"/>
          <p:nvPr/>
        </p:nvSpPr>
        <p:spPr>
          <a:xfrm>
            <a:off x="4472354" y="11014"/>
            <a:ext cx="9343292"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b="1" i="1" u="sng">
                <a:solidFill>
                  <a:schemeClr val="accent2">
                    <a:lumMod val="50000"/>
                  </a:schemeClr>
                </a:solidFill>
                <a:latin typeface="Calibri" panose="020F0502020204030204" pitchFamily="34" charset="0"/>
                <a:ea typeface="Calibri" panose="020F0502020204030204" pitchFamily="34" charset="0"/>
                <a:cs typeface="Calibri" pitchFamily="34" charset="-120"/>
              </a:rPr>
              <a:t>Importance &amp; Types of Interaction</a:t>
            </a:r>
            <a:endParaRPr lang="en-US" sz="4800" i="1" u="sng">
              <a:solidFill>
                <a:schemeClr val="accent2">
                  <a:lumMod val="50000"/>
                </a:schemeClr>
              </a:solidFill>
            </a:endParaRPr>
          </a:p>
        </p:txBody>
      </p:sp>
      <p:sp>
        <p:nvSpPr>
          <p:cNvPr id="59" name="TextBox 58">
            <a:extLst>
              <a:ext uri="{FF2B5EF4-FFF2-40B4-BE49-F238E27FC236}">
                <a16:creationId xmlns:a16="http://schemas.microsoft.com/office/drawing/2014/main" id="{4DF52FEB-3CC9-45DF-A484-4DCD8DD5C879}"/>
              </a:ext>
            </a:extLst>
          </p:cNvPr>
          <p:cNvSpPr txBox="1"/>
          <p:nvPr/>
        </p:nvSpPr>
        <p:spPr>
          <a:xfrm>
            <a:off x="6056397" y="2823884"/>
            <a:ext cx="6326702" cy="332398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Aft>
                <a:spcPts val="400"/>
              </a:spcAft>
              <a:buSzTx/>
              <a:buChar char="■"/>
            </a:pPr>
            <a:r>
              <a:rPr lang="en-US" sz="4000">
                <a:solidFill>
                  <a:srgbClr val="1A1A1A"/>
                </a:solidFill>
                <a:latin typeface="Calibri" panose="020F0502020204030204" pitchFamily="34" charset="0"/>
                <a:ea typeface="Calibri" panose="020F0502020204030204" pitchFamily="34" charset="0"/>
                <a:cs typeface="Calibri" pitchFamily="34" charset="-120"/>
              </a:rPr>
              <a:t>Improves teamwork</a:t>
            </a:r>
            <a:endParaRPr lang="en-US" sz="4000"/>
          </a:p>
          <a:p>
            <a:pPr marL="342900" indent="-342900">
              <a:spcAft>
                <a:spcPts val="400"/>
              </a:spcAft>
              <a:buSzTx/>
              <a:buChar char="■"/>
            </a:pPr>
            <a:r>
              <a:rPr lang="en-US" sz="4000">
                <a:solidFill>
                  <a:srgbClr val="1A1A1A"/>
                </a:solidFill>
                <a:latin typeface="Calibri" panose="020F0502020204030204" pitchFamily="34" charset="0"/>
                <a:ea typeface="Calibri" panose="020F0502020204030204" pitchFamily="34" charset="0"/>
                <a:cs typeface="Calibri" pitchFamily="34" charset="-120"/>
              </a:rPr>
              <a:t>Creates better solutions</a:t>
            </a:r>
            <a:endParaRPr lang="en-US" sz="4000"/>
          </a:p>
          <a:p>
            <a:pPr marL="342900" indent="-342900">
              <a:spcAft>
                <a:spcPts val="400"/>
              </a:spcAft>
              <a:buSzTx/>
              <a:buChar char="■"/>
            </a:pPr>
            <a:r>
              <a:rPr lang="en-US" sz="4000">
                <a:solidFill>
                  <a:srgbClr val="1A1A1A"/>
                </a:solidFill>
                <a:latin typeface="Calibri" panose="020F0502020204030204" pitchFamily="34" charset="0"/>
                <a:ea typeface="Calibri" panose="020F0502020204030204" pitchFamily="34" charset="0"/>
                <a:cs typeface="Calibri" pitchFamily="34" charset="-120"/>
              </a:rPr>
              <a:t>Boosts creativity &amp; innovation</a:t>
            </a:r>
            <a:endParaRPr lang="en-US" sz="4000"/>
          </a:p>
          <a:p>
            <a:pPr marL="342900" indent="-342900">
              <a:spcAft>
                <a:spcPts val="400"/>
              </a:spcAft>
              <a:buSzTx/>
              <a:buChar char="■"/>
            </a:pPr>
            <a:r>
              <a:rPr lang="en-US" sz="4000">
                <a:solidFill>
                  <a:srgbClr val="1A1A1A"/>
                </a:solidFill>
                <a:latin typeface="Calibri" panose="020F0502020204030204" pitchFamily="34" charset="0"/>
                <a:ea typeface="Calibri" panose="020F0502020204030204" pitchFamily="34" charset="0"/>
                <a:cs typeface="Calibri" pitchFamily="34" charset="-120"/>
              </a:rPr>
              <a:t>Builds strong relationships</a:t>
            </a:r>
            <a:endParaRPr lang="en-US" sz="4000"/>
          </a:p>
        </p:txBody>
      </p:sp>
      <p:sp>
        <p:nvSpPr>
          <p:cNvPr id="61" name="TextBox 60">
            <a:extLst>
              <a:ext uri="{FF2B5EF4-FFF2-40B4-BE49-F238E27FC236}">
                <a16:creationId xmlns:a16="http://schemas.microsoft.com/office/drawing/2014/main" id="{CDD0A1CC-8332-4B7E-86CC-D042C0C8E4A8}"/>
              </a:ext>
            </a:extLst>
          </p:cNvPr>
          <p:cNvSpPr txBox="1"/>
          <p:nvPr/>
        </p:nvSpPr>
        <p:spPr>
          <a:xfrm>
            <a:off x="6617223" y="2199730"/>
            <a:ext cx="9519138"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b="1" i="1" u="sng">
                <a:solidFill>
                  <a:srgbClr val="351413"/>
                </a:solidFill>
                <a:latin typeface="Calibri" panose="020F0502020204030204" pitchFamily="34" charset="0"/>
                <a:ea typeface="Calibri" panose="020F0502020204030204" pitchFamily="34" charset="0"/>
                <a:cs typeface="Calibri" pitchFamily="34" charset="-120"/>
              </a:rPr>
              <a:t>Why Synergy is Important</a:t>
            </a:r>
            <a:endParaRPr lang="en-US" sz="3600" i="1" u="sng">
              <a:solidFill>
                <a:srgbClr val="351413"/>
              </a:solidFill>
            </a:endParaRPr>
          </a:p>
        </p:txBody>
      </p:sp>
      <p:sp>
        <p:nvSpPr>
          <p:cNvPr id="63" name="TextBox 62">
            <a:extLst>
              <a:ext uri="{FF2B5EF4-FFF2-40B4-BE49-F238E27FC236}">
                <a16:creationId xmlns:a16="http://schemas.microsoft.com/office/drawing/2014/main" id="{901FF838-133E-4963-BA07-71102980A5EA}"/>
              </a:ext>
            </a:extLst>
          </p:cNvPr>
          <p:cNvSpPr txBox="1"/>
          <p:nvPr/>
        </p:nvSpPr>
        <p:spPr>
          <a:xfrm>
            <a:off x="13178351" y="2115998"/>
            <a:ext cx="4728709" cy="70788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u="sng">
                <a:solidFill>
                  <a:schemeClr val="accent2">
                    <a:lumMod val="50000"/>
                  </a:schemeClr>
                </a:solidFill>
                <a:latin typeface="Calibri" panose="020F0502020204030204" pitchFamily="34" charset="0"/>
                <a:ea typeface="Calibri" panose="020F0502020204030204" pitchFamily="34" charset="0"/>
                <a:cs typeface="Calibri" pitchFamily="34" charset="-120"/>
              </a:rPr>
              <a:t>Types of Interaction</a:t>
            </a:r>
            <a:endParaRPr lang="en-US" sz="4000" u="sng">
              <a:solidFill>
                <a:schemeClr val="accent2">
                  <a:lumMod val="50000"/>
                </a:schemeClr>
              </a:solidFill>
            </a:endParaRPr>
          </a:p>
        </p:txBody>
      </p:sp>
      <p:sp>
        <p:nvSpPr>
          <p:cNvPr id="64" name="Shape 20">
            <a:extLst>
              <a:ext uri="{FF2B5EF4-FFF2-40B4-BE49-F238E27FC236}">
                <a16:creationId xmlns:a16="http://schemas.microsoft.com/office/drawing/2014/main" id="{5CB509CA-A414-4C61-B011-B7262FCF9C4A}"/>
              </a:ext>
            </a:extLst>
          </p:cNvPr>
          <p:cNvSpPr/>
          <p:nvPr/>
        </p:nvSpPr>
        <p:spPr>
          <a:xfrm>
            <a:off x="12365735" y="3448038"/>
            <a:ext cx="5513389" cy="1263693"/>
          </a:xfrm>
          <a:prstGeom prst="rect">
            <a:avLst/>
          </a:prstGeom>
          <a:solidFill>
            <a:srgbClr val="FFF3E0"/>
          </a:solidFill>
          <a:ln w="12700">
            <a:solidFill>
              <a:srgbClr val="E6510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5" name="Shape 22">
            <a:extLst>
              <a:ext uri="{FF2B5EF4-FFF2-40B4-BE49-F238E27FC236}">
                <a16:creationId xmlns:a16="http://schemas.microsoft.com/office/drawing/2014/main" id="{B6662397-3E8B-40B6-AE41-4716EE147CEC}"/>
              </a:ext>
            </a:extLst>
          </p:cNvPr>
          <p:cNvSpPr/>
          <p:nvPr/>
        </p:nvSpPr>
        <p:spPr>
          <a:xfrm>
            <a:off x="12274112" y="7582382"/>
            <a:ext cx="5894086" cy="1473392"/>
          </a:xfrm>
          <a:prstGeom prst="rect">
            <a:avLst/>
          </a:prstGeom>
          <a:solidFill>
            <a:srgbClr val="C8E6C9"/>
          </a:solidFill>
          <a:ln w="12700">
            <a:solidFill>
              <a:srgbClr val="4CAF5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6" name="Shape 18">
            <a:extLst>
              <a:ext uri="{FF2B5EF4-FFF2-40B4-BE49-F238E27FC236}">
                <a16:creationId xmlns:a16="http://schemas.microsoft.com/office/drawing/2014/main" id="{F3DD1F3F-A08E-40F1-B88F-41A25A83D40F}"/>
              </a:ext>
            </a:extLst>
          </p:cNvPr>
          <p:cNvSpPr/>
          <p:nvPr/>
        </p:nvSpPr>
        <p:spPr>
          <a:xfrm>
            <a:off x="12377138" y="5401714"/>
            <a:ext cx="5513389" cy="1473392"/>
          </a:xfrm>
          <a:prstGeom prst="rect">
            <a:avLst/>
          </a:prstGeom>
          <a:solidFill>
            <a:srgbClr val="FFEBEE"/>
          </a:solidFill>
          <a:ln w="12700">
            <a:solidFill>
              <a:srgbClr val="D32F2F"/>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8" name="TextBox 67">
            <a:extLst>
              <a:ext uri="{FF2B5EF4-FFF2-40B4-BE49-F238E27FC236}">
                <a16:creationId xmlns:a16="http://schemas.microsoft.com/office/drawing/2014/main" id="{31DFC66D-201D-4F5B-859D-DD439FC1A586}"/>
              </a:ext>
            </a:extLst>
          </p:cNvPr>
          <p:cNvSpPr txBox="1"/>
          <p:nvPr/>
        </p:nvSpPr>
        <p:spPr>
          <a:xfrm>
            <a:off x="12813284" y="3743356"/>
            <a:ext cx="4407916"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a:solidFill>
                  <a:srgbClr val="D32F2F"/>
                </a:solidFill>
                <a:latin typeface="Calibri" panose="020F0502020204030204" pitchFamily="34" charset="0"/>
                <a:ea typeface="Calibri" panose="020F0502020204030204" pitchFamily="34" charset="0"/>
                <a:cs typeface="Calibri" pitchFamily="34" charset="-120"/>
              </a:rPr>
              <a:t>Defensive: </a:t>
            </a:r>
            <a:r>
              <a:rPr lang="en-US" sz="3600">
                <a:solidFill>
                  <a:srgbClr val="1A1A1A"/>
                </a:solidFill>
                <a:latin typeface="Calibri" panose="020F0502020204030204" pitchFamily="34" charset="0"/>
                <a:ea typeface="Calibri" panose="020F0502020204030204" pitchFamily="34" charset="0"/>
                <a:cs typeface="Calibri" pitchFamily="34" charset="-120"/>
              </a:rPr>
              <a:t>Win / Lose</a:t>
            </a:r>
            <a:endParaRPr lang="en-US" sz="3600"/>
          </a:p>
        </p:txBody>
      </p:sp>
      <p:sp>
        <p:nvSpPr>
          <p:cNvPr id="70" name="TextBox 69">
            <a:extLst>
              <a:ext uri="{FF2B5EF4-FFF2-40B4-BE49-F238E27FC236}">
                <a16:creationId xmlns:a16="http://schemas.microsoft.com/office/drawing/2014/main" id="{5FFD21B7-A19A-4B61-81F9-4B5D0E8E179A}"/>
              </a:ext>
            </a:extLst>
          </p:cNvPr>
          <p:cNvSpPr txBox="1"/>
          <p:nvPr/>
        </p:nvSpPr>
        <p:spPr>
          <a:xfrm>
            <a:off x="12516308" y="5856514"/>
            <a:ext cx="5390751" cy="70788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1">
                <a:solidFill>
                  <a:srgbClr val="E65100"/>
                </a:solidFill>
                <a:latin typeface="Calibri" panose="020F0502020204030204" pitchFamily="34" charset="0"/>
                <a:ea typeface="Calibri" panose="020F0502020204030204" pitchFamily="34" charset="0"/>
                <a:cs typeface="Calibri" pitchFamily="34" charset="-120"/>
              </a:rPr>
              <a:t>Respectful: </a:t>
            </a:r>
            <a:r>
              <a:rPr lang="en-US" sz="4000">
                <a:solidFill>
                  <a:srgbClr val="1A1A1A"/>
                </a:solidFill>
                <a:latin typeface="Calibri" panose="020F0502020204030204" pitchFamily="34" charset="0"/>
                <a:ea typeface="Calibri" panose="020F0502020204030204" pitchFamily="34" charset="0"/>
                <a:cs typeface="Calibri" pitchFamily="34" charset="-120"/>
              </a:rPr>
              <a:t>Compromise</a:t>
            </a:r>
            <a:endParaRPr lang="en-US" sz="4000"/>
          </a:p>
        </p:txBody>
      </p:sp>
      <p:sp>
        <p:nvSpPr>
          <p:cNvPr id="72" name="TextBox 71">
            <a:extLst>
              <a:ext uri="{FF2B5EF4-FFF2-40B4-BE49-F238E27FC236}">
                <a16:creationId xmlns:a16="http://schemas.microsoft.com/office/drawing/2014/main" id="{5240EB1F-95D7-4CF9-9BD0-88825E1738B2}"/>
              </a:ext>
            </a:extLst>
          </p:cNvPr>
          <p:cNvSpPr txBox="1"/>
          <p:nvPr/>
        </p:nvSpPr>
        <p:spPr>
          <a:xfrm>
            <a:off x="12400618" y="7894270"/>
            <a:ext cx="5894086"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b="1">
                <a:solidFill>
                  <a:srgbClr val="2E7D32"/>
                </a:solidFill>
                <a:latin typeface="Calibri" panose="020F0502020204030204" pitchFamily="34" charset="0"/>
                <a:ea typeface="Calibri" panose="020F0502020204030204" pitchFamily="34" charset="0"/>
                <a:cs typeface="Calibri" pitchFamily="34" charset="-120"/>
              </a:rPr>
              <a:t>Synergistic: </a:t>
            </a:r>
            <a:r>
              <a:rPr lang="en-US" sz="3600">
                <a:solidFill>
                  <a:srgbClr val="1A1A1A"/>
                </a:solidFill>
                <a:latin typeface="Calibri" panose="020F0502020204030204" pitchFamily="34" charset="0"/>
                <a:ea typeface="Calibri" panose="020F0502020204030204" pitchFamily="34" charset="0"/>
                <a:cs typeface="Calibri" pitchFamily="34" charset="-120"/>
              </a:rPr>
              <a:t>Win / Win  (Best)</a:t>
            </a:r>
            <a:endParaRPr lang="en-US" sz="3600"/>
          </a:p>
        </p:txBody>
      </p:sp>
      <p:pic>
        <p:nvPicPr>
          <p:cNvPr id="73" name="Image 1" descr="preencoded.png">
            <a:extLst>
              <a:ext uri="{FF2B5EF4-FFF2-40B4-BE49-F238E27FC236}">
                <a16:creationId xmlns:a16="http://schemas.microsoft.com/office/drawing/2014/main" id="{0D7BCE6B-EBDE-45D0-A167-09800F8F0E2D}"/>
              </a:ext>
            </a:extLst>
          </p:cNvPr>
          <p:cNvPicPr>
            <a:picLocks noChangeAspect="1"/>
          </p:cNvPicPr>
          <p:nvPr/>
        </p:nvPicPr>
        <p:blipFill>
          <a:blip r:embed="rId2"/>
          <a:stretch>
            <a:fillRect/>
          </a:stretch>
        </p:blipFill>
        <p:spPr>
          <a:xfrm>
            <a:off x="-830436" y="1696032"/>
            <a:ext cx="7249397" cy="8137071"/>
          </a:xfrm>
          <a:prstGeom prst="rect">
            <a:avLst/>
          </a:prstGeom>
        </p:spPr>
      </p:pic>
      <p:pic>
        <p:nvPicPr>
          <p:cNvPr id="74" name="Image 0" descr="preencoded.png">
            <a:extLst>
              <a:ext uri="{FF2B5EF4-FFF2-40B4-BE49-F238E27FC236}">
                <a16:creationId xmlns:a16="http://schemas.microsoft.com/office/drawing/2014/main" id="{865CB1D6-0ABC-4172-862E-8643179DFC28}"/>
              </a:ext>
            </a:extLst>
          </p:cNvPr>
          <p:cNvPicPr>
            <a:picLocks noChangeAspect="1"/>
          </p:cNvPicPr>
          <p:nvPr/>
        </p:nvPicPr>
        <p:blipFill>
          <a:blip r:embed="rId3"/>
          <a:stretch>
            <a:fillRect/>
          </a:stretch>
        </p:blipFill>
        <p:spPr>
          <a:xfrm>
            <a:off x="6243225" y="6175796"/>
            <a:ext cx="5639298" cy="3236815"/>
          </a:xfrm>
          <a:prstGeom prst="rect">
            <a:avLst/>
          </a:prstGeom>
        </p:spPr>
      </p:pic>
      <p:sp>
        <p:nvSpPr>
          <p:cNvPr id="75" name="Oval 74">
            <a:extLst>
              <a:ext uri="{FF2B5EF4-FFF2-40B4-BE49-F238E27FC236}">
                <a16:creationId xmlns:a16="http://schemas.microsoft.com/office/drawing/2014/main" id="{04A40F82-1B76-46A3-BE11-D0BD537AB818}"/>
              </a:ext>
            </a:extLst>
          </p:cNvPr>
          <p:cNvSpPr/>
          <p:nvPr/>
        </p:nvSpPr>
        <p:spPr>
          <a:xfrm>
            <a:off x="8249909" y="9833103"/>
            <a:ext cx="96922" cy="1315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Calibri"/>
                <a:ea typeface="+mn-ea"/>
                <a:cs typeface="+mn-cs"/>
              </a:defRPr>
            </a:lvl1pPr>
            <a:lvl2pPr marL="457200" algn="l" defTabSz="914400" rtl="0" eaLnBrk="1" latinLnBrk="0" hangingPunct="1">
              <a:defRPr sz="1800" kern="1200">
                <a:solidFill>
                  <a:srgbClr val="FFFFFF"/>
                </a:solidFill>
                <a:latin typeface="Calibri"/>
                <a:ea typeface="+mn-ea"/>
                <a:cs typeface="+mn-cs"/>
              </a:defRPr>
            </a:lvl2pPr>
            <a:lvl3pPr marL="914400" algn="l" defTabSz="914400" rtl="0" eaLnBrk="1" latinLnBrk="0" hangingPunct="1">
              <a:defRPr sz="1800" kern="1200">
                <a:solidFill>
                  <a:srgbClr val="FFFFFF"/>
                </a:solidFill>
                <a:latin typeface="Calibri"/>
                <a:ea typeface="+mn-ea"/>
                <a:cs typeface="+mn-cs"/>
              </a:defRPr>
            </a:lvl3pPr>
            <a:lvl4pPr marL="1371600" algn="l" defTabSz="914400" rtl="0" eaLnBrk="1" latinLnBrk="0" hangingPunct="1">
              <a:defRPr sz="1800" kern="1200">
                <a:solidFill>
                  <a:srgbClr val="FFFFFF"/>
                </a:solidFill>
                <a:latin typeface="Calibri"/>
                <a:ea typeface="+mn-ea"/>
                <a:cs typeface="+mn-cs"/>
              </a:defRPr>
            </a:lvl4pPr>
            <a:lvl5pPr marL="1828800" algn="l" defTabSz="914400" rtl="0" eaLnBrk="1" latinLnBrk="0" hangingPunct="1">
              <a:defRPr sz="1800" kern="1200">
                <a:solidFill>
                  <a:srgbClr val="FFFFFF"/>
                </a:solidFill>
                <a:latin typeface="Calibri"/>
                <a:ea typeface="+mn-ea"/>
                <a:cs typeface="+mn-cs"/>
              </a:defRPr>
            </a:lvl5pPr>
            <a:lvl6pPr marL="2286000" algn="l" defTabSz="914400" rtl="0" eaLnBrk="1" latinLnBrk="0" hangingPunct="1">
              <a:defRPr sz="1800" kern="1200">
                <a:solidFill>
                  <a:srgbClr val="FFFFFF"/>
                </a:solidFill>
                <a:latin typeface="Calibri"/>
                <a:ea typeface="+mn-ea"/>
                <a:cs typeface="+mn-cs"/>
              </a:defRPr>
            </a:lvl6pPr>
            <a:lvl7pPr marL="2743200" algn="l" defTabSz="914400" rtl="0" eaLnBrk="1" latinLnBrk="0" hangingPunct="1">
              <a:defRPr sz="1800" kern="1200">
                <a:solidFill>
                  <a:srgbClr val="FFFFFF"/>
                </a:solidFill>
                <a:latin typeface="Calibri"/>
                <a:ea typeface="+mn-ea"/>
                <a:cs typeface="+mn-cs"/>
              </a:defRPr>
            </a:lvl7pPr>
            <a:lvl8pPr marL="3200400" algn="l" defTabSz="914400" rtl="0" eaLnBrk="1" latinLnBrk="0" hangingPunct="1">
              <a:defRPr sz="1800" kern="1200">
                <a:solidFill>
                  <a:srgbClr val="FFFFFF"/>
                </a:solidFill>
                <a:latin typeface="Calibri"/>
                <a:ea typeface="+mn-ea"/>
                <a:cs typeface="+mn-cs"/>
              </a:defRPr>
            </a:lvl8pPr>
            <a:lvl9pPr marL="3657600" algn="l" defTabSz="914400" rtl="0" eaLnBrk="1" latinLnBrk="0" hangingPunct="1">
              <a:defRPr sz="1800" kern="1200">
                <a:solidFill>
                  <a:srgbClr val="FFFFFF"/>
                </a:solidFill>
                <a:latin typeface="Calibri"/>
                <a:ea typeface="+mn-ea"/>
                <a:cs typeface="+mn-cs"/>
              </a:defRPr>
            </a:lvl9pPr>
          </a:lstStyle>
          <a:p>
            <a:pPr algn="ctr"/>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TextBox 2"/>
          <p:cNvSpPr txBox="1"/>
          <p:nvPr/>
        </p:nvSpPr>
        <p:spPr>
          <a:xfrm>
            <a:off x="-418995" y="1702866"/>
            <a:ext cx="18954641" cy="2269852"/>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3597"/>
              </a:lnSpc>
            </a:pPr>
            <a:r>
              <a:rPr lang="en-US" sz="6000" b="1" i="1">
                <a:solidFill>
                  <a:srgbClr val="392503"/>
                </a:solidFill>
                <a:latin typeface="Aprila Bold"/>
                <a:ea typeface="Aprila Bold"/>
                <a:cs typeface="Aprila Bold"/>
                <a:sym typeface="Aprila Bold"/>
              </a:rPr>
              <a:t>7 HABITS OF HIGHLY EFFECTIVE PEOPLE</a:t>
            </a:r>
          </a:p>
        </p:txBody>
      </p:sp>
      <p:sp>
        <p:nvSpPr>
          <p:cNvPr id="3" name="Freeform 3"/>
          <p:cNvSpPr/>
          <p:nvPr/>
        </p:nvSpPr>
        <p:spPr>
          <a:xfrm>
            <a:off x="-42837" y="4189929"/>
            <a:ext cx="1914474" cy="1716534"/>
          </a:xfrm>
          <a:custGeom>
            <a:avLst/>
            <a:gdLst/>
            <a:ahLst/>
            <a:cxnLst/>
            <a:rect l="l" t="t" r="r" b="b"/>
            <a:pathLst>
              <a:path w="2576528" h="2576528">
                <a:moveTo>
                  <a:pt x="0" y="0"/>
                </a:moveTo>
                <a:lnTo>
                  <a:pt x="2576527" y="0"/>
                </a:lnTo>
                <a:lnTo>
                  <a:pt x="2576527" y="2576527"/>
                </a:lnTo>
                <a:lnTo>
                  <a:pt x="0" y="25765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 name="Freeform 4"/>
          <p:cNvSpPr/>
          <p:nvPr/>
        </p:nvSpPr>
        <p:spPr>
          <a:xfrm>
            <a:off x="1986768" y="2202466"/>
            <a:ext cx="1028025" cy="1028025"/>
          </a:xfrm>
          <a:custGeom>
            <a:avLst/>
            <a:gdLst/>
            <a:ahLst/>
            <a:cxnLst/>
            <a:rect l="l" t="t" r="r" b="b"/>
            <a:pathLst>
              <a:path w="1028025" h="1028025">
                <a:moveTo>
                  <a:pt x="0" y="0"/>
                </a:moveTo>
                <a:lnTo>
                  <a:pt x="1028025" y="0"/>
                </a:lnTo>
                <a:lnTo>
                  <a:pt x="1028025" y="1028025"/>
                </a:lnTo>
                <a:lnTo>
                  <a:pt x="0" y="10280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5" name="Group 5"/>
          <p:cNvGrpSpPr/>
          <p:nvPr/>
        </p:nvGrpSpPr>
        <p:grpSpPr>
          <a:xfrm>
            <a:off x="6340655" y="1392285"/>
            <a:ext cx="5841939" cy="1265463"/>
            <a:chOff x="0" y="0"/>
            <a:chExt cx="1802910" cy="406400"/>
          </a:xfrm>
        </p:grpSpPr>
        <p:sp>
          <p:nvSpPr>
            <p:cNvPr id="6" name="Freeform 6"/>
            <p:cNvSpPr/>
            <p:nvPr/>
          </p:nvSpPr>
          <p:spPr>
            <a:xfrm>
              <a:off x="0" y="0"/>
              <a:ext cx="1802910" cy="406400"/>
            </a:xfrm>
            <a:custGeom>
              <a:avLst/>
              <a:gdLst/>
              <a:ahLst/>
              <a:cxnLst/>
              <a:rect l="l" t="t" r="r" b="b"/>
              <a:pathLst>
                <a:path w="1802910" h="406400">
                  <a:moveTo>
                    <a:pt x="1599710" y="0"/>
                  </a:moveTo>
                  <a:cubicBezTo>
                    <a:pt x="1711934" y="0"/>
                    <a:pt x="1802910" y="90976"/>
                    <a:pt x="1802910" y="203200"/>
                  </a:cubicBezTo>
                  <a:cubicBezTo>
                    <a:pt x="1802910" y="315424"/>
                    <a:pt x="1711934" y="406400"/>
                    <a:pt x="1599710" y="406400"/>
                  </a:cubicBezTo>
                  <a:lnTo>
                    <a:pt x="203200" y="406400"/>
                  </a:lnTo>
                  <a:cubicBezTo>
                    <a:pt x="90976" y="406400"/>
                    <a:pt x="0" y="315424"/>
                    <a:pt x="0" y="203200"/>
                  </a:cubicBezTo>
                  <a:cubicBezTo>
                    <a:pt x="0" y="90976"/>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 name="TextBox 7"/>
            <p:cNvSpPr txBox="1"/>
            <p:nvPr/>
          </p:nvSpPr>
          <p:spPr>
            <a:xfrm>
              <a:off x="0" y="-38100"/>
              <a:ext cx="1802910" cy="4445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spcBef>
                  <a:spcPct val="0"/>
                </a:spcBef>
              </a:pPr>
              <a:endParaRPr/>
            </a:p>
          </p:txBody>
        </p:sp>
      </p:grpSp>
      <p:grpSp>
        <p:nvGrpSpPr>
          <p:cNvPr id="13" name="Group 13"/>
          <p:cNvGrpSpPr/>
          <p:nvPr/>
        </p:nvGrpSpPr>
        <p:grpSpPr>
          <a:xfrm>
            <a:off x="0" y="-1786777"/>
            <a:ext cx="18288000" cy="2887820"/>
            <a:chOff x="0" y="0"/>
            <a:chExt cx="24384000" cy="3850426"/>
          </a:xfrm>
        </p:grpSpPr>
        <p:grpSp>
          <p:nvGrpSpPr>
            <p:cNvPr id="14" name="Group 14"/>
            <p:cNvGrpSpPr/>
            <p:nvPr/>
          </p:nvGrpSpPr>
          <p:grpSpPr>
            <a:xfrm rot="-5400000">
              <a:off x="1732387" y="706013"/>
              <a:ext cx="3850426" cy="2438400"/>
              <a:chOff x="0" y="0"/>
              <a:chExt cx="1284254" cy="813293"/>
            </a:xfrm>
          </p:grpSpPr>
          <p:sp>
            <p:nvSpPr>
              <p:cNvPr id="15" name="Freeform 1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 name="TextBox 1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7" name="Group 17"/>
            <p:cNvGrpSpPr/>
            <p:nvPr/>
          </p:nvGrpSpPr>
          <p:grpSpPr>
            <a:xfrm rot="-5400000">
              <a:off x="4170787" y="706013"/>
              <a:ext cx="3850426" cy="2438400"/>
              <a:chOff x="0" y="0"/>
              <a:chExt cx="1284254" cy="813293"/>
            </a:xfrm>
          </p:grpSpPr>
          <p:sp>
            <p:nvSpPr>
              <p:cNvPr id="18" name="Freeform 1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 name="TextBox 1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0" name="Group 20"/>
            <p:cNvGrpSpPr/>
            <p:nvPr/>
          </p:nvGrpSpPr>
          <p:grpSpPr>
            <a:xfrm rot="-5400000">
              <a:off x="6609187" y="706013"/>
              <a:ext cx="3850426" cy="2438400"/>
              <a:chOff x="0" y="0"/>
              <a:chExt cx="1284254" cy="813293"/>
            </a:xfrm>
          </p:grpSpPr>
          <p:sp>
            <p:nvSpPr>
              <p:cNvPr id="21" name="Freeform 2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 name="TextBox 2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3" name="Group 23"/>
            <p:cNvGrpSpPr/>
            <p:nvPr/>
          </p:nvGrpSpPr>
          <p:grpSpPr>
            <a:xfrm rot="-5400000">
              <a:off x="-706013" y="706013"/>
              <a:ext cx="3850426" cy="2438400"/>
              <a:chOff x="0" y="0"/>
              <a:chExt cx="1284254" cy="813293"/>
            </a:xfrm>
          </p:grpSpPr>
          <p:sp>
            <p:nvSpPr>
              <p:cNvPr id="24" name="Freeform 2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 name="TextBox 2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6" name="Group 26"/>
            <p:cNvGrpSpPr/>
            <p:nvPr/>
          </p:nvGrpSpPr>
          <p:grpSpPr>
            <a:xfrm rot="-5400000">
              <a:off x="9047587" y="706013"/>
              <a:ext cx="3850426" cy="2438400"/>
              <a:chOff x="0" y="0"/>
              <a:chExt cx="1284254" cy="813293"/>
            </a:xfrm>
          </p:grpSpPr>
          <p:sp>
            <p:nvSpPr>
              <p:cNvPr id="27" name="Freeform 2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TextBox 2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9" name="Group 29"/>
            <p:cNvGrpSpPr/>
            <p:nvPr/>
          </p:nvGrpSpPr>
          <p:grpSpPr>
            <a:xfrm rot="-5400000">
              <a:off x="11485987" y="706013"/>
              <a:ext cx="3850426" cy="2438400"/>
              <a:chOff x="0" y="0"/>
              <a:chExt cx="1284254" cy="813293"/>
            </a:xfrm>
          </p:grpSpPr>
          <p:sp>
            <p:nvSpPr>
              <p:cNvPr id="30" name="Freeform 3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 name="TextBox 3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2" name="Group 32"/>
            <p:cNvGrpSpPr/>
            <p:nvPr/>
          </p:nvGrpSpPr>
          <p:grpSpPr>
            <a:xfrm rot="-5400000">
              <a:off x="13924387" y="706013"/>
              <a:ext cx="3850426" cy="2438400"/>
              <a:chOff x="0" y="0"/>
              <a:chExt cx="1284254" cy="813293"/>
            </a:xfrm>
          </p:grpSpPr>
          <p:sp>
            <p:nvSpPr>
              <p:cNvPr id="33" name="Freeform 3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TextBox 3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5" name="Group 35"/>
            <p:cNvGrpSpPr/>
            <p:nvPr/>
          </p:nvGrpSpPr>
          <p:grpSpPr>
            <a:xfrm rot="-5400000">
              <a:off x="16362787" y="706013"/>
              <a:ext cx="3850426" cy="2438400"/>
              <a:chOff x="0" y="0"/>
              <a:chExt cx="1284254" cy="813293"/>
            </a:xfrm>
          </p:grpSpPr>
          <p:sp>
            <p:nvSpPr>
              <p:cNvPr id="36" name="Freeform 3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TextBox 3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8" name="Group 38"/>
            <p:cNvGrpSpPr/>
            <p:nvPr/>
          </p:nvGrpSpPr>
          <p:grpSpPr>
            <a:xfrm rot="-5400000">
              <a:off x="18801187" y="706013"/>
              <a:ext cx="3850426" cy="2438400"/>
              <a:chOff x="0" y="0"/>
              <a:chExt cx="1284254" cy="813293"/>
            </a:xfrm>
          </p:grpSpPr>
          <p:sp>
            <p:nvSpPr>
              <p:cNvPr id="39" name="Freeform 3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0" name="TextBox 4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1" name="Group 41"/>
            <p:cNvGrpSpPr/>
            <p:nvPr/>
          </p:nvGrpSpPr>
          <p:grpSpPr>
            <a:xfrm rot="-5400000">
              <a:off x="21239587" y="706013"/>
              <a:ext cx="3850426" cy="2438400"/>
              <a:chOff x="0" y="0"/>
              <a:chExt cx="1284254" cy="813293"/>
            </a:xfrm>
          </p:grpSpPr>
          <p:sp>
            <p:nvSpPr>
              <p:cNvPr id="42" name="Freeform 4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3" name="TextBox 4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grpSp>
        <p:nvGrpSpPr>
          <p:cNvPr id="44" name="Group 44"/>
          <p:cNvGrpSpPr/>
          <p:nvPr/>
        </p:nvGrpSpPr>
        <p:grpSpPr>
          <a:xfrm>
            <a:off x="0" y="9258300"/>
            <a:ext cx="18288000" cy="2887820"/>
            <a:chOff x="0" y="0"/>
            <a:chExt cx="24384000" cy="3850426"/>
          </a:xfrm>
        </p:grpSpPr>
        <p:grpSp>
          <p:nvGrpSpPr>
            <p:cNvPr id="45" name="Group 45"/>
            <p:cNvGrpSpPr/>
            <p:nvPr/>
          </p:nvGrpSpPr>
          <p:grpSpPr>
            <a:xfrm rot="-5400000">
              <a:off x="1732387" y="706013"/>
              <a:ext cx="3850426" cy="2438400"/>
              <a:chOff x="0" y="0"/>
              <a:chExt cx="1284254" cy="813293"/>
            </a:xfrm>
          </p:grpSpPr>
          <p:sp>
            <p:nvSpPr>
              <p:cNvPr id="46" name="Freeform 4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7" name="TextBox 4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48" name="Group 48"/>
            <p:cNvGrpSpPr/>
            <p:nvPr/>
          </p:nvGrpSpPr>
          <p:grpSpPr>
            <a:xfrm rot="-5400000">
              <a:off x="4170787" y="706013"/>
              <a:ext cx="3850426" cy="2438400"/>
              <a:chOff x="0" y="0"/>
              <a:chExt cx="1284254" cy="813293"/>
            </a:xfrm>
          </p:grpSpPr>
          <p:sp>
            <p:nvSpPr>
              <p:cNvPr id="49" name="Freeform 4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0" name="TextBox 5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1" name="Group 51"/>
            <p:cNvGrpSpPr/>
            <p:nvPr/>
          </p:nvGrpSpPr>
          <p:grpSpPr>
            <a:xfrm rot="-5400000">
              <a:off x="6609187" y="706013"/>
              <a:ext cx="3850426" cy="2438400"/>
              <a:chOff x="0" y="0"/>
              <a:chExt cx="1284254" cy="813293"/>
            </a:xfrm>
          </p:grpSpPr>
          <p:sp>
            <p:nvSpPr>
              <p:cNvPr id="52" name="Freeform 5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3" name="TextBox 5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4" name="Group 54"/>
            <p:cNvGrpSpPr/>
            <p:nvPr/>
          </p:nvGrpSpPr>
          <p:grpSpPr>
            <a:xfrm rot="-5400000">
              <a:off x="-706013" y="706013"/>
              <a:ext cx="3850426" cy="2438400"/>
              <a:chOff x="0" y="0"/>
              <a:chExt cx="1284254" cy="813293"/>
            </a:xfrm>
          </p:grpSpPr>
          <p:sp>
            <p:nvSpPr>
              <p:cNvPr id="55" name="Freeform 5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6" name="TextBox 5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7" name="Group 57"/>
            <p:cNvGrpSpPr/>
            <p:nvPr/>
          </p:nvGrpSpPr>
          <p:grpSpPr>
            <a:xfrm rot="-5400000">
              <a:off x="9047587" y="706013"/>
              <a:ext cx="3850426" cy="2438400"/>
              <a:chOff x="0" y="0"/>
              <a:chExt cx="1284254" cy="813293"/>
            </a:xfrm>
          </p:grpSpPr>
          <p:sp>
            <p:nvSpPr>
              <p:cNvPr id="58" name="Freeform 5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9" name="TextBox 5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0" name="Group 60"/>
            <p:cNvGrpSpPr/>
            <p:nvPr/>
          </p:nvGrpSpPr>
          <p:grpSpPr>
            <a:xfrm rot="-5400000">
              <a:off x="11485987" y="706013"/>
              <a:ext cx="3850426" cy="2438400"/>
              <a:chOff x="0" y="0"/>
              <a:chExt cx="1284254" cy="813293"/>
            </a:xfrm>
          </p:grpSpPr>
          <p:sp>
            <p:nvSpPr>
              <p:cNvPr id="61" name="Freeform 6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2" name="TextBox 6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3" name="Group 63"/>
            <p:cNvGrpSpPr/>
            <p:nvPr/>
          </p:nvGrpSpPr>
          <p:grpSpPr>
            <a:xfrm rot="-5400000">
              <a:off x="13924387" y="706013"/>
              <a:ext cx="3850426" cy="2438400"/>
              <a:chOff x="0" y="0"/>
              <a:chExt cx="1284254" cy="813293"/>
            </a:xfrm>
          </p:grpSpPr>
          <p:sp>
            <p:nvSpPr>
              <p:cNvPr id="64" name="Freeform 6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5" name="TextBox 6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6" name="Group 66"/>
            <p:cNvGrpSpPr/>
            <p:nvPr/>
          </p:nvGrpSpPr>
          <p:grpSpPr>
            <a:xfrm rot="-5400000">
              <a:off x="16362787" y="706013"/>
              <a:ext cx="3850426" cy="2438400"/>
              <a:chOff x="0" y="0"/>
              <a:chExt cx="1284254" cy="813293"/>
            </a:xfrm>
          </p:grpSpPr>
          <p:sp>
            <p:nvSpPr>
              <p:cNvPr id="67" name="Freeform 6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8" name="TextBox 6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9" name="Group 69"/>
            <p:cNvGrpSpPr/>
            <p:nvPr/>
          </p:nvGrpSpPr>
          <p:grpSpPr>
            <a:xfrm rot="-5400000">
              <a:off x="18801187" y="706013"/>
              <a:ext cx="3850426" cy="2438400"/>
              <a:chOff x="0" y="0"/>
              <a:chExt cx="1284254" cy="813293"/>
            </a:xfrm>
          </p:grpSpPr>
          <p:sp>
            <p:nvSpPr>
              <p:cNvPr id="70" name="Freeform 7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1" name="TextBox 7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72" name="Group 72"/>
            <p:cNvGrpSpPr/>
            <p:nvPr/>
          </p:nvGrpSpPr>
          <p:grpSpPr>
            <a:xfrm rot="-5400000">
              <a:off x="21239587" y="706013"/>
              <a:ext cx="3850426" cy="2438400"/>
              <a:chOff x="0" y="0"/>
              <a:chExt cx="1284254" cy="813293"/>
            </a:xfrm>
          </p:grpSpPr>
          <p:sp>
            <p:nvSpPr>
              <p:cNvPr id="73" name="Freeform 7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4" name="TextBox 7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75" name="Freeform 75"/>
          <p:cNvSpPr/>
          <p:nvPr/>
        </p:nvSpPr>
        <p:spPr>
          <a:xfrm>
            <a:off x="16859586" y="2363298"/>
            <a:ext cx="1028025" cy="1028025"/>
          </a:xfrm>
          <a:custGeom>
            <a:avLst/>
            <a:gdLst/>
            <a:ahLst/>
            <a:cxnLst/>
            <a:rect l="l" t="t" r="r" b="b"/>
            <a:pathLst>
              <a:path w="1028025" h="1028025">
                <a:moveTo>
                  <a:pt x="0" y="0"/>
                </a:moveTo>
                <a:lnTo>
                  <a:pt x="1028025" y="0"/>
                </a:lnTo>
                <a:lnTo>
                  <a:pt x="1028025" y="1028026"/>
                </a:lnTo>
                <a:lnTo>
                  <a:pt x="0" y="1028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80" name="Group 9">
            <a:extLst>
              <a:ext uri="{FF2B5EF4-FFF2-40B4-BE49-F238E27FC236}">
                <a16:creationId xmlns:a16="http://schemas.microsoft.com/office/drawing/2014/main" id="{D2822562-1F2D-09DD-9C4E-D6C573D97E3E}"/>
              </a:ext>
            </a:extLst>
          </p:cNvPr>
          <p:cNvGrpSpPr/>
          <p:nvPr/>
        </p:nvGrpSpPr>
        <p:grpSpPr>
          <a:xfrm>
            <a:off x="1263950" y="3972719"/>
            <a:ext cx="16384386" cy="5040634"/>
            <a:chOff x="0" y="-38100"/>
            <a:chExt cx="3222835" cy="444500"/>
          </a:xfrm>
        </p:grpSpPr>
        <p:sp>
          <p:nvSpPr>
            <p:cNvPr id="78" name="Freeform 10">
              <a:extLst>
                <a:ext uri="{FF2B5EF4-FFF2-40B4-BE49-F238E27FC236}">
                  <a16:creationId xmlns:a16="http://schemas.microsoft.com/office/drawing/2014/main" id="{5E89BBF4-6A07-A84A-78B4-F76E95D1F3C8}"/>
                </a:ext>
              </a:extLst>
            </p:cNvPr>
            <p:cNvSpPr/>
            <p:nvPr/>
          </p:nvSpPr>
          <p:spPr>
            <a:xfrm>
              <a:off x="0" y="0"/>
              <a:ext cx="3222835" cy="406400"/>
            </a:xfrm>
            <a:custGeom>
              <a:avLst/>
              <a:gdLst/>
              <a:ahLst/>
              <a:cxnLst/>
              <a:rect l="l" t="t" r="r" b="b"/>
              <a:pathLst>
                <a:path w="3222835" h="406400">
                  <a:moveTo>
                    <a:pt x="3019635" y="0"/>
                  </a:moveTo>
                  <a:cubicBezTo>
                    <a:pt x="3131859" y="0"/>
                    <a:pt x="3222835" y="90976"/>
                    <a:pt x="3222835" y="203200"/>
                  </a:cubicBezTo>
                  <a:cubicBezTo>
                    <a:pt x="3222835" y="315424"/>
                    <a:pt x="3131859" y="406400"/>
                    <a:pt x="3019635" y="406400"/>
                  </a:cubicBezTo>
                  <a:lnTo>
                    <a:pt x="203200" y="406400"/>
                  </a:lnTo>
                  <a:cubicBezTo>
                    <a:pt x="90976" y="406400"/>
                    <a:pt x="0" y="315424"/>
                    <a:pt x="0" y="203200"/>
                  </a:cubicBezTo>
                  <a:cubicBezTo>
                    <a:pt x="0" y="90976"/>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9" name="TextBox 11">
              <a:extLst>
                <a:ext uri="{FF2B5EF4-FFF2-40B4-BE49-F238E27FC236}">
                  <a16:creationId xmlns:a16="http://schemas.microsoft.com/office/drawing/2014/main" id="{A5C54335-5144-A010-F03F-F9FAC048149E}"/>
                </a:ext>
              </a:extLst>
            </p:cNvPr>
            <p:cNvSpPr txBox="1"/>
            <p:nvPr/>
          </p:nvSpPr>
          <p:spPr>
            <a:xfrm>
              <a:off x="0" y="-38100"/>
              <a:ext cx="3222835" cy="4445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spcBef>
                  <a:spcPct val="0"/>
                </a:spcBef>
              </a:pPr>
              <a:endParaRPr/>
            </a:p>
          </p:txBody>
        </p:sp>
      </p:grpSp>
      <p:sp>
        <p:nvSpPr>
          <p:cNvPr id="81" name="TextBox 80">
            <a:extLst>
              <a:ext uri="{FF2B5EF4-FFF2-40B4-BE49-F238E27FC236}">
                <a16:creationId xmlns:a16="http://schemas.microsoft.com/office/drawing/2014/main" id="{D5AD0726-1B46-0CC1-9D86-9D08C557399E}"/>
              </a:ext>
            </a:extLst>
          </p:cNvPr>
          <p:cNvSpPr txBox="1"/>
          <p:nvPr/>
        </p:nvSpPr>
        <p:spPr>
          <a:xfrm>
            <a:off x="6743724" y="1655412"/>
            <a:ext cx="507206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b="1"/>
              <a:t>Exploring the book</a:t>
            </a:r>
          </a:p>
        </p:txBody>
      </p:sp>
      <p:sp>
        <p:nvSpPr>
          <p:cNvPr id="83" name="Freeform 10">
            <a:extLst>
              <a:ext uri="{FF2B5EF4-FFF2-40B4-BE49-F238E27FC236}">
                <a16:creationId xmlns:a16="http://schemas.microsoft.com/office/drawing/2014/main" id="{5D0EA919-B8AA-EC78-DE9A-14A49FDCDED8}"/>
              </a:ext>
            </a:extLst>
          </p:cNvPr>
          <p:cNvSpPr/>
          <p:nvPr/>
        </p:nvSpPr>
        <p:spPr>
          <a:xfrm>
            <a:off x="1416350" y="4633149"/>
            <a:ext cx="16092086" cy="4261565"/>
          </a:xfrm>
          <a:custGeom>
            <a:avLst/>
            <a:gdLst/>
            <a:ahLst/>
            <a:cxnLst/>
            <a:rect l="l" t="t" r="r" b="b"/>
            <a:pathLst>
              <a:path w="3222835" h="406400">
                <a:moveTo>
                  <a:pt x="3019635" y="0"/>
                </a:moveTo>
                <a:cubicBezTo>
                  <a:pt x="3131859" y="0"/>
                  <a:pt x="3222835" y="90976"/>
                  <a:pt x="3222835" y="203200"/>
                </a:cubicBezTo>
                <a:cubicBezTo>
                  <a:pt x="3222835" y="315424"/>
                  <a:pt x="3131859" y="406400"/>
                  <a:pt x="3019635" y="406400"/>
                </a:cubicBezTo>
                <a:lnTo>
                  <a:pt x="203200" y="406400"/>
                </a:lnTo>
                <a:cubicBezTo>
                  <a:pt x="90976" y="406400"/>
                  <a:pt x="0" y="315424"/>
                  <a:pt x="0" y="203200"/>
                </a:cubicBezTo>
                <a:cubicBezTo>
                  <a:pt x="0" y="90976"/>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4" name="TextBox 83">
            <a:extLst>
              <a:ext uri="{FF2B5EF4-FFF2-40B4-BE49-F238E27FC236}">
                <a16:creationId xmlns:a16="http://schemas.microsoft.com/office/drawing/2014/main" id="{273C7263-2F56-7EA0-21C8-8CADF2C86F93}"/>
              </a:ext>
            </a:extLst>
          </p:cNvPr>
          <p:cNvSpPr txBox="1"/>
          <p:nvPr/>
        </p:nvSpPr>
        <p:spPr>
          <a:xfrm>
            <a:off x="1707604" y="5752590"/>
            <a:ext cx="16384388" cy="28315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i="1"/>
              <a:t>° ZOHAIB HASSAN (BUS-24F-600)</a:t>
            </a:r>
          </a:p>
          <a:p>
            <a:pPr algn="l"/>
            <a:r>
              <a:rPr lang="en-US" sz="4000" i="1"/>
              <a:t>° MAHNOOR BUKHARI (BUS-24F-641)         ° NIMRA (BUS-24F-613)</a:t>
            </a:r>
          </a:p>
          <a:p>
            <a:pPr algn="l"/>
            <a:r>
              <a:rPr lang="en-US" sz="4000" i="1"/>
              <a:t>° M. MUDASSIR ( BUS-24F-636)                    ° HEMAN RAJU (BUS-24F-600)</a:t>
            </a:r>
          </a:p>
          <a:p>
            <a:pPr algn="l"/>
            <a:r>
              <a:rPr lang="en-US" sz="4000" i="1"/>
              <a:t>° AYESHA JAVED (BUS-24F-637)                    ° DHARA KUMARI (BUS-24F-600)</a:t>
            </a:r>
          </a:p>
          <a:p>
            <a:pPr algn="l"/>
            <a:endParaRPr lang="en-US"/>
          </a:p>
        </p:txBody>
      </p:sp>
      <p:sp>
        <p:nvSpPr>
          <p:cNvPr id="85" name="TextBox 84">
            <a:extLst>
              <a:ext uri="{FF2B5EF4-FFF2-40B4-BE49-F238E27FC236}">
                <a16:creationId xmlns:a16="http://schemas.microsoft.com/office/drawing/2014/main" id="{F22B8D62-560F-164C-7F12-4EEC81D0F8AC}"/>
              </a:ext>
            </a:extLst>
          </p:cNvPr>
          <p:cNvSpPr txBox="1"/>
          <p:nvPr/>
        </p:nvSpPr>
        <p:spPr>
          <a:xfrm>
            <a:off x="7473961" y="4795679"/>
            <a:ext cx="4572051"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3600" b="1" u="sng"/>
              <a:t>* GROUP MEMBERS *</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sp>
        <p:nvSpPr>
          <p:cNvPr id="2" name="TextBox 2"/>
          <p:cNvSpPr txBox="1"/>
          <p:nvPr/>
        </p:nvSpPr>
        <p:spPr>
          <a:xfrm>
            <a:off x="8533833" y="-5251478"/>
            <a:ext cx="7506835" cy="269125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970"/>
              </a:lnSpc>
            </a:pPr>
            <a:r>
              <a:rPr lang="en-US" sz="15693" b="1">
                <a:solidFill>
                  <a:srgbClr val="392503"/>
                </a:solidFill>
                <a:latin typeface="Aprila Bold"/>
                <a:ea typeface="Aprila Bold"/>
                <a:cs typeface="Aprila Bold"/>
                <a:sym typeface="Aprila Bold"/>
              </a:rPr>
              <a:t>Basics</a:t>
            </a:r>
          </a:p>
        </p:txBody>
      </p:sp>
      <p:grpSp>
        <p:nvGrpSpPr>
          <p:cNvPr id="3" name="Group 3"/>
          <p:cNvGrpSpPr/>
          <p:nvPr/>
        </p:nvGrpSpPr>
        <p:grpSpPr>
          <a:xfrm>
            <a:off x="5129215" y="934572"/>
            <a:ext cx="8119338" cy="1066681"/>
            <a:chOff x="0" y="0"/>
            <a:chExt cx="8301746" cy="1634711"/>
          </a:xfrm>
        </p:grpSpPr>
        <p:grpSp>
          <p:nvGrpSpPr>
            <p:cNvPr id="4" name="Group 4"/>
            <p:cNvGrpSpPr/>
            <p:nvPr/>
          </p:nvGrpSpPr>
          <p:grpSpPr>
            <a:xfrm>
              <a:off x="0" y="0"/>
              <a:ext cx="8301746" cy="1634711"/>
              <a:chOff x="0" y="0"/>
              <a:chExt cx="2063869" cy="406400"/>
            </a:xfrm>
          </p:grpSpPr>
          <p:sp>
            <p:nvSpPr>
              <p:cNvPr id="5" name="Freeform 5"/>
              <p:cNvSpPr/>
              <p:nvPr/>
            </p:nvSpPr>
            <p:spPr>
              <a:xfrm>
                <a:off x="0" y="0"/>
                <a:ext cx="2063869" cy="406400"/>
              </a:xfrm>
              <a:custGeom>
                <a:avLst/>
                <a:gdLst/>
                <a:ahLst/>
                <a:cxnLst/>
                <a:rect l="l" t="t" r="r" b="b"/>
                <a:pathLst>
                  <a:path w="2063868" h="406400">
                    <a:moveTo>
                      <a:pt x="1860669" y="0"/>
                    </a:moveTo>
                    <a:cubicBezTo>
                      <a:pt x="1972894" y="0"/>
                      <a:pt x="2063869" y="90976"/>
                      <a:pt x="2063869" y="203200"/>
                    </a:cubicBezTo>
                    <a:cubicBezTo>
                      <a:pt x="2063869" y="315424"/>
                      <a:pt x="1972894" y="406400"/>
                      <a:pt x="1860669" y="406400"/>
                    </a:cubicBezTo>
                    <a:lnTo>
                      <a:pt x="203200" y="406400"/>
                    </a:lnTo>
                    <a:cubicBezTo>
                      <a:pt x="90976" y="406400"/>
                      <a:pt x="0" y="315424"/>
                      <a:pt x="0" y="203200"/>
                    </a:cubicBezTo>
                    <a:cubicBezTo>
                      <a:pt x="0" y="90976"/>
                      <a:pt x="90976" y="0"/>
                      <a:pt x="203200" y="0"/>
                    </a:cubicBezTo>
                    <a:close/>
                  </a:path>
                </a:pathLst>
              </a:custGeom>
              <a:solidFill>
                <a:srgbClr val="FFF8F4"/>
              </a:solidFill>
              <a:ln w="38100" cap="sq">
                <a:solidFill>
                  <a:srgbClr val="E4B38D"/>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 name="TextBox 6"/>
              <p:cNvSpPr txBox="1"/>
              <p:nvPr/>
            </p:nvSpPr>
            <p:spPr>
              <a:xfrm>
                <a:off x="0" y="-38100"/>
                <a:ext cx="2063869" cy="4445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spcBef>
                    <a:spcPct val="0"/>
                  </a:spcBef>
                </a:pPr>
                <a:endParaRPr/>
              </a:p>
            </p:txBody>
          </p:sp>
        </p:grpSp>
        <p:sp>
          <p:nvSpPr>
            <p:cNvPr id="7" name="TextBox 7"/>
            <p:cNvSpPr txBox="1"/>
            <p:nvPr/>
          </p:nvSpPr>
          <p:spPr>
            <a:xfrm>
              <a:off x="946725" y="358343"/>
              <a:ext cx="6408293" cy="1048984"/>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5784"/>
                </a:lnSpc>
              </a:pPr>
              <a:r>
                <a:rPr lang="en-US" sz="4131" b="1" i="1" spc="1512">
                  <a:solidFill>
                    <a:srgbClr val="392503"/>
                  </a:solidFill>
                  <a:latin typeface="Livvic"/>
                  <a:ea typeface="Livvic"/>
                  <a:cs typeface="Livvic"/>
                  <a:sym typeface="Livvic"/>
                </a:rPr>
                <a:t>THE 7</a:t>
              </a:r>
              <a:r>
                <a:rPr lang="en-US" sz="4131" b="1" i="1" spc="1512" baseline="30000">
                  <a:solidFill>
                    <a:srgbClr val="392503"/>
                  </a:solidFill>
                  <a:latin typeface="Livvic"/>
                  <a:ea typeface="Livvic"/>
                  <a:cs typeface="Livvic"/>
                  <a:sym typeface="Livvic"/>
                </a:rPr>
                <a:t>th</a:t>
              </a:r>
              <a:r>
                <a:rPr lang="en-US" sz="4131" b="1" i="1" spc="1512">
                  <a:solidFill>
                    <a:srgbClr val="392503"/>
                  </a:solidFill>
                  <a:latin typeface="Livvic"/>
                  <a:ea typeface="Livvic"/>
                  <a:cs typeface="Livvic"/>
                  <a:sym typeface="Livvic"/>
                </a:rPr>
                <a:t> HABIT</a:t>
              </a:r>
            </a:p>
          </p:txBody>
        </p:sp>
      </p:grpSp>
      <p:grpSp>
        <p:nvGrpSpPr>
          <p:cNvPr id="8" name="Group 8"/>
          <p:cNvGrpSpPr/>
          <p:nvPr/>
        </p:nvGrpSpPr>
        <p:grpSpPr>
          <a:xfrm>
            <a:off x="14364" y="-2085549"/>
            <a:ext cx="18288000" cy="2887820"/>
            <a:chOff x="0" y="0"/>
            <a:chExt cx="24384000" cy="3850426"/>
          </a:xfrm>
        </p:grpSpPr>
        <p:grpSp>
          <p:nvGrpSpPr>
            <p:cNvPr id="9" name="Group 9"/>
            <p:cNvGrpSpPr/>
            <p:nvPr/>
          </p:nvGrpSpPr>
          <p:grpSpPr>
            <a:xfrm rot="-5400000">
              <a:off x="1732387" y="706013"/>
              <a:ext cx="3850426" cy="2438400"/>
              <a:chOff x="0" y="0"/>
              <a:chExt cx="1284254" cy="813293"/>
            </a:xfrm>
          </p:grpSpPr>
          <p:sp>
            <p:nvSpPr>
              <p:cNvPr id="10" name="Freeform 1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1" name="TextBox 1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 name="Group 12"/>
            <p:cNvGrpSpPr/>
            <p:nvPr/>
          </p:nvGrpSpPr>
          <p:grpSpPr>
            <a:xfrm rot="-5400000">
              <a:off x="4170787" y="706013"/>
              <a:ext cx="3850426" cy="2438400"/>
              <a:chOff x="0" y="0"/>
              <a:chExt cx="1284254" cy="813293"/>
            </a:xfrm>
          </p:grpSpPr>
          <p:sp>
            <p:nvSpPr>
              <p:cNvPr id="13" name="Freeform 1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 name="TextBox 1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5" name="Group 15"/>
            <p:cNvGrpSpPr/>
            <p:nvPr/>
          </p:nvGrpSpPr>
          <p:grpSpPr>
            <a:xfrm rot="-5400000">
              <a:off x="6609187" y="706013"/>
              <a:ext cx="3850426" cy="2438400"/>
              <a:chOff x="0" y="0"/>
              <a:chExt cx="1284254" cy="813293"/>
            </a:xfrm>
          </p:grpSpPr>
          <p:sp>
            <p:nvSpPr>
              <p:cNvPr id="16" name="Freeform 1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 name="TextBox 1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8" name="Group 18"/>
            <p:cNvGrpSpPr/>
            <p:nvPr/>
          </p:nvGrpSpPr>
          <p:grpSpPr>
            <a:xfrm rot="-5400000">
              <a:off x="-706013" y="706013"/>
              <a:ext cx="3850426" cy="2438400"/>
              <a:chOff x="0" y="0"/>
              <a:chExt cx="1284254" cy="813293"/>
            </a:xfrm>
          </p:grpSpPr>
          <p:sp>
            <p:nvSpPr>
              <p:cNvPr id="19" name="Freeform 1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 name="TextBox 2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1" name="Group 21"/>
            <p:cNvGrpSpPr/>
            <p:nvPr/>
          </p:nvGrpSpPr>
          <p:grpSpPr>
            <a:xfrm rot="-5400000">
              <a:off x="9047587" y="706013"/>
              <a:ext cx="3850426" cy="2438400"/>
              <a:chOff x="0" y="0"/>
              <a:chExt cx="1284254" cy="813293"/>
            </a:xfrm>
          </p:grpSpPr>
          <p:sp>
            <p:nvSpPr>
              <p:cNvPr id="22" name="Freeform 2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 name="TextBox 2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4" name="Group 24"/>
            <p:cNvGrpSpPr/>
            <p:nvPr/>
          </p:nvGrpSpPr>
          <p:grpSpPr>
            <a:xfrm rot="-5400000">
              <a:off x="11485987" y="706013"/>
              <a:ext cx="3850426" cy="2438400"/>
              <a:chOff x="0" y="0"/>
              <a:chExt cx="1284254" cy="813293"/>
            </a:xfrm>
          </p:grpSpPr>
          <p:sp>
            <p:nvSpPr>
              <p:cNvPr id="25" name="Freeform 2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 name="TextBox 2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7" name="Group 27"/>
            <p:cNvGrpSpPr/>
            <p:nvPr/>
          </p:nvGrpSpPr>
          <p:grpSpPr>
            <a:xfrm rot="-5400000">
              <a:off x="13924387" y="706013"/>
              <a:ext cx="3850426" cy="2438400"/>
              <a:chOff x="0" y="0"/>
              <a:chExt cx="1284254" cy="813293"/>
            </a:xfrm>
          </p:grpSpPr>
          <p:sp>
            <p:nvSpPr>
              <p:cNvPr id="28" name="Freeform 2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 name="TextBox 2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0" name="Group 30"/>
            <p:cNvGrpSpPr/>
            <p:nvPr/>
          </p:nvGrpSpPr>
          <p:grpSpPr>
            <a:xfrm rot="-5400000">
              <a:off x="16362787" y="706013"/>
              <a:ext cx="3850426" cy="2438400"/>
              <a:chOff x="0" y="0"/>
              <a:chExt cx="1284254" cy="813293"/>
            </a:xfrm>
          </p:grpSpPr>
          <p:sp>
            <p:nvSpPr>
              <p:cNvPr id="31" name="Freeform 3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 name="TextBox 3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3" name="Group 33"/>
            <p:cNvGrpSpPr/>
            <p:nvPr/>
          </p:nvGrpSpPr>
          <p:grpSpPr>
            <a:xfrm rot="-5400000">
              <a:off x="18801187" y="706013"/>
              <a:ext cx="3850426" cy="2438400"/>
              <a:chOff x="0" y="0"/>
              <a:chExt cx="1284254" cy="813293"/>
            </a:xfrm>
          </p:grpSpPr>
          <p:sp>
            <p:nvSpPr>
              <p:cNvPr id="34" name="Freeform 3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5" name="TextBox 3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6" name="Group 36"/>
            <p:cNvGrpSpPr/>
            <p:nvPr/>
          </p:nvGrpSpPr>
          <p:grpSpPr>
            <a:xfrm rot="-5400000">
              <a:off x="21239587" y="706013"/>
              <a:ext cx="3850426" cy="2438400"/>
              <a:chOff x="0" y="0"/>
              <a:chExt cx="1284254" cy="813293"/>
            </a:xfrm>
          </p:grpSpPr>
          <p:sp>
            <p:nvSpPr>
              <p:cNvPr id="37" name="Freeform 3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8" name="TextBox 3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70" name="Freeform 70"/>
          <p:cNvSpPr/>
          <p:nvPr/>
        </p:nvSpPr>
        <p:spPr>
          <a:xfrm>
            <a:off x="4050139" y="893368"/>
            <a:ext cx="1028025" cy="1028025"/>
          </a:xfrm>
          <a:custGeom>
            <a:avLst/>
            <a:gdLst/>
            <a:ahLst/>
            <a:cxnLst/>
            <a:rect l="l" t="t" r="r" b="b"/>
            <a:pathLst>
              <a:path w="1028025" h="1028025">
                <a:moveTo>
                  <a:pt x="0" y="0"/>
                </a:moveTo>
                <a:lnTo>
                  <a:pt x="1028026" y="0"/>
                </a:lnTo>
                <a:lnTo>
                  <a:pt x="1028026" y="1028026"/>
                </a:lnTo>
                <a:lnTo>
                  <a:pt x="0" y="10280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1" name="Freeform 71"/>
          <p:cNvSpPr/>
          <p:nvPr/>
        </p:nvSpPr>
        <p:spPr>
          <a:xfrm>
            <a:off x="12316737" y="1261006"/>
            <a:ext cx="1886812" cy="2350719"/>
          </a:xfrm>
          <a:custGeom>
            <a:avLst/>
            <a:gdLst/>
            <a:ahLst/>
            <a:cxnLst/>
            <a:rect l="l" t="t" r="r" b="b"/>
            <a:pathLst>
              <a:path w="2576528" h="2576528">
                <a:moveTo>
                  <a:pt x="0" y="0"/>
                </a:moveTo>
                <a:lnTo>
                  <a:pt x="2576527" y="0"/>
                </a:lnTo>
                <a:lnTo>
                  <a:pt x="2576527" y="2576528"/>
                </a:lnTo>
                <a:lnTo>
                  <a:pt x="0" y="25765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2" name="Freeform 72"/>
          <p:cNvSpPr/>
          <p:nvPr/>
        </p:nvSpPr>
        <p:spPr>
          <a:xfrm>
            <a:off x="3973350" y="5785758"/>
            <a:ext cx="1527414" cy="1527414"/>
          </a:xfrm>
          <a:custGeom>
            <a:avLst/>
            <a:gdLst/>
            <a:ahLst/>
            <a:cxnLst/>
            <a:rect l="l" t="t" r="r" b="b"/>
            <a:pathLst>
              <a:path w="1527414" h="1527414">
                <a:moveTo>
                  <a:pt x="0" y="0"/>
                </a:moveTo>
                <a:lnTo>
                  <a:pt x="1527414" y="0"/>
                </a:lnTo>
                <a:lnTo>
                  <a:pt x="1527414" y="1527414"/>
                </a:lnTo>
                <a:lnTo>
                  <a:pt x="0" y="15274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pic>
        <p:nvPicPr>
          <p:cNvPr id="113" name="Picture 113">
            <a:extLst>
              <a:ext uri="{FF2B5EF4-FFF2-40B4-BE49-F238E27FC236}">
                <a16:creationId xmlns:a16="http://schemas.microsoft.com/office/drawing/2014/main" id="{CE0CB04A-62C2-4E9A-C914-54C5C59221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66077" y="2646540"/>
            <a:ext cx="6749673" cy="4629691"/>
          </a:xfrm>
          <a:prstGeom prst="rect">
            <a:avLst/>
          </a:prstGeom>
        </p:spPr>
      </p:pic>
      <p:grpSp>
        <p:nvGrpSpPr>
          <p:cNvPr id="145" name="Group 8">
            <a:extLst>
              <a:ext uri="{FF2B5EF4-FFF2-40B4-BE49-F238E27FC236}">
                <a16:creationId xmlns:a16="http://schemas.microsoft.com/office/drawing/2014/main" id="{76529846-9226-DF7B-D5D7-4484D290C324}"/>
              </a:ext>
            </a:extLst>
          </p:cNvPr>
          <p:cNvGrpSpPr/>
          <p:nvPr/>
        </p:nvGrpSpPr>
        <p:grpSpPr>
          <a:xfrm>
            <a:off x="-114147" y="9339931"/>
            <a:ext cx="18373672" cy="2887820"/>
            <a:chOff x="-114231" y="1"/>
            <a:chExt cx="24498230" cy="3850426"/>
          </a:xfrm>
        </p:grpSpPr>
        <p:grpSp>
          <p:nvGrpSpPr>
            <p:cNvPr id="115" name="Group 9">
              <a:extLst>
                <a:ext uri="{FF2B5EF4-FFF2-40B4-BE49-F238E27FC236}">
                  <a16:creationId xmlns:a16="http://schemas.microsoft.com/office/drawing/2014/main" id="{BF22BBBB-F623-8FE2-74CF-87195A67DEE3}"/>
                </a:ext>
              </a:extLst>
            </p:cNvPr>
            <p:cNvGrpSpPr/>
            <p:nvPr/>
          </p:nvGrpSpPr>
          <p:grpSpPr>
            <a:xfrm rot="-5400000">
              <a:off x="1675272" y="648898"/>
              <a:ext cx="3850426" cy="2552631"/>
              <a:chOff x="0" y="-38100"/>
              <a:chExt cx="1284254" cy="851393"/>
            </a:xfrm>
          </p:grpSpPr>
          <p:sp>
            <p:nvSpPr>
              <p:cNvPr id="143" name="Freeform 10">
                <a:extLst>
                  <a:ext uri="{FF2B5EF4-FFF2-40B4-BE49-F238E27FC236}">
                    <a16:creationId xmlns:a16="http://schemas.microsoft.com/office/drawing/2014/main" id="{724393BF-AF9C-84A8-CD82-D9A5A65A2476}"/>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4" name="TextBox 11">
                <a:extLst>
                  <a:ext uri="{FF2B5EF4-FFF2-40B4-BE49-F238E27FC236}">
                    <a16:creationId xmlns:a16="http://schemas.microsoft.com/office/drawing/2014/main" id="{4F5BC885-0AD9-A4E8-5950-C76309FA8C54}"/>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16" name="Group 12">
              <a:extLst>
                <a:ext uri="{FF2B5EF4-FFF2-40B4-BE49-F238E27FC236}">
                  <a16:creationId xmlns:a16="http://schemas.microsoft.com/office/drawing/2014/main" id="{BB5E1E0A-AE35-41CB-CAD7-F9178F0311EF}"/>
                </a:ext>
              </a:extLst>
            </p:cNvPr>
            <p:cNvGrpSpPr/>
            <p:nvPr/>
          </p:nvGrpSpPr>
          <p:grpSpPr>
            <a:xfrm rot="-5400000">
              <a:off x="4113672" y="648898"/>
              <a:ext cx="3850426" cy="2552631"/>
              <a:chOff x="0" y="-38100"/>
              <a:chExt cx="1284254" cy="851393"/>
            </a:xfrm>
          </p:grpSpPr>
          <p:sp>
            <p:nvSpPr>
              <p:cNvPr id="141" name="Freeform 13">
                <a:extLst>
                  <a:ext uri="{FF2B5EF4-FFF2-40B4-BE49-F238E27FC236}">
                    <a16:creationId xmlns:a16="http://schemas.microsoft.com/office/drawing/2014/main" id="{63C1A3B6-8F78-58DB-72A1-3EF98A0477BA}"/>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2" name="TextBox 14">
                <a:extLst>
                  <a:ext uri="{FF2B5EF4-FFF2-40B4-BE49-F238E27FC236}">
                    <a16:creationId xmlns:a16="http://schemas.microsoft.com/office/drawing/2014/main" id="{C7888EF5-984E-BC7B-BC66-66EC0DD9CB48}"/>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17" name="Group 15">
              <a:extLst>
                <a:ext uri="{FF2B5EF4-FFF2-40B4-BE49-F238E27FC236}">
                  <a16:creationId xmlns:a16="http://schemas.microsoft.com/office/drawing/2014/main" id="{6DD8866A-148F-06E0-27D4-33BE61CBA7A3}"/>
                </a:ext>
              </a:extLst>
            </p:cNvPr>
            <p:cNvGrpSpPr/>
            <p:nvPr/>
          </p:nvGrpSpPr>
          <p:grpSpPr>
            <a:xfrm rot="-5400000">
              <a:off x="6552072" y="648898"/>
              <a:ext cx="3850426" cy="2552631"/>
              <a:chOff x="0" y="-38100"/>
              <a:chExt cx="1284254" cy="851393"/>
            </a:xfrm>
          </p:grpSpPr>
          <p:sp>
            <p:nvSpPr>
              <p:cNvPr id="139" name="Freeform 16">
                <a:extLst>
                  <a:ext uri="{FF2B5EF4-FFF2-40B4-BE49-F238E27FC236}">
                    <a16:creationId xmlns:a16="http://schemas.microsoft.com/office/drawing/2014/main" id="{595C7CBF-4FC0-04F2-95AD-D8319AF1695C}"/>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0" name="TextBox 17">
                <a:extLst>
                  <a:ext uri="{FF2B5EF4-FFF2-40B4-BE49-F238E27FC236}">
                    <a16:creationId xmlns:a16="http://schemas.microsoft.com/office/drawing/2014/main" id="{DC607CDD-DA73-C99C-D1CF-F28C289904FC}"/>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18" name="Group 18">
              <a:extLst>
                <a:ext uri="{FF2B5EF4-FFF2-40B4-BE49-F238E27FC236}">
                  <a16:creationId xmlns:a16="http://schemas.microsoft.com/office/drawing/2014/main" id="{912DAD40-8AA0-0A12-9F05-A7364A463752}"/>
                </a:ext>
              </a:extLst>
            </p:cNvPr>
            <p:cNvGrpSpPr/>
            <p:nvPr/>
          </p:nvGrpSpPr>
          <p:grpSpPr>
            <a:xfrm rot="-5400000">
              <a:off x="-763128" y="648898"/>
              <a:ext cx="3850426" cy="2552631"/>
              <a:chOff x="0" y="-38100"/>
              <a:chExt cx="1284254" cy="851393"/>
            </a:xfrm>
          </p:grpSpPr>
          <p:sp>
            <p:nvSpPr>
              <p:cNvPr id="137" name="Freeform 19">
                <a:extLst>
                  <a:ext uri="{FF2B5EF4-FFF2-40B4-BE49-F238E27FC236}">
                    <a16:creationId xmlns:a16="http://schemas.microsoft.com/office/drawing/2014/main" id="{857C7A11-161F-3DBF-F94E-CFFD7B42633D}"/>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8" name="TextBox 20">
                <a:extLst>
                  <a:ext uri="{FF2B5EF4-FFF2-40B4-BE49-F238E27FC236}">
                    <a16:creationId xmlns:a16="http://schemas.microsoft.com/office/drawing/2014/main" id="{D8F49A7D-B7D6-86ED-043B-9C3B9601A99C}"/>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19" name="Group 21">
              <a:extLst>
                <a:ext uri="{FF2B5EF4-FFF2-40B4-BE49-F238E27FC236}">
                  <a16:creationId xmlns:a16="http://schemas.microsoft.com/office/drawing/2014/main" id="{2C2970AF-DFDF-8BA9-3FDE-045EBE967225}"/>
                </a:ext>
              </a:extLst>
            </p:cNvPr>
            <p:cNvGrpSpPr/>
            <p:nvPr/>
          </p:nvGrpSpPr>
          <p:grpSpPr>
            <a:xfrm rot="-5400000">
              <a:off x="8990472" y="648898"/>
              <a:ext cx="3850426" cy="2552631"/>
              <a:chOff x="0" y="-38100"/>
              <a:chExt cx="1284254" cy="851393"/>
            </a:xfrm>
          </p:grpSpPr>
          <p:sp>
            <p:nvSpPr>
              <p:cNvPr id="135" name="Freeform 22">
                <a:extLst>
                  <a:ext uri="{FF2B5EF4-FFF2-40B4-BE49-F238E27FC236}">
                    <a16:creationId xmlns:a16="http://schemas.microsoft.com/office/drawing/2014/main" id="{64F14A4C-DED8-DB0A-28CF-41D0D7E288D5}"/>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6" name="TextBox 135">
                <a:extLst>
                  <a:ext uri="{FF2B5EF4-FFF2-40B4-BE49-F238E27FC236}">
                    <a16:creationId xmlns:a16="http://schemas.microsoft.com/office/drawing/2014/main" id="{B1A25B1F-06A5-56D7-1C1F-FCAF67FDA56C}"/>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0" name="Group 24">
              <a:extLst>
                <a:ext uri="{FF2B5EF4-FFF2-40B4-BE49-F238E27FC236}">
                  <a16:creationId xmlns:a16="http://schemas.microsoft.com/office/drawing/2014/main" id="{E1F00FD7-7AD9-ECD6-1DE2-16D4877420DD}"/>
                </a:ext>
              </a:extLst>
            </p:cNvPr>
            <p:cNvGrpSpPr/>
            <p:nvPr/>
          </p:nvGrpSpPr>
          <p:grpSpPr>
            <a:xfrm rot="-5400000">
              <a:off x="11428872" y="648898"/>
              <a:ext cx="3850426" cy="2552631"/>
              <a:chOff x="0" y="-38100"/>
              <a:chExt cx="1284254" cy="851393"/>
            </a:xfrm>
          </p:grpSpPr>
          <p:sp>
            <p:nvSpPr>
              <p:cNvPr id="133" name="Freeform 25">
                <a:extLst>
                  <a:ext uri="{FF2B5EF4-FFF2-40B4-BE49-F238E27FC236}">
                    <a16:creationId xmlns:a16="http://schemas.microsoft.com/office/drawing/2014/main" id="{AEBCF631-26FB-016B-02C8-3137778AFA88}"/>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4" name="TextBox 26">
                <a:extLst>
                  <a:ext uri="{FF2B5EF4-FFF2-40B4-BE49-F238E27FC236}">
                    <a16:creationId xmlns:a16="http://schemas.microsoft.com/office/drawing/2014/main" id="{718D50E0-9DF6-93D7-D217-9D51815EB8BD}"/>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1" name="Group 27">
              <a:extLst>
                <a:ext uri="{FF2B5EF4-FFF2-40B4-BE49-F238E27FC236}">
                  <a16:creationId xmlns:a16="http://schemas.microsoft.com/office/drawing/2014/main" id="{6CEC823F-D36C-C4E9-D7FB-85B5826DA74D}"/>
                </a:ext>
              </a:extLst>
            </p:cNvPr>
            <p:cNvGrpSpPr/>
            <p:nvPr/>
          </p:nvGrpSpPr>
          <p:grpSpPr>
            <a:xfrm rot="-5400000">
              <a:off x="13867271" y="648898"/>
              <a:ext cx="3850426" cy="2552631"/>
              <a:chOff x="0" y="-38100"/>
              <a:chExt cx="1284254" cy="851393"/>
            </a:xfrm>
          </p:grpSpPr>
          <p:sp>
            <p:nvSpPr>
              <p:cNvPr id="131" name="Freeform 28">
                <a:extLst>
                  <a:ext uri="{FF2B5EF4-FFF2-40B4-BE49-F238E27FC236}">
                    <a16:creationId xmlns:a16="http://schemas.microsoft.com/office/drawing/2014/main" id="{276CEDBD-3EB8-1656-963B-6EE298A807F6}"/>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2" name="TextBox 29">
                <a:extLst>
                  <a:ext uri="{FF2B5EF4-FFF2-40B4-BE49-F238E27FC236}">
                    <a16:creationId xmlns:a16="http://schemas.microsoft.com/office/drawing/2014/main" id="{090129B4-6212-9C10-D895-587307FE8206}"/>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2" name="Group 30">
              <a:extLst>
                <a:ext uri="{FF2B5EF4-FFF2-40B4-BE49-F238E27FC236}">
                  <a16:creationId xmlns:a16="http://schemas.microsoft.com/office/drawing/2014/main" id="{1ECFD877-982F-65B7-41F8-5B4613AAE338}"/>
                </a:ext>
              </a:extLst>
            </p:cNvPr>
            <p:cNvGrpSpPr/>
            <p:nvPr/>
          </p:nvGrpSpPr>
          <p:grpSpPr>
            <a:xfrm rot="-5400000">
              <a:off x="16305671" y="648898"/>
              <a:ext cx="3850426" cy="2552631"/>
              <a:chOff x="0" y="-38100"/>
              <a:chExt cx="1284254" cy="851393"/>
            </a:xfrm>
          </p:grpSpPr>
          <p:sp>
            <p:nvSpPr>
              <p:cNvPr id="129" name="Freeform 31">
                <a:extLst>
                  <a:ext uri="{FF2B5EF4-FFF2-40B4-BE49-F238E27FC236}">
                    <a16:creationId xmlns:a16="http://schemas.microsoft.com/office/drawing/2014/main" id="{F7905AF6-FF6E-CF5C-FA1D-4D89CE06CA90}"/>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0" name="TextBox 32">
                <a:extLst>
                  <a:ext uri="{FF2B5EF4-FFF2-40B4-BE49-F238E27FC236}">
                    <a16:creationId xmlns:a16="http://schemas.microsoft.com/office/drawing/2014/main" id="{7BCCF841-7E61-2B5C-C4DD-476B49413A38}"/>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3" name="Group 33">
              <a:extLst>
                <a:ext uri="{FF2B5EF4-FFF2-40B4-BE49-F238E27FC236}">
                  <a16:creationId xmlns:a16="http://schemas.microsoft.com/office/drawing/2014/main" id="{BF7837F0-73B3-8B57-594D-85DE8FEE4DD9}"/>
                </a:ext>
              </a:extLst>
            </p:cNvPr>
            <p:cNvGrpSpPr/>
            <p:nvPr/>
          </p:nvGrpSpPr>
          <p:grpSpPr>
            <a:xfrm rot="-5400000">
              <a:off x="18744071" y="648898"/>
              <a:ext cx="3850426" cy="2552631"/>
              <a:chOff x="0" y="-38100"/>
              <a:chExt cx="1284254" cy="851393"/>
            </a:xfrm>
          </p:grpSpPr>
          <p:sp>
            <p:nvSpPr>
              <p:cNvPr id="127" name="Freeform 34">
                <a:extLst>
                  <a:ext uri="{FF2B5EF4-FFF2-40B4-BE49-F238E27FC236}">
                    <a16:creationId xmlns:a16="http://schemas.microsoft.com/office/drawing/2014/main" id="{B5924802-D66E-B991-B40D-847F8ADBB7C4}"/>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28" name="TextBox 35">
                <a:extLst>
                  <a:ext uri="{FF2B5EF4-FFF2-40B4-BE49-F238E27FC236}">
                    <a16:creationId xmlns:a16="http://schemas.microsoft.com/office/drawing/2014/main" id="{3B10408D-A319-0E36-C47D-A0D929CC7438}"/>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4" name="Group 36">
              <a:extLst>
                <a:ext uri="{FF2B5EF4-FFF2-40B4-BE49-F238E27FC236}">
                  <a16:creationId xmlns:a16="http://schemas.microsoft.com/office/drawing/2014/main" id="{C57CF764-4BC3-44CA-39B6-B7C16826FEAD}"/>
                </a:ext>
              </a:extLst>
            </p:cNvPr>
            <p:cNvGrpSpPr/>
            <p:nvPr/>
          </p:nvGrpSpPr>
          <p:grpSpPr>
            <a:xfrm rot="-5400000">
              <a:off x="21182471" y="648898"/>
              <a:ext cx="3850426" cy="2552631"/>
              <a:chOff x="0" y="-38100"/>
              <a:chExt cx="1284254" cy="851393"/>
            </a:xfrm>
          </p:grpSpPr>
          <p:sp>
            <p:nvSpPr>
              <p:cNvPr id="125" name="Freeform 37">
                <a:extLst>
                  <a:ext uri="{FF2B5EF4-FFF2-40B4-BE49-F238E27FC236}">
                    <a16:creationId xmlns:a16="http://schemas.microsoft.com/office/drawing/2014/main" id="{4FD4ABDA-7795-EC0D-1DE2-00766954401F}"/>
                  </a:ext>
                </a:extLst>
              </p:cNvPr>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26" name="TextBox 38">
                <a:extLst>
                  <a:ext uri="{FF2B5EF4-FFF2-40B4-BE49-F238E27FC236}">
                    <a16:creationId xmlns:a16="http://schemas.microsoft.com/office/drawing/2014/main" id="{02ED58FD-3075-1EC9-8DFB-BD693120BE59}"/>
                  </a:ext>
                </a:extLst>
              </p:cNvPr>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146" name="TextBox 145">
            <a:extLst>
              <a:ext uri="{FF2B5EF4-FFF2-40B4-BE49-F238E27FC236}">
                <a16:creationId xmlns:a16="http://schemas.microsoft.com/office/drawing/2014/main" id="{AECD102F-C963-E015-34D6-4FA9F7937195}"/>
              </a:ext>
            </a:extLst>
          </p:cNvPr>
          <p:cNvSpPr txBox="1"/>
          <p:nvPr/>
        </p:nvSpPr>
        <p:spPr>
          <a:xfrm>
            <a:off x="182935" y="3133145"/>
            <a:ext cx="5500486" cy="34163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l">
              <a:buFont typeface="Arial" pitchFamily="34" charset="0"/>
              <a:buChar char="•"/>
            </a:pPr>
            <a:r>
              <a:rPr lang="en-US" sz="3600" b="1" i="1"/>
              <a:t>Continuous Self-Renewal </a:t>
            </a:r>
          </a:p>
          <a:p>
            <a:pPr algn="l"/>
            <a:endParaRPr lang="en-US" sz="3600" b="1" i="1"/>
          </a:p>
          <a:p>
            <a:pPr algn="l"/>
            <a:endParaRPr lang="en-US" sz="3600" b="1" i="1"/>
          </a:p>
          <a:p>
            <a:pPr marL="457200" indent="-457200" algn="l">
              <a:buFont typeface="Arial" pitchFamily="34" charset="0"/>
              <a:buChar char="•"/>
            </a:pPr>
            <a:r>
              <a:rPr lang="en-US" sz="3600" b="1" i="1"/>
              <a:t> Improve Efficiency</a:t>
            </a:r>
          </a:p>
          <a:p>
            <a:pPr marL="457200" indent="-457200" algn="l">
              <a:buFont typeface="Arial" pitchFamily="34" charset="0"/>
              <a:buChar char="•"/>
            </a:pPr>
            <a:endParaRPr lang="en-US" sz="3600" b="1" i="1"/>
          </a:p>
          <a:p>
            <a:pPr algn="l"/>
            <a:endParaRPr lang="en-US" sz="3600" b="1" i="1"/>
          </a:p>
        </p:txBody>
      </p:sp>
      <p:sp>
        <p:nvSpPr>
          <p:cNvPr id="147" name="TextBox 146">
            <a:extLst>
              <a:ext uri="{FF2B5EF4-FFF2-40B4-BE49-F238E27FC236}">
                <a16:creationId xmlns:a16="http://schemas.microsoft.com/office/drawing/2014/main" id="{68AFCDCC-32BA-DF0A-68A4-EE4565B7A849}"/>
              </a:ext>
            </a:extLst>
          </p:cNvPr>
          <p:cNvSpPr txBox="1"/>
          <p:nvPr/>
        </p:nvSpPr>
        <p:spPr>
          <a:xfrm>
            <a:off x="13687527" y="2639299"/>
            <a:ext cx="4900536" cy="286232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l">
              <a:buFont typeface="Arial" pitchFamily="34" charset="0"/>
              <a:buChar char="•"/>
            </a:pPr>
            <a:endParaRPr lang="en-US" sz="3600" b="1" i="1"/>
          </a:p>
          <a:p>
            <a:pPr marL="457200" indent="-457200" algn="l">
              <a:buFont typeface="Arial" pitchFamily="34" charset="0"/>
              <a:buChar char="•"/>
            </a:pPr>
            <a:r>
              <a:rPr lang="en-US" sz="3600" b="1" i="1"/>
              <a:t>Balance Life</a:t>
            </a:r>
          </a:p>
          <a:p>
            <a:pPr marL="457200" indent="-457200" algn="l">
              <a:buFont typeface="Arial" pitchFamily="34" charset="0"/>
              <a:buChar char="•"/>
            </a:pPr>
            <a:endParaRPr lang="en-US" sz="3600" b="1" i="1"/>
          </a:p>
          <a:p>
            <a:pPr marL="457200" indent="-457200" algn="l">
              <a:buFont typeface="Arial" pitchFamily="34" charset="0"/>
              <a:buChar char="•"/>
            </a:pPr>
            <a:endParaRPr lang="en-US" sz="3600" b="1" i="1"/>
          </a:p>
          <a:p>
            <a:pPr marL="457200" indent="-457200" algn="l">
              <a:buFont typeface="Arial" pitchFamily="34" charset="0"/>
              <a:buChar char="•"/>
            </a:pPr>
            <a:r>
              <a:rPr lang="en-US" sz="3600" b="1" i="1"/>
              <a:t>Invest in Yourself</a:t>
            </a:r>
            <a:endParaRPr lang="en-US" sz="3600"/>
          </a:p>
        </p:txBody>
      </p:sp>
      <p:sp>
        <p:nvSpPr>
          <p:cNvPr id="148" name="TextBox 147">
            <a:extLst>
              <a:ext uri="{FF2B5EF4-FFF2-40B4-BE49-F238E27FC236}">
                <a16:creationId xmlns:a16="http://schemas.microsoft.com/office/drawing/2014/main" id="{0DECDBB8-4A24-9A4F-A58D-BD40EFBDAE43}"/>
              </a:ext>
            </a:extLst>
          </p:cNvPr>
          <p:cNvSpPr txBox="1"/>
          <p:nvPr/>
        </p:nvSpPr>
        <p:spPr>
          <a:xfrm>
            <a:off x="3393857" y="7646361"/>
            <a:ext cx="11694111"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a:t>Means to continuously renewing yourself in all key areas of life to stay effective, balanced, and productive</a:t>
            </a:r>
            <a:r>
              <a:rPr lang="en-US" sz="3600"/>
              <a:t>.</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3202619" y="5211189"/>
            <a:ext cx="7223926" cy="4574772"/>
            <a:chOff x="0" y="0"/>
            <a:chExt cx="1284254" cy="813293"/>
          </a:xfrm>
        </p:grpSpPr>
        <p:sp>
          <p:nvSpPr>
            <p:cNvPr id="3" name="Freeform 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78D6C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 name="TextBox 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5" name="Group 5"/>
          <p:cNvGrpSpPr/>
          <p:nvPr/>
        </p:nvGrpSpPr>
        <p:grpSpPr>
          <a:xfrm rot="-5400000">
            <a:off x="7777697" y="5335826"/>
            <a:ext cx="7223926" cy="4574772"/>
            <a:chOff x="0" y="0"/>
            <a:chExt cx="1284254" cy="813293"/>
          </a:xfrm>
        </p:grpSpPr>
        <p:sp>
          <p:nvSpPr>
            <p:cNvPr id="6" name="Freeform 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 name="TextBox 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8" name="Group 8"/>
          <p:cNvGrpSpPr/>
          <p:nvPr/>
        </p:nvGrpSpPr>
        <p:grpSpPr>
          <a:xfrm rot="-5400000">
            <a:off x="12378799" y="5335826"/>
            <a:ext cx="7223926" cy="4574772"/>
            <a:chOff x="0" y="0"/>
            <a:chExt cx="1284254" cy="813293"/>
          </a:xfrm>
        </p:grpSpPr>
        <p:sp>
          <p:nvSpPr>
            <p:cNvPr id="9" name="Freeform 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TextBox 1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1" name="Group 11"/>
          <p:cNvGrpSpPr/>
          <p:nvPr/>
        </p:nvGrpSpPr>
        <p:grpSpPr>
          <a:xfrm rot="-5400000">
            <a:off x="-1372459" y="5211189"/>
            <a:ext cx="7223926" cy="4574772"/>
            <a:chOff x="0" y="0"/>
            <a:chExt cx="1284254" cy="813293"/>
          </a:xfrm>
        </p:grpSpPr>
        <p:sp>
          <p:nvSpPr>
            <p:cNvPr id="12" name="Freeform 1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F1BDD6"/>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 name="TextBox 1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sp>
        <p:nvSpPr>
          <p:cNvPr id="14" name="TextBox 14"/>
          <p:cNvSpPr txBox="1"/>
          <p:nvPr/>
        </p:nvSpPr>
        <p:spPr>
          <a:xfrm>
            <a:off x="1028700" y="837209"/>
            <a:ext cx="16230600" cy="107721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1200"/>
              </a:lnSpc>
            </a:pPr>
            <a:r>
              <a:rPr lang="en-US" sz="6000" b="1">
                <a:solidFill>
                  <a:srgbClr val="392503"/>
                </a:solidFill>
                <a:latin typeface="Aprila Bold"/>
                <a:ea typeface="Aprila Bold"/>
                <a:cs typeface="Aprila Bold"/>
                <a:sym typeface="Aprila Bold"/>
              </a:rPr>
              <a:t>Sharpen the Saw as in four dimensions</a:t>
            </a:r>
          </a:p>
        </p:txBody>
      </p:sp>
      <p:sp>
        <p:nvSpPr>
          <p:cNvPr id="16" name="TextBox 16"/>
          <p:cNvSpPr txBox="1"/>
          <p:nvPr/>
        </p:nvSpPr>
        <p:spPr>
          <a:xfrm>
            <a:off x="219527" y="4168666"/>
            <a:ext cx="3947987" cy="157312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4200"/>
              </a:lnSpc>
            </a:pPr>
            <a:r>
              <a:rPr lang="en-US" sz="3000" b="1" u="sng" spc="678">
                <a:solidFill>
                  <a:srgbClr val="392503"/>
                </a:solidFill>
                <a:latin typeface="Livvic"/>
                <a:ea typeface="Livvic"/>
                <a:cs typeface="Livvic"/>
                <a:sym typeface="Livvic"/>
              </a:rPr>
              <a:t>EMOTIONAL /SOCIAL RENEWAL</a:t>
            </a:r>
          </a:p>
        </p:txBody>
      </p:sp>
      <p:sp>
        <p:nvSpPr>
          <p:cNvPr id="21" name="TextBox 21"/>
          <p:cNvSpPr txBox="1"/>
          <p:nvPr/>
        </p:nvSpPr>
        <p:spPr>
          <a:xfrm>
            <a:off x="5300291" y="4153945"/>
            <a:ext cx="3054300" cy="103451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4200"/>
              </a:lnSpc>
            </a:pPr>
            <a:r>
              <a:rPr lang="en-US" sz="3000" b="1" u="sng" spc="678">
                <a:solidFill>
                  <a:srgbClr val="392503"/>
                </a:solidFill>
                <a:latin typeface="Livvic"/>
                <a:ea typeface="Livvic"/>
                <a:cs typeface="Livvic"/>
                <a:sym typeface="Livvic"/>
              </a:rPr>
              <a:t>PHYSICAL RENEWAL</a:t>
            </a:r>
          </a:p>
        </p:txBody>
      </p:sp>
      <p:sp>
        <p:nvSpPr>
          <p:cNvPr id="22" name="TextBox 22"/>
          <p:cNvSpPr txBox="1"/>
          <p:nvPr/>
        </p:nvSpPr>
        <p:spPr>
          <a:xfrm>
            <a:off x="9635339" y="4168666"/>
            <a:ext cx="3947987" cy="1034514"/>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4200"/>
              </a:lnSpc>
            </a:pPr>
            <a:r>
              <a:rPr lang="en-US" sz="3000" b="1" u="sng" spc="678">
                <a:solidFill>
                  <a:srgbClr val="392503"/>
                </a:solidFill>
                <a:latin typeface="Livvic"/>
                <a:ea typeface="Livvic"/>
                <a:cs typeface="Livvic"/>
                <a:sym typeface="Livvic"/>
              </a:rPr>
              <a:t>MENTAL RENEWAL</a:t>
            </a:r>
          </a:p>
        </p:txBody>
      </p:sp>
      <p:sp>
        <p:nvSpPr>
          <p:cNvPr id="23" name="TextBox 23"/>
          <p:cNvSpPr txBox="1"/>
          <p:nvPr/>
        </p:nvSpPr>
        <p:spPr>
          <a:xfrm>
            <a:off x="14120485" y="4247146"/>
            <a:ext cx="3947987" cy="1034514"/>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4200"/>
              </a:lnSpc>
            </a:pPr>
            <a:r>
              <a:rPr lang="en-US" sz="3000" b="1" u="sng" spc="678">
                <a:solidFill>
                  <a:srgbClr val="392503"/>
                </a:solidFill>
                <a:latin typeface="Livvic"/>
                <a:ea typeface="Livvic"/>
                <a:cs typeface="Livvic"/>
                <a:sym typeface="Livvic"/>
              </a:rPr>
              <a:t>SPIRITUAL RENEWAL</a:t>
            </a:r>
          </a:p>
        </p:txBody>
      </p:sp>
      <p:grpSp>
        <p:nvGrpSpPr>
          <p:cNvPr id="28" name="Group 28"/>
          <p:cNvGrpSpPr/>
          <p:nvPr/>
        </p:nvGrpSpPr>
        <p:grpSpPr>
          <a:xfrm>
            <a:off x="2011229" y="2224997"/>
            <a:ext cx="14244853" cy="1068302"/>
            <a:chOff x="0" y="0"/>
            <a:chExt cx="5222571" cy="406400"/>
          </a:xfrm>
        </p:grpSpPr>
        <p:sp>
          <p:nvSpPr>
            <p:cNvPr id="29" name="Freeform 29"/>
            <p:cNvSpPr/>
            <p:nvPr/>
          </p:nvSpPr>
          <p:spPr>
            <a:xfrm>
              <a:off x="0" y="0"/>
              <a:ext cx="5222571" cy="406400"/>
            </a:xfrm>
            <a:custGeom>
              <a:avLst/>
              <a:gdLst/>
              <a:ahLst/>
              <a:cxnLst/>
              <a:rect l="l" t="t" r="r" b="b"/>
              <a:pathLst>
                <a:path w="5222571" h="406400">
                  <a:moveTo>
                    <a:pt x="5019371" y="0"/>
                  </a:moveTo>
                  <a:cubicBezTo>
                    <a:pt x="5131595" y="0"/>
                    <a:pt x="5222571" y="90976"/>
                    <a:pt x="5222571" y="203200"/>
                  </a:cubicBezTo>
                  <a:cubicBezTo>
                    <a:pt x="5222571" y="315424"/>
                    <a:pt x="5131595" y="406400"/>
                    <a:pt x="5019371" y="406400"/>
                  </a:cubicBezTo>
                  <a:lnTo>
                    <a:pt x="203200" y="406400"/>
                  </a:lnTo>
                  <a:cubicBezTo>
                    <a:pt x="90976" y="406400"/>
                    <a:pt x="0" y="315424"/>
                    <a:pt x="0" y="203200"/>
                  </a:cubicBezTo>
                  <a:cubicBezTo>
                    <a:pt x="0" y="90976"/>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 name="TextBox 30"/>
            <p:cNvSpPr txBox="1"/>
            <p:nvPr/>
          </p:nvSpPr>
          <p:spPr>
            <a:xfrm>
              <a:off x="0" y="-38100"/>
              <a:ext cx="5222571" cy="44450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spcBef>
                  <a:spcPct val="0"/>
                </a:spcBef>
              </a:pPr>
              <a:endParaRPr/>
            </a:p>
          </p:txBody>
        </p:sp>
      </p:grpSp>
      <p:sp>
        <p:nvSpPr>
          <p:cNvPr id="15" name="TextBox 14">
            <a:extLst>
              <a:ext uri="{FF2B5EF4-FFF2-40B4-BE49-F238E27FC236}">
                <a16:creationId xmlns:a16="http://schemas.microsoft.com/office/drawing/2014/main" id="{C6A7B7E9-ABD3-947A-99F9-7E8DEF64EAD2}"/>
              </a:ext>
            </a:extLst>
          </p:cNvPr>
          <p:cNvSpPr txBox="1"/>
          <p:nvPr/>
        </p:nvSpPr>
        <p:spPr>
          <a:xfrm>
            <a:off x="4524708" y="5639657"/>
            <a:ext cx="4551236"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Arial" pitchFamily="34" charset="0"/>
              <a:buChar char="•"/>
            </a:pPr>
            <a:r>
              <a:rPr lang="en-US" sz="2800"/>
              <a:t>Maintains health &amp; energy </a:t>
            </a:r>
          </a:p>
          <a:p>
            <a:pPr marL="342900" indent="-342900" algn="l">
              <a:buFont typeface="Arial" pitchFamily="34" charset="0"/>
              <a:buChar char="•"/>
            </a:pPr>
            <a:endParaRPr lang="en-US" sz="2800"/>
          </a:p>
          <a:p>
            <a:pPr marL="342900" indent="-342900" algn="l">
              <a:buFont typeface="Arial" pitchFamily="34" charset="0"/>
              <a:buChar char="•"/>
            </a:pPr>
            <a:r>
              <a:rPr lang="en-US" sz="2800"/>
              <a:t>Improves strength, stamina &amp; daily performance</a:t>
            </a:r>
          </a:p>
          <a:p>
            <a:pPr algn="l"/>
            <a:endParaRPr lang="en-US" sz="2800"/>
          </a:p>
        </p:txBody>
      </p:sp>
      <p:pic>
        <p:nvPicPr>
          <p:cNvPr id="17" name="Picture 17">
            <a:extLst>
              <a:ext uri="{FF2B5EF4-FFF2-40B4-BE49-F238E27FC236}">
                <a16:creationId xmlns:a16="http://schemas.microsoft.com/office/drawing/2014/main" id="{1FF46C2D-282E-DC55-4BF2-CBE088D078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5830" y="7964782"/>
            <a:ext cx="2787749" cy="2246769"/>
          </a:xfrm>
          <a:prstGeom prst="rect">
            <a:avLst/>
          </a:prstGeom>
        </p:spPr>
      </p:pic>
      <p:sp>
        <p:nvSpPr>
          <p:cNvPr id="18" name="TextBox 17">
            <a:extLst>
              <a:ext uri="{FF2B5EF4-FFF2-40B4-BE49-F238E27FC236}">
                <a16:creationId xmlns:a16="http://schemas.microsoft.com/office/drawing/2014/main" id="{BE354099-6137-28A1-9B26-83EDB64F9399}"/>
              </a:ext>
            </a:extLst>
          </p:cNvPr>
          <p:cNvSpPr txBox="1"/>
          <p:nvPr/>
        </p:nvSpPr>
        <p:spPr>
          <a:xfrm>
            <a:off x="-140645" y="5693118"/>
            <a:ext cx="4662894"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Arial" pitchFamily="34" charset="0"/>
              <a:buChar char="•"/>
            </a:pPr>
            <a:r>
              <a:rPr lang="en-US" sz="2800"/>
              <a:t>Builds strong relationships &amp; emotional balance</a:t>
            </a:r>
          </a:p>
          <a:p>
            <a:pPr marL="342900" indent="-342900" algn="l">
              <a:buFont typeface="Arial" pitchFamily="34" charset="0"/>
              <a:buChar char="•"/>
            </a:pPr>
            <a:endParaRPr lang="en-US" sz="2800"/>
          </a:p>
          <a:p>
            <a:pPr marL="342900" indent="-342900" algn="l">
              <a:buFont typeface="Arial" pitchFamily="34" charset="0"/>
              <a:buChar char="•"/>
            </a:pPr>
            <a:r>
              <a:rPr lang="en-US" sz="2800"/>
              <a:t>Improves communication &amp; empathy </a:t>
            </a:r>
          </a:p>
        </p:txBody>
      </p:sp>
      <p:pic>
        <p:nvPicPr>
          <p:cNvPr id="19" name="Picture 19">
            <a:extLst>
              <a:ext uri="{FF2B5EF4-FFF2-40B4-BE49-F238E27FC236}">
                <a16:creationId xmlns:a16="http://schemas.microsoft.com/office/drawing/2014/main" id="{D2D3FFF7-9E19-EDB2-CC9C-2129100DF5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722" y="7993541"/>
            <a:ext cx="2396481" cy="2092449"/>
          </a:xfrm>
          <a:prstGeom prst="rect">
            <a:avLst/>
          </a:prstGeom>
        </p:spPr>
      </p:pic>
      <p:sp>
        <p:nvSpPr>
          <p:cNvPr id="20" name="TextBox 19">
            <a:extLst>
              <a:ext uri="{FF2B5EF4-FFF2-40B4-BE49-F238E27FC236}">
                <a16:creationId xmlns:a16="http://schemas.microsoft.com/office/drawing/2014/main" id="{9C460C92-DEB4-303E-7AAE-8D8200129B92}"/>
              </a:ext>
            </a:extLst>
          </p:cNvPr>
          <p:cNvSpPr txBox="1"/>
          <p:nvPr/>
        </p:nvSpPr>
        <p:spPr>
          <a:xfrm>
            <a:off x="9128605" y="5485878"/>
            <a:ext cx="4574771"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Arial" pitchFamily="34" charset="0"/>
              <a:buChar char="•"/>
            </a:pPr>
            <a:r>
              <a:rPr lang="en-US" sz="2800"/>
              <a:t>Keeps your mind active, focused &amp; growing </a:t>
            </a:r>
          </a:p>
          <a:p>
            <a:pPr marL="342900" indent="-342900" algn="l">
              <a:buFont typeface="Arial" pitchFamily="34" charset="0"/>
              <a:buChar char="•"/>
            </a:pPr>
            <a:endParaRPr lang="en-US" sz="2800"/>
          </a:p>
          <a:p>
            <a:pPr marL="342900" indent="-342900" algn="l">
              <a:buFont typeface="Arial" pitchFamily="34" charset="0"/>
              <a:buChar char="•"/>
            </a:pPr>
            <a:r>
              <a:rPr lang="en-US" sz="2800"/>
              <a:t>Improves thinking &amp; creativity </a:t>
            </a:r>
          </a:p>
        </p:txBody>
      </p:sp>
      <p:pic>
        <p:nvPicPr>
          <p:cNvPr id="24" name="Picture 24">
            <a:extLst>
              <a:ext uri="{FF2B5EF4-FFF2-40B4-BE49-F238E27FC236}">
                <a16:creationId xmlns:a16="http://schemas.microsoft.com/office/drawing/2014/main" id="{741F0AF5-06FE-4778-73E1-2DDBEF6D090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22423" y="7867982"/>
            <a:ext cx="2572211" cy="2343569"/>
          </a:xfrm>
          <a:prstGeom prst="rect">
            <a:avLst/>
          </a:prstGeom>
        </p:spPr>
      </p:pic>
      <p:sp>
        <p:nvSpPr>
          <p:cNvPr id="25" name="TextBox 24">
            <a:extLst>
              <a:ext uri="{FF2B5EF4-FFF2-40B4-BE49-F238E27FC236}">
                <a16:creationId xmlns:a16="http://schemas.microsoft.com/office/drawing/2014/main" id="{E58E23D2-5451-5B84-6593-3F4718A4A199}"/>
              </a:ext>
            </a:extLst>
          </p:cNvPr>
          <p:cNvSpPr txBox="1"/>
          <p:nvPr/>
        </p:nvSpPr>
        <p:spPr>
          <a:xfrm>
            <a:off x="13758139" y="5639657"/>
            <a:ext cx="4438918"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Arial" pitchFamily="34" charset="0"/>
              <a:buChar char="•"/>
            </a:pPr>
            <a:r>
              <a:rPr lang="en-US" sz="2800"/>
              <a:t>Gives purpose &amp; inner peace</a:t>
            </a:r>
          </a:p>
          <a:p>
            <a:pPr marL="342900" indent="-342900" algn="l">
              <a:buFont typeface="Arial" pitchFamily="34" charset="0"/>
              <a:buChar char="•"/>
            </a:pPr>
            <a:r>
              <a:rPr lang="en-US" sz="2800"/>
              <a:t>Connects with values and beliefs </a:t>
            </a:r>
          </a:p>
          <a:p>
            <a:pPr marL="342900" indent="-342900" algn="l">
              <a:buFont typeface="Arial" pitchFamily="34" charset="0"/>
              <a:buChar char="•"/>
            </a:pPr>
            <a:r>
              <a:rPr lang="en-US" sz="2800"/>
              <a:t>Guides decisions in life</a:t>
            </a:r>
          </a:p>
        </p:txBody>
      </p:sp>
      <p:pic>
        <p:nvPicPr>
          <p:cNvPr id="26" name="Picture 26">
            <a:extLst>
              <a:ext uri="{FF2B5EF4-FFF2-40B4-BE49-F238E27FC236}">
                <a16:creationId xmlns:a16="http://schemas.microsoft.com/office/drawing/2014/main" id="{0A93F63C-E7FC-9174-E6E6-37B8C10726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868570" y="8017856"/>
            <a:ext cx="2451817" cy="2288363"/>
          </a:xfrm>
          <a:prstGeom prst="rect">
            <a:avLst/>
          </a:prstGeom>
        </p:spPr>
      </p:pic>
      <p:sp>
        <p:nvSpPr>
          <p:cNvPr id="27" name="TextBox 26">
            <a:extLst>
              <a:ext uri="{FF2B5EF4-FFF2-40B4-BE49-F238E27FC236}">
                <a16:creationId xmlns:a16="http://schemas.microsoft.com/office/drawing/2014/main" id="{631BA679-E62C-3F5C-F948-815312707041}"/>
              </a:ext>
            </a:extLst>
          </p:cNvPr>
          <p:cNvSpPr txBox="1"/>
          <p:nvPr/>
        </p:nvSpPr>
        <p:spPr>
          <a:xfrm rot="10800000" flipV="1">
            <a:off x="2989254" y="2388799"/>
            <a:ext cx="1291529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4000" b="1" i="1"/>
              <a:t>Renewing these four areas to stay balanced and effective</a:t>
            </a:r>
          </a:p>
        </p:txBody>
      </p:sp>
      <p:sp>
        <p:nvSpPr>
          <p:cNvPr id="32" name="Freeform 20">
            <a:extLst>
              <a:ext uri="{FF2B5EF4-FFF2-40B4-BE49-F238E27FC236}">
                <a16:creationId xmlns:a16="http://schemas.microsoft.com/office/drawing/2014/main" id="{34F31FCC-C54C-08E3-B648-1E6A7FACF935}"/>
              </a:ext>
            </a:extLst>
          </p:cNvPr>
          <p:cNvSpPr/>
          <p:nvPr/>
        </p:nvSpPr>
        <p:spPr>
          <a:xfrm>
            <a:off x="209121" y="2136812"/>
            <a:ext cx="1527414" cy="1527414"/>
          </a:xfrm>
          <a:custGeom>
            <a:avLst/>
            <a:gdLst/>
            <a:ahLst/>
            <a:cxnLst/>
            <a:rect l="l" t="t" r="r" b="b"/>
            <a:pathLst>
              <a:path w="1527414" h="1527414">
                <a:moveTo>
                  <a:pt x="0" y="0"/>
                </a:moveTo>
                <a:lnTo>
                  <a:pt x="1527414" y="0"/>
                </a:lnTo>
                <a:lnTo>
                  <a:pt x="1527414" y="1527414"/>
                </a:lnTo>
                <a:lnTo>
                  <a:pt x="0" y="15274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 name="Freeform 21">
            <a:extLst>
              <a:ext uri="{FF2B5EF4-FFF2-40B4-BE49-F238E27FC236}">
                <a16:creationId xmlns:a16="http://schemas.microsoft.com/office/drawing/2014/main" id="{97177C74-3F04-6998-C811-892348622745}"/>
              </a:ext>
            </a:extLst>
          </p:cNvPr>
          <p:cNvSpPr/>
          <p:nvPr/>
        </p:nvSpPr>
        <p:spPr>
          <a:xfrm>
            <a:off x="16745286" y="477462"/>
            <a:ext cx="1028025" cy="1028025"/>
          </a:xfrm>
          <a:custGeom>
            <a:avLst/>
            <a:gdLst/>
            <a:ahLst/>
            <a:cxnLst/>
            <a:rect l="l" t="t" r="r" b="b"/>
            <a:pathLst>
              <a:path w="1028025" h="1028025">
                <a:moveTo>
                  <a:pt x="0" y="0"/>
                </a:moveTo>
                <a:lnTo>
                  <a:pt x="1028026" y="0"/>
                </a:lnTo>
                <a:lnTo>
                  <a:pt x="1028026" y="1028026"/>
                </a:lnTo>
                <a:lnTo>
                  <a:pt x="0" y="10280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8F4"/>
        </a:solidFill>
        <a:effectLst/>
      </p:bgPr>
    </p:bg>
    <p:spTree>
      <p:nvGrpSpPr>
        <p:cNvPr id="1" name=""/>
        <p:cNvGrpSpPr/>
        <p:nvPr/>
      </p:nvGrpSpPr>
      <p:grpSpPr>
        <a:xfrm>
          <a:off x="0" y="0"/>
          <a:ext cx="0" cy="0"/>
          <a:chOff x="0" y="0"/>
          <a:chExt cx="0" cy="0"/>
        </a:xfrm>
      </p:grpSpPr>
      <p:grpSp>
        <p:nvGrpSpPr>
          <p:cNvPr id="2" name="Group 2"/>
          <p:cNvGrpSpPr/>
          <p:nvPr/>
        </p:nvGrpSpPr>
        <p:grpSpPr>
          <a:xfrm>
            <a:off x="-240486" y="1543050"/>
            <a:ext cx="18677096" cy="6593217"/>
            <a:chOff x="0" y="-192881"/>
            <a:chExt cx="24902793" cy="7177985"/>
          </a:xfrm>
        </p:grpSpPr>
        <p:grpSp>
          <p:nvGrpSpPr>
            <p:cNvPr id="3" name="Group 3"/>
            <p:cNvGrpSpPr/>
            <p:nvPr/>
          </p:nvGrpSpPr>
          <p:grpSpPr>
            <a:xfrm rot="-5400000">
              <a:off x="1972355" y="3840691"/>
              <a:ext cx="3850426" cy="2438400"/>
              <a:chOff x="0" y="0"/>
              <a:chExt cx="1284254" cy="813293"/>
            </a:xfrm>
          </p:grpSpPr>
          <p:sp>
            <p:nvSpPr>
              <p:cNvPr id="4" name="Freeform 4"/>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 name="TextBox 5"/>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6" name="Group 6"/>
            <p:cNvGrpSpPr/>
            <p:nvPr/>
          </p:nvGrpSpPr>
          <p:grpSpPr>
            <a:xfrm rot="-5400000">
              <a:off x="4410755" y="3840691"/>
              <a:ext cx="3850426" cy="2438400"/>
              <a:chOff x="0" y="0"/>
              <a:chExt cx="1284254" cy="813293"/>
            </a:xfrm>
          </p:grpSpPr>
          <p:sp>
            <p:nvSpPr>
              <p:cNvPr id="7" name="Freeform 7"/>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8" name="TextBox 8"/>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9" name="Group 9"/>
            <p:cNvGrpSpPr/>
            <p:nvPr/>
          </p:nvGrpSpPr>
          <p:grpSpPr>
            <a:xfrm rot="-5400000">
              <a:off x="6849155" y="3840691"/>
              <a:ext cx="3850426" cy="2438400"/>
              <a:chOff x="0" y="0"/>
              <a:chExt cx="1284254" cy="813293"/>
            </a:xfrm>
          </p:grpSpPr>
          <p:sp>
            <p:nvSpPr>
              <p:cNvPr id="10" name="Freeform 10"/>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1" name="TextBox 11"/>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2" name="Group 12"/>
            <p:cNvGrpSpPr/>
            <p:nvPr/>
          </p:nvGrpSpPr>
          <p:grpSpPr>
            <a:xfrm rot="-5400000">
              <a:off x="-466045" y="3840691"/>
              <a:ext cx="3850426" cy="2438400"/>
              <a:chOff x="0" y="0"/>
              <a:chExt cx="1284254" cy="813293"/>
            </a:xfrm>
          </p:grpSpPr>
          <p:sp>
            <p:nvSpPr>
              <p:cNvPr id="13" name="Freeform 13"/>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 name="TextBox 14"/>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5" name="Group 15"/>
            <p:cNvGrpSpPr/>
            <p:nvPr/>
          </p:nvGrpSpPr>
          <p:grpSpPr>
            <a:xfrm rot="-5400000">
              <a:off x="9287555" y="3840691"/>
              <a:ext cx="3850426" cy="2438400"/>
              <a:chOff x="0" y="0"/>
              <a:chExt cx="1284254" cy="813293"/>
            </a:xfrm>
          </p:grpSpPr>
          <p:sp>
            <p:nvSpPr>
              <p:cNvPr id="16" name="Freeform 16"/>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 name="TextBox 17"/>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18" name="Group 18"/>
            <p:cNvGrpSpPr/>
            <p:nvPr/>
          </p:nvGrpSpPr>
          <p:grpSpPr>
            <a:xfrm rot="-5400000">
              <a:off x="11725955" y="3840691"/>
              <a:ext cx="3850426" cy="2438400"/>
              <a:chOff x="0" y="0"/>
              <a:chExt cx="1284254" cy="813293"/>
            </a:xfrm>
          </p:grpSpPr>
          <p:sp>
            <p:nvSpPr>
              <p:cNvPr id="19" name="Freeform 19"/>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 name="TextBox 20"/>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1" name="Group 21"/>
            <p:cNvGrpSpPr/>
            <p:nvPr/>
          </p:nvGrpSpPr>
          <p:grpSpPr>
            <a:xfrm rot="-5400000">
              <a:off x="14164356" y="3840691"/>
              <a:ext cx="3850426" cy="2438400"/>
              <a:chOff x="0" y="0"/>
              <a:chExt cx="1284254" cy="813293"/>
            </a:xfrm>
          </p:grpSpPr>
          <p:sp>
            <p:nvSpPr>
              <p:cNvPr id="22" name="Freeform 22"/>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 name="TextBox 23"/>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4" name="Group 24"/>
            <p:cNvGrpSpPr/>
            <p:nvPr/>
          </p:nvGrpSpPr>
          <p:grpSpPr>
            <a:xfrm rot="-5400000">
              <a:off x="16602756" y="3840691"/>
              <a:ext cx="3850426" cy="2438400"/>
              <a:chOff x="0" y="0"/>
              <a:chExt cx="1284254" cy="813293"/>
            </a:xfrm>
          </p:grpSpPr>
          <p:sp>
            <p:nvSpPr>
              <p:cNvPr id="25" name="Freeform 25"/>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 name="TextBox 26"/>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27" name="Group 27"/>
            <p:cNvGrpSpPr/>
            <p:nvPr/>
          </p:nvGrpSpPr>
          <p:grpSpPr>
            <a:xfrm rot="-5400000">
              <a:off x="19041156" y="3840691"/>
              <a:ext cx="3850426" cy="2438400"/>
              <a:chOff x="0" y="0"/>
              <a:chExt cx="1284254" cy="813293"/>
            </a:xfrm>
          </p:grpSpPr>
          <p:sp>
            <p:nvSpPr>
              <p:cNvPr id="28" name="Freeform 28"/>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 name="TextBox 29"/>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0" name="Group 30"/>
            <p:cNvGrpSpPr/>
            <p:nvPr/>
          </p:nvGrpSpPr>
          <p:grpSpPr>
            <a:xfrm rot="-5400000">
              <a:off x="21479556" y="3840691"/>
              <a:ext cx="3850426" cy="2438400"/>
              <a:chOff x="0" y="0"/>
              <a:chExt cx="1284254" cy="813293"/>
            </a:xfrm>
          </p:grpSpPr>
          <p:sp>
            <p:nvSpPr>
              <p:cNvPr id="31" name="Freeform 31"/>
              <p:cNvSpPr/>
              <p:nvPr/>
            </p:nvSpPr>
            <p:spPr>
              <a:xfrm>
                <a:off x="0" y="0"/>
                <a:ext cx="1284254" cy="813293"/>
              </a:xfrm>
              <a:custGeom>
                <a:avLst/>
                <a:gdLst/>
                <a:ahLst/>
                <a:cxnLst/>
                <a:rect l="l" t="t" r="r" b="b"/>
                <a:pathLst>
                  <a:path w="1284254" h="813293">
                    <a:moveTo>
                      <a:pt x="1081054" y="0"/>
                    </a:moveTo>
                    <a:cubicBezTo>
                      <a:pt x="1193278" y="0"/>
                      <a:pt x="1284254" y="182062"/>
                      <a:pt x="1284254" y="406646"/>
                    </a:cubicBezTo>
                    <a:cubicBezTo>
                      <a:pt x="1284254" y="631231"/>
                      <a:pt x="1193278" y="813293"/>
                      <a:pt x="1081054" y="813293"/>
                    </a:cubicBezTo>
                    <a:lnTo>
                      <a:pt x="203200" y="813293"/>
                    </a:lnTo>
                    <a:cubicBezTo>
                      <a:pt x="90976" y="813293"/>
                      <a:pt x="0" y="631231"/>
                      <a:pt x="0" y="406646"/>
                    </a:cubicBezTo>
                    <a:cubicBezTo>
                      <a:pt x="0" y="182062"/>
                      <a:pt x="90976" y="0"/>
                      <a:pt x="203200" y="0"/>
                    </a:cubicBez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 name="TextBox 32"/>
              <p:cNvSpPr txBox="1"/>
              <p:nvPr/>
            </p:nvSpPr>
            <p:spPr>
              <a:xfrm>
                <a:off x="0" y="-38100"/>
                <a:ext cx="1284254" cy="85139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nvGrpSpPr>
            <p:cNvPr id="33" name="Group 33"/>
            <p:cNvGrpSpPr/>
            <p:nvPr/>
          </p:nvGrpSpPr>
          <p:grpSpPr>
            <a:xfrm>
              <a:off x="0" y="-192881"/>
              <a:ext cx="24902793" cy="6462237"/>
              <a:chOff x="0" y="-38100"/>
              <a:chExt cx="4919070" cy="1276491"/>
            </a:xfrm>
          </p:grpSpPr>
          <p:sp>
            <p:nvSpPr>
              <p:cNvPr id="34" name="Freeform 34"/>
              <p:cNvSpPr/>
              <p:nvPr/>
            </p:nvSpPr>
            <p:spPr>
              <a:xfrm>
                <a:off x="0" y="-11373"/>
                <a:ext cx="4919070" cy="1238391"/>
              </a:xfrm>
              <a:custGeom>
                <a:avLst/>
                <a:gdLst/>
                <a:ahLst/>
                <a:cxnLst/>
                <a:rect l="l" t="t" r="r" b="b"/>
                <a:pathLst>
                  <a:path w="4919070" h="1238391">
                    <a:moveTo>
                      <a:pt x="0" y="0"/>
                    </a:moveTo>
                    <a:lnTo>
                      <a:pt x="4919070" y="0"/>
                    </a:lnTo>
                    <a:lnTo>
                      <a:pt x="4919070" y="1238391"/>
                    </a:lnTo>
                    <a:lnTo>
                      <a:pt x="0" y="1238391"/>
                    </a:lnTo>
                    <a:close/>
                  </a:path>
                </a:pathLst>
              </a:custGeom>
              <a:solidFill>
                <a:srgbClr val="E4B38D"/>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TextBox 35"/>
              <p:cNvSpPr txBox="1"/>
              <p:nvPr/>
            </p:nvSpPr>
            <p:spPr>
              <a:xfrm>
                <a:off x="0" y="-38100"/>
                <a:ext cx="4919070" cy="1276491"/>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p:txBody>
          </p:sp>
        </p:grpSp>
      </p:grpSp>
      <p:sp>
        <p:nvSpPr>
          <p:cNvPr id="36" name="TextBox 36"/>
          <p:cNvSpPr txBox="1"/>
          <p:nvPr/>
        </p:nvSpPr>
        <p:spPr>
          <a:xfrm>
            <a:off x="655001" y="178275"/>
            <a:ext cx="16230600" cy="107721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1200"/>
              </a:lnSpc>
            </a:pPr>
            <a:r>
              <a:rPr lang="en-US" sz="8000" b="1">
                <a:solidFill>
                  <a:srgbClr val="392503"/>
                </a:solidFill>
                <a:latin typeface="Aprila Bold"/>
                <a:ea typeface="Aprila Bold"/>
                <a:cs typeface="Aprila Bold"/>
                <a:sym typeface="Aprila Bold"/>
              </a:rPr>
              <a:t>Continuous cycle of growth</a:t>
            </a:r>
          </a:p>
        </p:txBody>
      </p:sp>
      <p:grpSp>
        <p:nvGrpSpPr>
          <p:cNvPr id="45" name="Group 45"/>
          <p:cNvGrpSpPr/>
          <p:nvPr/>
        </p:nvGrpSpPr>
        <p:grpSpPr>
          <a:xfrm>
            <a:off x="350339" y="8300225"/>
            <a:ext cx="16839926" cy="1319368"/>
            <a:chOff x="0" y="0"/>
            <a:chExt cx="1994053" cy="459888"/>
          </a:xfrm>
        </p:grpSpPr>
        <p:sp>
          <p:nvSpPr>
            <p:cNvPr id="46" name="Freeform 46"/>
            <p:cNvSpPr/>
            <p:nvPr/>
          </p:nvSpPr>
          <p:spPr>
            <a:xfrm>
              <a:off x="0" y="0"/>
              <a:ext cx="1994053" cy="459888"/>
            </a:xfrm>
            <a:custGeom>
              <a:avLst/>
              <a:gdLst/>
              <a:ahLst/>
              <a:cxnLst/>
              <a:rect l="l" t="t" r="r" b="b"/>
              <a:pathLst>
                <a:path w="1994051" h="459888">
                  <a:moveTo>
                    <a:pt x="1790853" y="0"/>
                  </a:moveTo>
                  <a:cubicBezTo>
                    <a:pt x="1903077" y="0"/>
                    <a:pt x="1994053" y="102949"/>
                    <a:pt x="1994053" y="229944"/>
                  </a:cubicBezTo>
                  <a:cubicBezTo>
                    <a:pt x="1994053" y="356938"/>
                    <a:pt x="1903077" y="459888"/>
                    <a:pt x="1790853" y="459888"/>
                  </a:cubicBezTo>
                  <a:lnTo>
                    <a:pt x="203200" y="459888"/>
                  </a:lnTo>
                  <a:cubicBezTo>
                    <a:pt x="90976" y="459888"/>
                    <a:pt x="0" y="356938"/>
                    <a:pt x="0" y="229944"/>
                  </a:cubicBezTo>
                  <a:cubicBezTo>
                    <a:pt x="0" y="102949"/>
                    <a:pt x="90976" y="0"/>
                    <a:pt x="203200" y="0"/>
                  </a:cubicBezTo>
                  <a:close/>
                </a:path>
              </a:pathLst>
            </a:custGeom>
            <a:ln w="38100" cap="sq">
              <a:solidFill>
                <a:srgbClr val="D39F77"/>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47" name="TextBox 47"/>
            <p:cNvSpPr txBox="1"/>
            <p:nvPr/>
          </p:nvSpPr>
          <p:spPr>
            <a:xfrm>
              <a:off x="0" y="-38100"/>
              <a:ext cx="1994053" cy="49798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spcBef>
                  <a:spcPct val="0"/>
                </a:spcBef>
              </a:pPr>
              <a:endParaRPr/>
            </a:p>
          </p:txBody>
        </p:sp>
      </p:grpSp>
      <p:pic>
        <p:nvPicPr>
          <p:cNvPr id="37" name="Picture 37">
            <a:extLst>
              <a:ext uri="{FF2B5EF4-FFF2-40B4-BE49-F238E27FC236}">
                <a16:creationId xmlns:a16="http://schemas.microsoft.com/office/drawing/2014/main" id="{E6D8F776-B23B-DA0A-1B6C-70B983C7D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296" y="1959441"/>
            <a:ext cx="9389983" cy="5464734"/>
          </a:xfrm>
          <a:prstGeom prst="rect">
            <a:avLst/>
          </a:prstGeom>
        </p:spPr>
      </p:pic>
      <p:sp>
        <p:nvSpPr>
          <p:cNvPr id="38" name="TextBox 37">
            <a:extLst>
              <a:ext uri="{FF2B5EF4-FFF2-40B4-BE49-F238E27FC236}">
                <a16:creationId xmlns:a16="http://schemas.microsoft.com/office/drawing/2014/main" id="{91723D24-5F69-1C3B-F408-2A7A8F5BF3BA}"/>
              </a:ext>
            </a:extLst>
          </p:cNvPr>
          <p:cNvSpPr txBox="1"/>
          <p:nvPr/>
        </p:nvSpPr>
        <p:spPr>
          <a:xfrm>
            <a:off x="1548078" y="8429535"/>
            <a:ext cx="15070824" cy="1077218"/>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a:t>This habit connects and sustains all six habits by encouraging continuous self-renewal and lifelong improvement.</a:t>
            </a:r>
          </a:p>
        </p:txBody>
      </p:sp>
      <p:sp>
        <p:nvSpPr>
          <p:cNvPr id="50" name="Freeform 21">
            <a:extLst>
              <a:ext uri="{FF2B5EF4-FFF2-40B4-BE49-F238E27FC236}">
                <a16:creationId xmlns:a16="http://schemas.microsoft.com/office/drawing/2014/main" id="{114400EB-DB0D-69B8-FBE1-CCEA2CC81576}"/>
              </a:ext>
            </a:extLst>
          </p:cNvPr>
          <p:cNvSpPr/>
          <p:nvPr/>
        </p:nvSpPr>
        <p:spPr>
          <a:xfrm>
            <a:off x="16996725" y="9067053"/>
            <a:ext cx="1028025" cy="1028025"/>
          </a:xfrm>
          <a:custGeom>
            <a:avLst/>
            <a:gdLst/>
            <a:ahLst/>
            <a:cxnLst/>
            <a:rect l="l" t="t" r="r" b="b"/>
            <a:pathLst>
              <a:path w="1028025" h="1028025">
                <a:moveTo>
                  <a:pt x="0" y="0"/>
                </a:moveTo>
                <a:lnTo>
                  <a:pt x="1028026" y="0"/>
                </a:lnTo>
                <a:lnTo>
                  <a:pt x="1028026" y="1028026"/>
                </a:lnTo>
                <a:lnTo>
                  <a:pt x="0" y="10280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2" name="Freeform 70">
            <a:extLst>
              <a:ext uri="{FF2B5EF4-FFF2-40B4-BE49-F238E27FC236}">
                <a16:creationId xmlns:a16="http://schemas.microsoft.com/office/drawing/2014/main" id="{5FA05DBB-5542-659D-46DD-4D6102F8B36A}"/>
              </a:ext>
            </a:extLst>
          </p:cNvPr>
          <p:cNvSpPr/>
          <p:nvPr/>
        </p:nvSpPr>
        <p:spPr>
          <a:xfrm>
            <a:off x="140499" y="7972888"/>
            <a:ext cx="1914473" cy="2390903"/>
          </a:xfrm>
          <a:custGeom>
            <a:avLst/>
            <a:gdLst/>
            <a:ahLst/>
            <a:cxnLst/>
            <a:rect l="l" t="t" r="r" b="b"/>
            <a:pathLst>
              <a:path w="1028025" h="1028025">
                <a:moveTo>
                  <a:pt x="0" y="0"/>
                </a:moveTo>
                <a:lnTo>
                  <a:pt x="1028026" y="0"/>
                </a:lnTo>
                <a:lnTo>
                  <a:pt x="1028026" y="1028026"/>
                </a:lnTo>
                <a:lnTo>
                  <a:pt x="0" y="10280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53" name="TextBox 52">
            <a:extLst>
              <a:ext uri="{FF2B5EF4-FFF2-40B4-BE49-F238E27FC236}">
                <a16:creationId xmlns:a16="http://schemas.microsoft.com/office/drawing/2014/main" id="{727BD8C7-B4BF-612E-4C15-26F1EE364A57}"/>
              </a:ext>
            </a:extLst>
          </p:cNvPr>
          <p:cNvSpPr txBox="1"/>
          <p:nvPr/>
        </p:nvSpPr>
        <p:spPr>
          <a:xfrm>
            <a:off x="455157" y="3011373"/>
            <a:ext cx="4403830" cy="30469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i="1" u="sng"/>
              <a:t> </a:t>
            </a:r>
            <a:r>
              <a:rPr lang="en-US" sz="2400" b="1" i="1" u="sng"/>
              <a:t>PRIVATE VICTORY</a:t>
            </a:r>
          </a:p>
          <a:p>
            <a:pPr algn="ctr"/>
            <a:endParaRPr lang="en-US" sz="2400" i="1" u="sng"/>
          </a:p>
          <a:p>
            <a:pPr marL="342900" indent="-342900" algn="l">
              <a:buFont typeface="Arial" pitchFamily="34" charset="0"/>
              <a:buChar char="•"/>
            </a:pPr>
            <a:r>
              <a:rPr lang="en-US" sz="2400"/>
              <a:t>Self-mastery &amp; discipline </a:t>
            </a:r>
          </a:p>
          <a:p>
            <a:pPr marL="342900" indent="-342900" algn="l">
              <a:buFont typeface="Arial" pitchFamily="34" charset="0"/>
              <a:buChar char="•"/>
            </a:pPr>
            <a:endParaRPr lang="en-US" sz="2400"/>
          </a:p>
          <a:p>
            <a:pPr marL="342900" indent="-342900" algn="l">
              <a:buFont typeface="Arial" pitchFamily="34" charset="0"/>
              <a:buChar char="•"/>
            </a:pPr>
            <a:r>
              <a:rPr lang="en-US" sz="2400"/>
              <a:t>From dependence → independence</a:t>
            </a:r>
          </a:p>
          <a:p>
            <a:pPr algn="l"/>
            <a:r>
              <a:rPr lang="en-US" sz="2400"/>
              <a:t> </a:t>
            </a:r>
          </a:p>
          <a:p>
            <a:pPr marL="342900" indent="-342900" algn="l">
              <a:buFont typeface="Arial" pitchFamily="34" charset="0"/>
              <a:buChar char="•"/>
            </a:pPr>
            <a:r>
              <a:rPr lang="en-US" sz="2400"/>
              <a:t>Control your habits first</a:t>
            </a:r>
          </a:p>
        </p:txBody>
      </p:sp>
      <p:sp>
        <p:nvSpPr>
          <p:cNvPr id="54" name="TextBox 53">
            <a:extLst>
              <a:ext uri="{FF2B5EF4-FFF2-40B4-BE49-F238E27FC236}">
                <a16:creationId xmlns:a16="http://schemas.microsoft.com/office/drawing/2014/main" id="{8A4448BC-CFCE-5EB1-8088-C25FE2FE6E00}"/>
              </a:ext>
            </a:extLst>
          </p:cNvPr>
          <p:cNvSpPr txBox="1"/>
          <p:nvPr/>
        </p:nvSpPr>
        <p:spPr>
          <a:xfrm>
            <a:off x="13806953" y="3021376"/>
            <a:ext cx="4327143" cy="304698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i="1" u="sng"/>
              <a:t>PUBLIC VICTORY</a:t>
            </a:r>
          </a:p>
          <a:p>
            <a:pPr algn="ctr"/>
            <a:endParaRPr lang="en-US" sz="2400" b="1" i="1"/>
          </a:p>
          <a:p>
            <a:pPr marL="342900" indent="-342900" algn="ctr">
              <a:buFont typeface="Arial" pitchFamily="34" charset="0"/>
              <a:buChar char="•"/>
            </a:pPr>
            <a:r>
              <a:rPr lang="en-US" sz="2400"/>
              <a:t>Build strong relationships</a:t>
            </a:r>
          </a:p>
          <a:p>
            <a:pPr marL="342900" indent="-342900" algn="ctr">
              <a:buFont typeface="Arial" pitchFamily="34" charset="0"/>
              <a:buChar char="•"/>
            </a:pPr>
            <a:r>
              <a:rPr lang="en-US" sz="2400"/>
              <a:t> </a:t>
            </a:r>
          </a:p>
          <a:p>
            <a:pPr marL="342900" indent="-342900" algn="ctr">
              <a:buFont typeface="Arial" pitchFamily="34" charset="0"/>
              <a:buChar char="•"/>
            </a:pPr>
            <a:r>
              <a:rPr lang="en-US" sz="2400"/>
              <a:t>From independence</a:t>
            </a:r>
            <a:r>
              <a:rPr lang="en-US" sz="2400" b="1" i="1"/>
              <a:t> </a:t>
            </a:r>
            <a:r>
              <a:rPr lang="en-US" sz="2400"/>
              <a:t>→ interdependence </a:t>
            </a:r>
          </a:p>
          <a:p>
            <a:pPr marL="342900" indent="-342900" algn="ctr">
              <a:buFont typeface="Arial" pitchFamily="34" charset="0"/>
              <a:buChar char="•"/>
            </a:pPr>
            <a:endParaRPr lang="en-US" sz="2400"/>
          </a:p>
          <a:p>
            <a:pPr marL="342900" indent="-342900" algn="ctr">
              <a:buFont typeface="Arial" pitchFamily="34" charset="0"/>
              <a:buChar char="•"/>
            </a:pPr>
            <a:r>
              <a:rPr lang="en-US" sz="2400"/>
              <a:t>Cooperation &amp; mutual benefit</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6.0.36"/>
  <p:tag name="AS_OS" val="Unix 5.4.0.216"/>
  <p:tag name="AS_RELEASE_DATE" val="2024.02.14"/>
  <p:tag name="AS_TITLE" val="Aspose.Slides for .NET6"/>
  <p:tag name="AS_VERSION" val="2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1573</Words>
  <Application>Microsoft Office PowerPoint</Application>
  <PresentationFormat>Custom</PresentationFormat>
  <Paragraphs>247</Paragraphs>
  <Slides>23</Slides>
  <Notes>4</Notes>
  <HiddenSlides>0</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23</vt:i4>
      </vt:variant>
    </vt:vector>
  </HeadingPairs>
  <TitlesOfParts>
    <vt:vector size="40" baseType="lpstr">
      <vt:lpstr>Aprila Bold</vt:lpstr>
      <vt:lpstr>Arial</vt:lpstr>
      <vt:lpstr>Wingdings</vt:lpstr>
      <vt:lpstr>Times New Roman</vt:lpstr>
      <vt:lpstr>Calibri</vt:lpstr>
      <vt:lpstr>Symbol</vt:lpstr>
      <vt:lpstr>Book Antiqua</vt:lpstr>
      <vt:lpstr>Arial Black</vt:lpstr>
      <vt:lpstr>Livvic</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Intern 4</dc:creator>
  <cp:lastModifiedBy>Karachi Region</cp:lastModifiedBy>
  <cp:revision>4</cp:revision>
  <cp:lastPrinted>2026-04-22T08:28:12Z</cp:lastPrinted>
  <dcterms:created xsi:type="dcterms:W3CDTF">2026-04-22T08:28:12Z</dcterms:created>
  <dcterms:modified xsi:type="dcterms:W3CDTF">2026-04-22T09:30:04Z</dcterms:modified>
</cp:coreProperties>
</file>