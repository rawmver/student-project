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6858000" cy="9144000"/>
  <p:embeddedFontLst>
    <p:embeddedFont>
      <p:font typeface="Poppins Light" charset="0"/>
      <p:regular r:id="rId20"/>
    </p:embeddedFont>
    <p:embeddedFont>
      <p:font typeface="Poppins Bold" charset="0"/>
      <p:regular r:id="rId21"/>
    </p:embeddedFont>
    <p:embeddedFont>
      <p:font typeface="Calibri" pitchFamily="34" charset="0"/>
      <p:regular r:id="rId22"/>
      <p:bold r:id="rId23"/>
      <p:italic r:id="rId24"/>
      <p:boldItalic r:id="rId25"/>
    </p:embeddedFont>
    <p:embeddedFont>
      <p:font typeface="Poppins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-756" y="-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1.svg"/><Relationship Id="rId7" Type="http://schemas.openxmlformats.org/officeDocument/2006/relationships/image" Target="../media/image13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3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sv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sv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sv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sv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sv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4612425" cy="10287000"/>
            <a:chOff x="0" y="0"/>
            <a:chExt cx="1560252" cy="3479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60252" cy="3479800"/>
            </a:xfrm>
            <a:custGeom>
              <a:avLst/>
              <a:gdLst/>
              <a:ahLst/>
              <a:cxnLst/>
              <a:rect l="l" t="t" r="r" b="b"/>
              <a:pathLst>
                <a:path w="1560252" h="3479800">
                  <a:moveTo>
                    <a:pt x="0" y="0"/>
                  </a:moveTo>
                  <a:lnTo>
                    <a:pt x="1560252" y="0"/>
                  </a:lnTo>
                  <a:lnTo>
                    <a:pt x="1560252" y="3479800"/>
                  </a:lnTo>
                  <a:lnTo>
                    <a:pt x="0" y="3479800"/>
                  </a:lnTo>
                  <a:close/>
                </a:path>
              </a:pathLst>
            </a:custGeom>
            <a:solidFill>
              <a:srgbClr val="2A1E50"/>
            </a:solidFill>
          </p:spPr>
        </p:sp>
      </p:grpSp>
      <p:sp>
        <p:nvSpPr>
          <p:cNvPr id="4" name="Freeform 4"/>
          <p:cNvSpPr/>
          <p:nvPr/>
        </p:nvSpPr>
        <p:spPr>
          <a:xfrm rot="10702575" flipH="1">
            <a:off x="15117222" y="7855291"/>
            <a:ext cx="1998459" cy="1954856"/>
          </a:xfrm>
          <a:custGeom>
            <a:avLst/>
            <a:gdLst/>
            <a:ahLst/>
            <a:cxnLst/>
            <a:rect l="l" t="t" r="r" b="b"/>
            <a:pathLst>
              <a:path w="1998459" h="1954856">
                <a:moveTo>
                  <a:pt x="1998459" y="0"/>
                </a:moveTo>
                <a:lnTo>
                  <a:pt x="0" y="0"/>
                </a:lnTo>
                <a:lnTo>
                  <a:pt x="0" y="1954856"/>
                </a:lnTo>
                <a:lnTo>
                  <a:pt x="1998459" y="1954856"/>
                </a:lnTo>
                <a:lnTo>
                  <a:pt x="199845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044153" y="1676167"/>
            <a:ext cx="4350337" cy="6915617"/>
          </a:xfrm>
          <a:custGeom>
            <a:avLst/>
            <a:gdLst/>
            <a:ahLst/>
            <a:cxnLst/>
            <a:rect l="l" t="t" r="r" b="b"/>
            <a:pathLst>
              <a:path w="4350337" h="6915617">
                <a:moveTo>
                  <a:pt x="0" y="0"/>
                </a:moveTo>
                <a:lnTo>
                  <a:pt x="4350337" y="0"/>
                </a:lnTo>
                <a:lnTo>
                  <a:pt x="4350337" y="6915616"/>
                </a:lnTo>
                <a:lnTo>
                  <a:pt x="0" y="69156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566246" y="2909508"/>
            <a:ext cx="9402894" cy="1451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35"/>
              </a:lnSpc>
              <a:spcBef>
                <a:spcPct val="0"/>
              </a:spcBef>
            </a:pPr>
            <a:r>
              <a:rPr lang="en-US" sz="11816">
                <a:solidFill>
                  <a:srgbClr val="574492"/>
                </a:solidFill>
                <a:latin typeface="Oilvare Base"/>
                <a:ea typeface="Oilvare Base"/>
                <a:cs typeface="Oilvare Base"/>
                <a:sym typeface="Oilvare Base"/>
              </a:rPr>
              <a:t>7 HABITS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566246" y="4195060"/>
            <a:ext cx="9402894" cy="777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13"/>
              </a:lnSpc>
              <a:spcBef>
                <a:spcPct val="0"/>
              </a:spcBef>
            </a:pPr>
            <a:r>
              <a:rPr lang="en-US" sz="6236">
                <a:solidFill>
                  <a:srgbClr val="574492"/>
                </a:solidFill>
                <a:latin typeface="Oilvare Base"/>
                <a:ea typeface="Oilvare Base"/>
                <a:cs typeface="Oilvare Base"/>
                <a:sym typeface="Oilvare Base"/>
              </a:rPr>
              <a:t>HIGHLY EFFECTIVE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566246" y="5066604"/>
            <a:ext cx="9402894" cy="1607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84"/>
              </a:lnSpc>
              <a:spcBef>
                <a:spcPct val="0"/>
              </a:spcBef>
            </a:pPr>
            <a:r>
              <a:rPr lang="en-US" sz="13093">
                <a:solidFill>
                  <a:srgbClr val="574492"/>
                </a:solidFill>
                <a:latin typeface="Oilvare Base"/>
                <a:ea typeface="Oilvare Base"/>
                <a:cs typeface="Oilvare Base"/>
                <a:sym typeface="Oilvare Base"/>
              </a:rPr>
              <a:t>PEOPLE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267693" y="6750391"/>
            <a:ext cx="9402894" cy="34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2799">
                <a:solidFill>
                  <a:srgbClr val="574492"/>
                </a:solidFill>
                <a:latin typeface="Oilvare Base"/>
                <a:ea typeface="Oilvare Base"/>
                <a:cs typeface="Oilvare Base"/>
                <a:sym typeface="Oilvare Base"/>
              </a:rPr>
              <a:t>BY STEPHEN R. COVEY</a:t>
            </a: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37618" y="0"/>
            <a:ext cx="8784505" cy="2709767"/>
            <a:chOff x="0" y="0"/>
            <a:chExt cx="2971548" cy="9166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971548" cy="916637"/>
            </a:xfrm>
            <a:custGeom>
              <a:avLst/>
              <a:gdLst/>
              <a:ahLst/>
              <a:cxnLst/>
              <a:rect l="l" t="t" r="r" b="b"/>
              <a:pathLst>
                <a:path w="2971548" h="916637">
                  <a:moveTo>
                    <a:pt x="0" y="0"/>
                  </a:moveTo>
                  <a:lnTo>
                    <a:pt x="2971548" y="0"/>
                  </a:lnTo>
                  <a:lnTo>
                    <a:pt x="2971548" y="916637"/>
                  </a:lnTo>
                  <a:lnTo>
                    <a:pt x="0" y="916637"/>
                  </a:lnTo>
                  <a:close/>
                </a:path>
              </a:pathLst>
            </a:custGeom>
            <a:solidFill>
              <a:srgbClr val="2A1E5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5137618" y="813558"/>
            <a:ext cx="8784505" cy="1406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54"/>
              </a:lnSpc>
              <a:spcBef>
                <a:spcPct val="0"/>
              </a:spcBef>
            </a:pPr>
            <a:r>
              <a:rPr lang="en-US" sz="11393">
                <a:solidFill>
                  <a:srgbClr val="FFFFFF"/>
                </a:solidFill>
                <a:latin typeface="Oilvare Base"/>
                <a:ea typeface="Oilvare Base"/>
                <a:cs typeface="Oilvare Base"/>
                <a:sym typeface="Oilvare Base"/>
              </a:rPr>
              <a:t>TEAM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389909" y="3228515"/>
            <a:ext cx="5207929" cy="6029785"/>
            <a:chOff x="0" y="0"/>
            <a:chExt cx="967129" cy="11197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67129" cy="1119750"/>
            </a:xfrm>
            <a:custGeom>
              <a:avLst/>
              <a:gdLst/>
              <a:ahLst/>
              <a:cxnLst/>
              <a:rect l="l" t="t" r="r" b="b"/>
              <a:pathLst>
                <a:path w="967129" h="1119750">
                  <a:moveTo>
                    <a:pt x="842669" y="1119750"/>
                  </a:moveTo>
                  <a:lnTo>
                    <a:pt x="124460" y="1119750"/>
                  </a:lnTo>
                  <a:cubicBezTo>
                    <a:pt x="55880" y="1119750"/>
                    <a:pt x="0" y="1063870"/>
                    <a:pt x="0" y="99529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42669" y="0"/>
                  </a:lnTo>
                  <a:cubicBezTo>
                    <a:pt x="911249" y="0"/>
                    <a:pt x="967129" y="55880"/>
                    <a:pt x="967129" y="124460"/>
                  </a:cubicBezTo>
                  <a:lnTo>
                    <a:pt x="967129" y="995290"/>
                  </a:lnTo>
                  <a:cubicBezTo>
                    <a:pt x="967129" y="1063870"/>
                    <a:pt x="911249" y="1119750"/>
                    <a:pt x="842669" y="1119750"/>
                  </a:cubicBezTo>
                  <a:close/>
                </a:path>
              </a:pathLst>
            </a:custGeom>
            <a:solidFill>
              <a:srgbClr val="DBC1E5"/>
            </a:solidFill>
          </p:spPr>
        </p:sp>
      </p:grpSp>
      <p:sp>
        <p:nvSpPr>
          <p:cNvPr id="7" name="Freeform 7"/>
          <p:cNvSpPr/>
          <p:nvPr/>
        </p:nvSpPr>
        <p:spPr>
          <a:xfrm rot="-5062391" flipH="1">
            <a:off x="380834" y="8266772"/>
            <a:ext cx="1558474" cy="1524471"/>
          </a:xfrm>
          <a:custGeom>
            <a:avLst/>
            <a:gdLst/>
            <a:ahLst/>
            <a:cxnLst/>
            <a:rect l="l" t="t" r="r" b="b"/>
            <a:pathLst>
              <a:path w="1558474" h="1524471">
                <a:moveTo>
                  <a:pt x="1558474" y="0"/>
                </a:moveTo>
                <a:lnTo>
                  <a:pt x="0" y="0"/>
                </a:lnTo>
                <a:lnTo>
                  <a:pt x="0" y="1524471"/>
                </a:lnTo>
                <a:lnTo>
                  <a:pt x="1558474" y="1524471"/>
                </a:lnTo>
                <a:lnTo>
                  <a:pt x="155847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070603" y="4509181"/>
            <a:ext cx="3846543" cy="1173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5"/>
              </a:lnSpc>
            </a:pPr>
            <a:r>
              <a:rPr lang="en-US" sz="3303" b="1">
                <a:solidFill>
                  <a:srgbClr val="000060"/>
                </a:solidFill>
                <a:latin typeface="Poppins Bold"/>
                <a:ea typeface="Poppins Bold"/>
                <a:cs typeface="Poppins Bold"/>
                <a:sym typeface="Poppins Bold"/>
              </a:rPr>
              <a:t>Hamza Khalid</a:t>
            </a:r>
          </a:p>
          <a:p>
            <a:pPr marL="0" lvl="0" indent="0" algn="ctr">
              <a:lnSpc>
                <a:spcPts val="4625"/>
              </a:lnSpc>
              <a:spcBef>
                <a:spcPct val="0"/>
              </a:spcBef>
            </a:pPr>
            <a:r>
              <a:rPr lang="en-US" sz="3303" b="1">
                <a:solidFill>
                  <a:srgbClr val="000060"/>
                </a:solidFill>
                <a:latin typeface="Poppins Bold"/>
                <a:ea typeface="Poppins Bold"/>
                <a:cs typeface="Poppins Bold"/>
                <a:sym typeface="Poppins Bold"/>
              </a:rPr>
              <a:t>BUS-24F-610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00429" y="6307583"/>
            <a:ext cx="4186889" cy="1500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5"/>
              </a:lnSpc>
            </a:pPr>
            <a:r>
              <a:rPr lang="en-US" sz="2803" b="1">
                <a:solidFill>
                  <a:srgbClr val="000060"/>
                </a:solidFill>
                <a:latin typeface="Poppins Bold"/>
                <a:ea typeface="Poppins Bold"/>
                <a:cs typeface="Poppins Bold"/>
                <a:sym typeface="Poppins Bold"/>
              </a:rPr>
              <a:t>Mustafa Abdul Shakoor </a:t>
            </a:r>
          </a:p>
          <a:p>
            <a:pPr marL="0" lvl="0" indent="0" algn="ctr">
              <a:lnSpc>
                <a:spcPts val="3925"/>
              </a:lnSpc>
              <a:spcBef>
                <a:spcPct val="0"/>
              </a:spcBef>
            </a:pPr>
            <a:r>
              <a:rPr lang="en-US" sz="2803" b="1">
                <a:solidFill>
                  <a:srgbClr val="000060"/>
                </a:solidFill>
                <a:latin typeface="Poppins Bold"/>
                <a:ea typeface="Poppins Bold"/>
                <a:cs typeface="Poppins Bold"/>
                <a:sym typeface="Poppins Bold"/>
              </a:rPr>
              <a:t>BUS-22S-170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925906" y="3260923"/>
            <a:ext cx="5207929" cy="6029785"/>
            <a:chOff x="0" y="0"/>
            <a:chExt cx="967129" cy="11197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67129" cy="1119750"/>
            </a:xfrm>
            <a:custGeom>
              <a:avLst/>
              <a:gdLst/>
              <a:ahLst/>
              <a:cxnLst/>
              <a:rect l="l" t="t" r="r" b="b"/>
              <a:pathLst>
                <a:path w="967129" h="1119750">
                  <a:moveTo>
                    <a:pt x="842669" y="1119750"/>
                  </a:moveTo>
                  <a:lnTo>
                    <a:pt x="124460" y="1119750"/>
                  </a:lnTo>
                  <a:cubicBezTo>
                    <a:pt x="55880" y="1119750"/>
                    <a:pt x="0" y="1063870"/>
                    <a:pt x="0" y="99529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42669" y="0"/>
                  </a:lnTo>
                  <a:cubicBezTo>
                    <a:pt x="911249" y="0"/>
                    <a:pt x="967129" y="55880"/>
                    <a:pt x="967129" y="124460"/>
                  </a:cubicBezTo>
                  <a:lnTo>
                    <a:pt x="967129" y="995290"/>
                  </a:lnTo>
                  <a:cubicBezTo>
                    <a:pt x="967129" y="1063870"/>
                    <a:pt x="911249" y="1119750"/>
                    <a:pt x="842669" y="1119750"/>
                  </a:cubicBezTo>
                  <a:close/>
                </a:path>
              </a:pathLst>
            </a:custGeom>
            <a:solidFill>
              <a:srgbClr val="DBC1E5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2461903" y="3260923"/>
            <a:ext cx="5207929" cy="6029785"/>
            <a:chOff x="0" y="0"/>
            <a:chExt cx="967129" cy="11197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67129" cy="1119750"/>
            </a:xfrm>
            <a:custGeom>
              <a:avLst/>
              <a:gdLst/>
              <a:ahLst/>
              <a:cxnLst/>
              <a:rect l="l" t="t" r="r" b="b"/>
              <a:pathLst>
                <a:path w="967129" h="1119750">
                  <a:moveTo>
                    <a:pt x="842669" y="1119750"/>
                  </a:moveTo>
                  <a:lnTo>
                    <a:pt x="124460" y="1119750"/>
                  </a:lnTo>
                  <a:cubicBezTo>
                    <a:pt x="55880" y="1119750"/>
                    <a:pt x="0" y="1063870"/>
                    <a:pt x="0" y="99529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42669" y="0"/>
                  </a:lnTo>
                  <a:cubicBezTo>
                    <a:pt x="911249" y="0"/>
                    <a:pt x="967129" y="55880"/>
                    <a:pt x="967129" y="124460"/>
                  </a:cubicBezTo>
                  <a:lnTo>
                    <a:pt x="967129" y="995290"/>
                  </a:lnTo>
                  <a:cubicBezTo>
                    <a:pt x="967129" y="1063870"/>
                    <a:pt x="911249" y="1119750"/>
                    <a:pt x="842669" y="1119750"/>
                  </a:cubicBezTo>
                  <a:close/>
                </a:path>
              </a:pathLst>
            </a:custGeom>
            <a:solidFill>
              <a:srgbClr val="DBC1E5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7606599" y="3613618"/>
            <a:ext cx="3846543" cy="1173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5"/>
              </a:lnSpc>
            </a:pPr>
            <a:r>
              <a:rPr lang="en-US" sz="3303" b="1">
                <a:solidFill>
                  <a:srgbClr val="000060"/>
                </a:solidFill>
                <a:latin typeface="Poppins Bold"/>
                <a:ea typeface="Poppins Bold"/>
                <a:cs typeface="Poppins Bold"/>
                <a:sym typeface="Poppins Bold"/>
              </a:rPr>
              <a:t>Faizan Zain</a:t>
            </a:r>
          </a:p>
          <a:p>
            <a:pPr marL="0" lvl="0" indent="0" algn="ctr">
              <a:lnSpc>
                <a:spcPts val="4625"/>
              </a:lnSpc>
              <a:spcBef>
                <a:spcPct val="0"/>
              </a:spcBef>
            </a:pPr>
            <a:r>
              <a:rPr lang="en-US" sz="3303" b="1">
                <a:solidFill>
                  <a:srgbClr val="000060"/>
                </a:solidFill>
                <a:latin typeface="Poppins Bold"/>
                <a:ea typeface="Poppins Bold"/>
                <a:cs typeface="Poppins Bold"/>
                <a:sym typeface="Poppins Bold"/>
              </a:rPr>
              <a:t>BUS-24F-632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606599" y="5309510"/>
            <a:ext cx="3846543" cy="1173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5"/>
              </a:lnSpc>
            </a:pPr>
            <a:r>
              <a:rPr lang="en-US" sz="3303" b="1">
                <a:solidFill>
                  <a:srgbClr val="000060"/>
                </a:solidFill>
                <a:latin typeface="Poppins Bold"/>
                <a:ea typeface="Poppins Bold"/>
                <a:cs typeface="Poppins Bold"/>
                <a:sym typeface="Poppins Bold"/>
              </a:rPr>
              <a:t>Ali Huzaifa</a:t>
            </a:r>
          </a:p>
          <a:p>
            <a:pPr marL="0" lvl="0" indent="0" algn="ctr">
              <a:lnSpc>
                <a:spcPts val="4625"/>
              </a:lnSpc>
              <a:spcBef>
                <a:spcPct val="0"/>
              </a:spcBef>
            </a:pPr>
            <a:r>
              <a:rPr lang="en-US" sz="3303" b="1">
                <a:solidFill>
                  <a:srgbClr val="000060"/>
                </a:solidFill>
                <a:latin typeface="Poppins Bold"/>
                <a:ea typeface="Poppins Bold"/>
                <a:cs typeface="Poppins Bold"/>
                <a:sym typeface="Poppins Bold"/>
              </a:rPr>
              <a:t>BUS-22S-010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606599" y="7005402"/>
            <a:ext cx="3846543" cy="1173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5"/>
              </a:lnSpc>
            </a:pPr>
            <a:r>
              <a:rPr lang="en-US" sz="3303" b="1">
                <a:solidFill>
                  <a:srgbClr val="000060"/>
                </a:solidFill>
                <a:latin typeface="Poppins Bold"/>
                <a:ea typeface="Poppins Bold"/>
                <a:cs typeface="Poppins Bold"/>
                <a:sym typeface="Poppins Bold"/>
              </a:rPr>
              <a:t>Hamza Faraz</a:t>
            </a:r>
          </a:p>
          <a:p>
            <a:pPr marL="0" lvl="0" indent="0" algn="ctr">
              <a:lnSpc>
                <a:spcPts val="4625"/>
              </a:lnSpc>
              <a:spcBef>
                <a:spcPct val="0"/>
              </a:spcBef>
            </a:pPr>
            <a:r>
              <a:rPr lang="en-US" sz="3303" b="1">
                <a:solidFill>
                  <a:srgbClr val="000060"/>
                </a:solidFill>
                <a:latin typeface="Poppins Bold"/>
                <a:ea typeface="Poppins Bold"/>
                <a:cs typeface="Poppins Bold"/>
                <a:sym typeface="Poppins Bold"/>
              </a:rPr>
              <a:t>BUS-22S-080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142596" y="6466333"/>
            <a:ext cx="3846543" cy="1173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5"/>
              </a:lnSpc>
            </a:pPr>
            <a:r>
              <a:rPr lang="en-US" sz="3303" b="1">
                <a:solidFill>
                  <a:srgbClr val="000060"/>
                </a:solidFill>
                <a:latin typeface="Poppins Bold"/>
                <a:ea typeface="Poppins Bold"/>
                <a:cs typeface="Poppins Bold"/>
                <a:sym typeface="Poppins Bold"/>
              </a:rPr>
              <a:t>Tanzeel Ali </a:t>
            </a:r>
          </a:p>
          <a:p>
            <a:pPr marL="0" lvl="0" indent="0" algn="ctr">
              <a:lnSpc>
                <a:spcPts val="4625"/>
              </a:lnSpc>
              <a:spcBef>
                <a:spcPct val="0"/>
              </a:spcBef>
            </a:pPr>
            <a:r>
              <a:rPr lang="en-US" sz="3303" b="1">
                <a:solidFill>
                  <a:srgbClr val="000060"/>
                </a:solidFill>
                <a:latin typeface="Poppins Bold"/>
                <a:ea typeface="Poppins Bold"/>
                <a:cs typeface="Poppins Bold"/>
                <a:sym typeface="Poppins Bold"/>
              </a:rPr>
              <a:t>BUS-22S-126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142596" y="4509181"/>
            <a:ext cx="3846543" cy="1173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5"/>
              </a:lnSpc>
            </a:pPr>
            <a:r>
              <a:rPr lang="en-US" sz="3303" b="1">
                <a:solidFill>
                  <a:srgbClr val="000060"/>
                </a:solidFill>
                <a:latin typeface="Poppins Bold"/>
                <a:ea typeface="Poppins Bold"/>
                <a:cs typeface="Poppins Bold"/>
                <a:sym typeface="Poppins Bold"/>
              </a:rPr>
              <a:t>Umer Shaikh</a:t>
            </a:r>
          </a:p>
          <a:p>
            <a:pPr marL="0" lvl="0" indent="0" algn="ctr">
              <a:lnSpc>
                <a:spcPts val="4625"/>
              </a:lnSpc>
              <a:spcBef>
                <a:spcPct val="0"/>
              </a:spcBef>
            </a:pPr>
            <a:r>
              <a:rPr lang="en-US" sz="3303" b="1">
                <a:solidFill>
                  <a:srgbClr val="000060"/>
                </a:solidFill>
                <a:latin typeface="Poppins Bold"/>
                <a:ea typeface="Poppins Bold"/>
                <a:cs typeface="Poppins Bold"/>
                <a:sym typeface="Poppins Bold"/>
              </a:rPr>
              <a:t>BUS-24F-626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90454" y="4131062"/>
            <a:ext cx="20268907" cy="6155938"/>
            <a:chOff x="0" y="0"/>
            <a:chExt cx="6856396" cy="20823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856396" cy="2082379"/>
            </a:xfrm>
            <a:custGeom>
              <a:avLst/>
              <a:gdLst/>
              <a:ahLst/>
              <a:cxnLst/>
              <a:rect l="l" t="t" r="r" b="b"/>
              <a:pathLst>
                <a:path w="6856396" h="2082379">
                  <a:moveTo>
                    <a:pt x="6731936" y="2082379"/>
                  </a:moveTo>
                  <a:lnTo>
                    <a:pt x="124460" y="2082379"/>
                  </a:lnTo>
                  <a:cubicBezTo>
                    <a:pt x="55880" y="2082379"/>
                    <a:pt x="0" y="2026499"/>
                    <a:pt x="0" y="195791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6731936" y="0"/>
                  </a:lnTo>
                  <a:cubicBezTo>
                    <a:pt x="6800516" y="0"/>
                    <a:pt x="6856396" y="55880"/>
                    <a:pt x="6856396" y="124460"/>
                  </a:cubicBezTo>
                  <a:lnTo>
                    <a:pt x="6856396" y="1957919"/>
                  </a:lnTo>
                  <a:cubicBezTo>
                    <a:pt x="6856396" y="2026499"/>
                    <a:pt x="6800516" y="2082379"/>
                    <a:pt x="6731936" y="2082379"/>
                  </a:cubicBezTo>
                  <a:close/>
                </a:path>
              </a:pathLst>
            </a:custGeom>
            <a:solidFill>
              <a:srgbClr val="DBC1E5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14685942" y="7723935"/>
            <a:ext cx="2573358" cy="1534365"/>
          </a:xfrm>
          <a:custGeom>
            <a:avLst/>
            <a:gdLst/>
            <a:ahLst/>
            <a:cxnLst/>
            <a:rect l="l" t="t" r="r" b="b"/>
            <a:pathLst>
              <a:path w="2573358" h="1534365">
                <a:moveTo>
                  <a:pt x="0" y="0"/>
                </a:moveTo>
                <a:lnTo>
                  <a:pt x="2573358" y="0"/>
                </a:lnTo>
                <a:lnTo>
                  <a:pt x="2573358" y="1534365"/>
                </a:lnTo>
                <a:lnTo>
                  <a:pt x="0" y="15343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28700" y="2642665"/>
            <a:ext cx="5001670" cy="5001670"/>
          </a:xfrm>
          <a:custGeom>
            <a:avLst/>
            <a:gdLst/>
            <a:ahLst/>
            <a:cxnLst/>
            <a:rect l="l" t="t" r="r" b="b"/>
            <a:pathLst>
              <a:path w="5001670" h="5001670">
                <a:moveTo>
                  <a:pt x="0" y="0"/>
                </a:moveTo>
                <a:lnTo>
                  <a:pt x="5001670" y="0"/>
                </a:lnTo>
                <a:lnTo>
                  <a:pt x="5001670" y="5001670"/>
                </a:lnTo>
                <a:lnTo>
                  <a:pt x="0" y="50016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124572" y="2237725"/>
            <a:ext cx="10134728" cy="1177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3399">
                <a:solidFill>
                  <a:srgbClr val="574492"/>
                </a:solidFill>
                <a:latin typeface="Oilvare Base"/>
                <a:ea typeface="Oilvare Base"/>
                <a:cs typeface="Oilvare Base"/>
                <a:sym typeface="Oilvare Base"/>
              </a:rPr>
              <a:t>HABIT 1 – BE PROACTIVE (FROM THE 7 HABITS OF HIGHLY EFFECTIVE PEOPLE)</a:t>
            </a:r>
          </a:p>
          <a:p>
            <a:pPr algn="l">
              <a:lnSpc>
                <a:spcPts val="3059"/>
              </a:lnSpc>
              <a:spcBef>
                <a:spcPct val="0"/>
              </a:spcBef>
            </a:pPr>
            <a:endParaRPr lang="en-US" sz="3399">
              <a:solidFill>
                <a:srgbClr val="574492"/>
              </a:solidFill>
              <a:latin typeface="Oilvare Base"/>
              <a:ea typeface="Oilvare Base"/>
              <a:cs typeface="Oilvare Base"/>
              <a:sym typeface="Oilvare Base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144666" y="4327900"/>
            <a:ext cx="8750296" cy="4338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2799">
                <a:solidFill>
                  <a:srgbClr val="000060"/>
                </a:solidFill>
                <a:latin typeface="Poppins"/>
                <a:ea typeface="Poppins"/>
                <a:cs typeface="Poppins"/>
                <a:sym typeface="Poppins"/>
              </a:rPr>
              <a:t>Take responsibility for your life</a:t>
            </a:r>
          </a:p>
          <a:p>
            <a:pPr algn="l">
              <a:lnSpc>
                <a:spcPts val="6999"/>
              </a:lnSpc>
            </a:pPr>
            <a:r>
              <a:rPr lang="en-US" sz="2799">
                <a:solidFill>
                  <a:srgbClr val="000060"/>
                </a:solidFill>
                <a:latin typeface="Poppins"/>
                <a:ea typeface="Poppins"/>
                <a:cs typeface="Poppins"/>
                <a:sym typeface="Poppins"/>
              </a:rPr>
              <a:t>Focus on things you can control</a:t>
            </a:r>
          </a:p>
          <a:p>
            <a:pPr algn="l">
              <a:lnSpc>
                <a:spcPts val="6999"/>
              </a:lnSpc>
            </a:pPr>
            <a:r>
              <a:rPr lang="en-US" sz="2799">
                <a:solidFill>
                  <a:srgbClr val="000060"/>
                </a:solidFill>
                <a:latin typeface="Poppins"/>
                <a:ea typeface="Poppins"/>
                <a:cs typeface="Poppins"/>
                <a:sym typeface="Poppins"/>
              </a:rPr>
              <a:t>Choose your response, not your reaction</a:t>
            </a:r>
          </a:p>
          <a:p>
            <a:pPr algn="l">
              <a:lnSpc>
                <a:spcPts val="6999"/>
              </a:lnSpc>
            </a:pPr>
            <a:r>
              <a:rPr lang="en-US" sz="2799">
                <a:solidFill>
                  <a:srgbClr val="000060"/>
                </a:solidFill>
                <a:latin typeface="Poppins"/>
                <a:ea typeface="Poppins"/>
                <a:cs typeface="Poppins"/>
                <a:sym typeface="Poppins"/>
              </a:rPr>
              <a:t>Act based on values, not emotions</a:t>
            </a:r>
          </a:p>
          <a:p>
            <a:pPr algn="l">
              <a:lnSpc>
                <a:spcPts val="6999"/>
              </a:lnSpc>
            </a:pPr>
            <a:r>
              <a:rPr lang="en-US" sz="2799">
                <a:solidFill>
                  <a:srgbClr val="000060"/>
                </a:solidFill>
                <a:latin typeface="Poppins"/>
                <a:ea typeface="Poppins"/>
                <a:cs typeface="Poppins"/>
                <a:sym typeface="Poppins"/>
              </a:rPr>
              <a:t>Take initiative in every situation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90454" y="4131062"/>
            <a:ext cx="20268907" cy="6155938"/>
            <a:chOff x="0" y="0"/>
            <a:chExt cx="6856396" cy="20823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856396" cy="2082379"/>
            </a:xfrm>
            <a:custGeom>
              <a:avLst/>
              <a:gdLst/>
              <a:ahLst/>
              <a:cxnLst/>
              <a:rect l="l" t="t" r="r" b="b"/>
              <a:pathLst>
                <a:path w="6856396" h="2082379">
                  <a:moveTo>
                    <a:pt x="6731936" y="2082379"/>
                  </a:moveTo>
                  <a:lnTo>
                    <a:pt x="124460" y="2082379"/>
                  </a:lnTo>
                  <a:cubicBezTo>
                    <a:pt x="55880" y="2082379"/>
                    <a:pt x="0" y="2026499"/>
                    <a:pt x="0" y="195791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6731936" y="0"/>
                  </a:lnTo>
                  <a:cubicBezTo>
                    <a:pt x="6800516" y="0"/>
                    <a:pt x="6856396" y="55880"/>
                    <a:pt x="6856396" y="124460"/>
                  </a:cubicBezTo>
                  <a:lnTo>
                    <a:pt x="6856396" y="1957919"/>
                  </a:lnTo>
                  <a:cubicBezTo>
                    <a:pt x="6856396" y="2026499"/>
                    <a:pt x="6800516" y="2082379"/>
                    <a:pt x="6731936" y="2082379"/>
                  </a:cubicBezTo>
                  <a:close/>
                </a:path>
              </a:pathLst>
            </a:custGeom>
            <a:solidFill>
              <a:srgbClr val="DBC1E5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1826483" y="885628"/>
            <a:ext cx="4649822" cy="6490868"/>
          </a:xfrm>
          <a:custGeom>
            <a:avLst/>
            <a:gdLst/>
            <a:ahLst/>
            <a:cxnLst/>
            <a:rect l="l" t="t" r="r" b="b"/>
            <a:pathLst>
              <a:path w="4649822" h="6490868">
                <a:moveTo>
                  <a:pt x="0" y="0"/>
                </a:moveTo>
                <a:lnTo>
                  <a:pt x="4649822" y="0"/>
                </a:lnTo>
                <a:lnTo>
                  <a:pt x="4649822" y="6490868"/>
                </a:lnTo>
                <a:lnTo>
                  <a:pt x="0" y="6490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685942" y="7723935"/>
            <a:ext cx="2573358" cy="1534365"/>
          </a:xfrm>
          <a:custGeom>
            <a:avLst/>
            <a:gdLst/>
            <a:ahLst/>
            <a:cxnLst/>
            <a:rect l="l" t="t" r="r" b="b"/>
            <a:pathLst>
              <a:path w="2573358" h="1534365">
                <a:moveTo>
                  <a:pt x="0" y="0"/>
                </a:moveTo>
                <a:lnTo>
                  <a:pt x="2573358" y="0"/>
                </a:lnTo>
                <a:lnTo>
                  <a:pt x="2573358" y="1534365"/>
                </a:lnTo>
                <a:lnTo>
                  <a:pt x="0" y="15343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124572" y="2237725"/>
            <a:ext cx="10134728" cy="1177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3399">
                <a:solidFill>
                  <a:srgbClr val="574492"/>
                </a:solidFill>
                <a:latin typeface="Oilvare Base"/>
                <a:ea typeface="Oilvare Base"/>
                <a:cs typeface="Oilvare Base"/>
                <a:sym typeface="Oilvare Base"/>
              </a:rPr>
              <a:t>HABIT 1 – BE PROACTIVE (FROM THE 7 HABITS OF HIGHLY EFFECTIVE PEOPLE)</a:t>
            </a:r>
          </a:p>
          <a:p>
            <a:pPr algn="l">
              <a:lnSpc>
                <a:spcPts val="3059"/>
              </a:lnSpc>
              <a:spcBef>
                <a:spcPct val="0"/>
              </a:spcBef>
            </a:pPr>
            <a:endParaRPr lang="en-US" sz="3399">
              <a:solidFill>
                <a:srgbClr val="574492"/>
              </a:solidFill>
              <a:latin typeface="Oilvare Base"/>
              <a:ea typeface="Oilvare Base"/>
              <a:cs typeface="Oilvare Base"/>
              <a:sym typeface="Oilvare Base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496966" y="4072442"/>
            <a:ext cx="10043300" cy="6023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2400">
                <a:solidFill>
                  <a:srgbClr val="000060"/>
                </a:solidFill>
                <a:latin typeface="Poppins"/>
                <a:ea typeface="Poppins"/>
                <a:cs typeface="Poppins"/>
                <a:sym typeface="Poppins"/>
              </a:rPr>
              <a:t> Key Idea &amp; Quote (by Stephen Covey)</a:t>
            </a:r>
          </a:p>
          <a:p>
            <a:pPr algn="l">
              <a:lnSpc>
                <a:spcPts val="6000"/>
              </a:lnSpc>
            </a:pPr>
            <a:r>
              <a:rPr lang="en-US" sz="2400">
                <a:solidFill>
                  <a:srgbClr val="000060"/>
                </a:solidFill>
                <a:latin typeface="Poppins"/>
                <a:ea typeface="Poppins"/>
                <a:cs typeface="Poppins"/>
                <a:sym typeface="Poppins"/>
              </a:rPr>
              <a:t>Focus on solutions, not problems</a:t>
            </a:r>
          </a:p>
          <a:p>
            <a:pPr algn="l">
              <a:lnSpc>
                <a:spcPts val="6000"/>
              </a:lnSpc>
            </a:pPr>
            <a:r>
              <a:rPr lang="en-US" sz="2400">
                <a:solidFill>
                  <a:srgbClr val="000060"/>
                </a:solidFill>
                <a:latin typeface="Poppins"/>
                <a:ea typeface="Poppins"/>
                <a:cs typeface="Poppins"/>
                <a:sym typeface="Poppins"/>
              </a:rPr>
              <a:t>Control your attitude and behavior</a:t>
            </a:r>
          </a:p>
          <a:p>
            <a:pPr algn="l">
              <a:lnSpc>
                <a:spcPts val="6000"/>
              </a:lnSpc>
            </a:pPr>
            <a:r>
              <a:rPr lang="en-US" sz="2400">
                <a:solidFill>
                  <a:srgbClr val="000060"/>
                </a:solidFill>
                <a:latin typeface="Poppins"/>
                <a:ea typeface="Poppins"/>
                <a:cs typeface="Poppins"/>
                <a:sym typeface="Poppins"/>
              </a:rPr>
              <a:t>Use positive language: “I can”, “I will”</a:t>
            </a:r>
          </a:p>
          <a:p>
            <a:pPr algn="l">
              <a:lnSpc>
                <a:spcPts val="6000"/>
              </a:lnSpc>
            </a:pPr>
            <a:r>
              <a:rPr lang="en-US" sz="2400">
                <a:solidFill>
                  <a:srgbClr val="000060"/>
                </a:solidFill>
                <a:latin typeface="Poppins"/>
                <a:ea typeface="Poppins"/>
                <a:cs typeface="Poppins"/>
                <a:sym typeface="Poppins"/>
              </a:rPr>
              <a:t>Don’t blame others or circumstances</a:t>
            </a:r>
          </a:p>
          <a:p>
            <a:pPr algn="l">
              <a:lnSpc>
                <a:spcPts val="6000"/>
              </a:lnSpc>
            </a:pPr>
            <a:r>
              <a:rPr lang="en-US" sz="2400">
                <a:solidFill>
                  <a:srgbClr val="000060"/>
                </a:solidFill>
                <a:latin typeface="Poppins"/>
                <a:ea typeface="Poppins"/>
                <a:cs typeface="Poppins"/>
                <a:sym typeface="Poppins"/>
              </a:rPr>
              <a:t>Quote:</a:t>
            </a:r>
          </a:p>
          <a:p>
            <a:pPr algn="l">
              <a:lnSpc>
                <a:spcPts val="6000"/>
              </a:lnSpc>
            </a:pPr>
            <a:r>
              <a:rPr lang="en-US" sz="2400">
                <a:solidFill>
                  <a:srgbClr val="000060"/>
                </a:solidFill>
                <a:latin typeface="Poppins"/>
                <a:ea typeface="Poppins"/>
                <a:cs typeface="Poppins"/>
                <a:sym typeface="Poppins"/>
              </a:rPr>
              <a:t>“Between stimulus and response, </a:t>
            </a:r>
          </a:p>
          <a:p>
            <a:pPr algn="l">
              <a:lnSpc>
                <a:spcPts val="6000"/>
              </a:lnSpc>
            </a:pPr>
            <a:r>
              <a:rPr lang="en-US" sz="2400">
                <a:solidFill>
                  <a:srgbClr val="000060"/>
                </a:solidFill>
                <a:latin typeface="Poppins"/>
                <a:ea typeface="Poppins"/>
                <a:cs typeface="Poppins"/>
                <a:sym typeface="Poppins"/>
              </a:rPr>
              <a:t>man has the freedom to choose.”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377317" y="3141989"/>
            <a:ext cx="8387443" cy="6782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2956">
                <a:solidFill>
                  <a:srgbClr val="2E377F"/>
                </a:solidFill>
                <a:latin typeface="Poppins"/>
                <a:ea typeface="Poppins"/>
                <a:cs typeface="Poppins"/>
                <a:sym typeface="Poppins"/>
              </a:rPr>
              <a:t>Decide what you want to achieve in life.</a:t>
            </a:r>
          </a:p>
          <a:p>
            <a:pPr algn="l">
              <a:lnSpc>
                <a:spcPts val="4139"/>
              </a:lnSpc>
            </a:pPr>
            <a:r>
              <a:rPr lang="en-US" sz="2956">
                <a:solidFill>
                  <a:srgbClr val="2E377F"/>
                </a:solidFill>
                <a:latin typeface="Poppins"/>
                <a:ea typeface="Poppins"/>
                <a:cs typeface="Poppins"/>
                <a:sym typeface="Poppins"/>
              </a:rPr>
              <a:t>Know your purpose: Understand why you are doing something.</a:t>
            </a:r>
          </a:p>
          <a:p>
            <a:pPr algn="l">
              <a:lnSpc>
                <a:spcPts val="4139"/>
              </a:lnSpc>
            </a:pPr>
            <a:r>
              <a:rPr lang="en-US" sz="2956">
                <a:solidFill>
                  <a:srgbClr val="2E377F"/>
                </a:solidFill>
                <a:latin typeface="Poppins"/>
                <a:ea typeface="Poppins"/>
                <a:cs typeface="Poppins"/>
                <a:sym typeface="Poppins"/>
              </a:rPr>
              <a:t>Think about your future: Always keep long-term results in mind.</a:t>
            </a:r>
          </a:p>
          <a:p>
            <a:pPr algn="l">
              <a:lnSpc>
                <a:spcPts val="4139"/>
              </a:lnSpc>
            </a:pPr>
            <a:r>
              <a:rPr lang="en-US" sz="2956">
                <a:solidFill>
                  <a:srgbClr val="2E377F"/>
                </a:solidFill>
                <a:latin typeface="Poppins"/>
                <a:ea typeface="Poppins"/>
                <a:cs typeface="Poppins"/>
                <a:sym typeface="Poppins"/>
              </a:rPr>
              <a:t>Have a clear direction: Plan your steps before starting.</a:t>
            </a:r>
          </a:p>
          <a:p>
            <a:pPr algn="l">
              <a:lnSpc>
                <a:spcPts val="4139"/>
              </a:lnSpc>
            </a:pPr>
            <a:endParaRPr lang="en-US" sz="2956">
              <a:solidFill>
                <a:srgbClr val="2E377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139"/>
              </a:lnSpc>
            </a:pPr>
            <a:r>
              <a:rPr lang="en-US" sz="2956">
                <a:solidFill>
                  <a:srgbClr val="2E377F"/>
                </a:solidFill>
                <a:latin typeface="Poppins"/>
                <a:ea typeface="Poppins"/>
                <a:cs typeface="Poppins"/>
                <a:sym typeface="Poppins"/>
              </a:rPr>
              <a:t>Book Line (The 7 Habits of Highly Effective People – Stephen R. Covey):</a:t>
            </a:r>
          </a:p>
          <a:p>
            <a:pPr marL="0" lvl="0" indent="0" algn="l">
              <a:lnSpc>
                <a:spcPts val="4311"/>
              </a:lnSpc>
              <a:spcBef>
                <a:spcPct val="0"/>
              </a:spcBef>
            </a:pPr>
            <a:r>
              <a:rPr lang="en-US" sz="3079">
                <a:solidFill>
                  <a:srgbClr val="2E377F"/>
                </a:solidFill>
                <a:latin typeface="Poppins"/>
                <a:ea typeface="Poppins"/>
                <a:cs typeface="Poppins"/>
                <a:sym typeface="Poppins"/>
              </a:rPr>
              <a:t>“Begin with the end in mind means to start with a clear understanding of your destination.”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4612425" cy="10287000"/>
            <a:chOff x="0" y="0"/>
            <a:chExt cx="1560252" cy="3479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60252" cy="3479800"/>
            </a:xfrm>
            <a:custGeom>
              <a:avLst/>
              <a:gdLst/>
              <a:ahLst/>
              <a:cxnLst/>
              <a:rect l="l" t="t" r="r" b="b"/>
              <a:pathLst>
                <a:path w="1560252" h="3479800">
                  <a:moveTo>
                    <a:pt x="0" y="0"/>
                  </a:moveTo>
                  <a:lnTo>
                    <a:pt x="1560252" y="0"/>
                  </a:lnTo>
                  <a:lnTo>
                    <a:pt x="1560252" y="3479800"/>
                  </a:lnTo>
                  <a:lnTo>
                    <a:pt x="0" y="3479800"/>
                  </a:lnTo>
                  <a:close/>
                </a:path>
              </a:pathLst>
            </a:custGeom>
            <a:solidFill>
              <a:srgbClr val="2A1E50"/>
            </a:solidFill>
          </p:spPr>
        </p:sp>
      </p:grpSp>
      <p:sp>
        <p:nvSpPr>
          <p:cNvPr id="5" name="Freeform 5"/>
          <p:cNvSpPr/>
          <p:nvPr/>
        </p:nvSpPr>
        <p:spPr>
          <a:xfrm>
            <a:off x="7662788" y="3476353"/>
            <a:ext cx="372394" cy="356102"/>
          </a:xfrm>
          <a:custGeom>
            <a:avLst/>
            <a:gdLst/>
            <a:ahLst/>
            <a:cxnLst/>
            <a:rect l="l" t="t" r="r" b="b"/>
            <a:pathLst>
              <a:path w="372394" h="356102">
                <a:moveTo>
                  <a:pt x="0" y="0"/>
                </a:moveTo>
                <a:lnTo>
                  <a:pt x="372394" y="0"/>
                </a:lnTo>
                <a:lnTo>
                  <a:pt x="372394" y="356102"/>
                </a:lnTo>
                <a:lnTo>
                  <a:pt x="0" y="3561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 flipH="1">
            <a:off x="16086868" y="8519188"/>
            <a:ext cx="1172432" cy="1146852"/>
          </a:xfrm>
          <a:custGeom>
            <a:avLst/>
            <a:gdLst/>
            <a:ahLst/>
            <a:cxnLst/>
            <a:rect l="l" t="t" r="r" b="b"/>
            <a:pathLst>
              <a:path w="1172432" h="1146852">
                <a:moveTo>
                  <a:pt x="1172432" y="0"/>
                </a:moveTo>
                <a:lnTo>
                  <a:pt x="0" y="0"/>
                </a:lnTo>
                <a:lnTo>
                  <a:pt x="0" y="1146852"/>
                </a:lnTo>
                <a:lnTo>
                  <a:pt x="1172432" y="1146852"/>
                </a:lnTo>
                <a:lnTo>
                  <a:pt x="117243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4447" y="3218189"/>
            <a:ext cx="4527978" cy="4114800"/>
          </a:xfrm>
          <a:custGeom>
            <a:avLst/>
            <a:gdLst/>
            <a:ahLst/>
            <a:cxnLst/>
            <a:rect l="l" t="t" r="r" b="b"/>
            <a:pathLst>
              <a:path w="4527978" h="4114800">
                <a:moveTo>
                  <a:pt x="0" y="0"/>
                </a:moveTo>
                <a:lnTo>
                  <a:pt x="4527978" y="0"/>
                </a:lnTo>
                <a:lnTo>
                  <a:pt x="45279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054411" y="7069043"/>
            <a:ext cx="2980771" cy="2596997"/>
          </a:xfrm>
          <a:custGeom>
            <a:avLst/>
            <a:gdLst/>
            <a:ahLst/>
            <a:cxnLst/>
            <a:rect l="l" t="t" r="r" b="b"/>
            <a:pathLst>
              <a:path w="2980771" h="2596997">
                <a:moveTo>
                  <a:pt x="0" y="0"/>
                </a:moveTo>
                <a:lnTo>
                  <a:pt x="2980771" y="0"/>
                </a:lnTo>
                <a:lnTo>
                  <a:pt x="2980771" y="2596997"/>
                </a:lnTo>
                <a:lnTo>
                  <a:pt x="0" y="25969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7124572" y="2237725"/>
            <a:ext cx="10134728" cy="796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3399">
                <a:solidFill>
                  <a:srgbClr val="574492"/>
                </a:solidFill>
                <a:latin typeface="Oilvare Base"/>
                <a:ea typeface="Oilvare Base"/>
                <a:cs typeface="Oilvare Base"/>
                <a:sym typeface="Oilvare Base"/>
              </a:rPr>
              <a:t>HABIT 2 – BEGIN WITH THE END IN MIND</a:t>
            </a:r>
          </a:p>
          <a:p>
            <a:pPr algn="l">
              <a:lnSpc>
                <a:spcPts val="3059"/>
              </a:lnSpc>
              <a:spcBef>
                <a:spcPct val="0"/>
              </a:spcBef>
            </a:pPr>
            <a:r>
              <a:rPr lang="en-US" sz="3399">
                <a:solidFill>
                  <a:srgbClr val="574492"/>
                </a:solidFill>
                <a:latin typeface="Oilvare Base"/>
                <a:ea typeface="Oilvare Base"/>
                <a:cs typeface="Oilvare Base"/>
                <a:sym typeface="Oilvare Base"/>
              </a:rPr>
              <a:t>Set clear goals: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377317" y="3434575"/>
            <a:ext cx="8387443" cy="6197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2956">
                <a:solidFill>
                  <a:srgbClr val="2E377F"/>
                </a:solidFill>
                <a:latin typeface="Poppins"/>
                <a:ea typeface="Poppins"/>
                <a:cs typeface="Poppins"/>
                <a:sym typeface="Poppins"/>
              </a:rPr>
              <a:t>Explanation / Example</a:t>
            </a:r>
          </a:p>
          <a:p>
            <a:pPr algn="l">
              <a:lnSpc>
                <a:spcPts val="4139"/>
              </a:lnSpc>
            </a:pPr>
            <a:r>
              <a:rPr lang="en-US" sz="2956">
                <a:solidFill>
                  <a:srgbClr val="2E377F"/>
                </a:solidFill>
                <a:latin typeface="Poppins"/>
                <a:ea typeface="Poppins"/>
                <a:cs typeface="Poppins"/>
                <a:sym typeface="Poppins"/>
              </a:rPr>
              <a:t>Plan before action: Think first, then start your work.</a:t>
            </a:r>
          </a:p>
          <a:p>
            <a:pPr algn="l">
              <a:lnSpc>
                <a:spcPts val="4139"/>
              </a:lnSpc>
            </a:pPr>
            <a:r>
              <a:rPr lang="en-US" sz="2956">
                <a:solidFill>
                  <a:srgbClr val="2E377F"/>
                </a:solidFill>
                <a:latin typeface="Poppins"/>
                <a:ea typeface="Poppins"/>
                <a:cs typeface="Poppins"/>
                <a:sym typeface="Poppins"/>
              </a:rPr>
              <a:t>Visualize success: Imagine your goal clearly in your mind.</a:t>
            </a:r>
          </a:p>
          <a:p>
            <a:pPr algn="l">
              <a:lnSpc>
                <a:spcPts val="4139"/>
              </a:lnSpc>
            </a:pPr>
            <a:r>
              <a:rPr lang="en-US" sz="2956">
                <a:solidFill>
                  <a:srgbClr val="2E377F"/>
                </a:solidFill>
                <a:latin typeface="Poppins"/>
                <a:ea typeface="Poppins"/>
                <a:cs typeface="Poppins"/>
                <a:sym typeface="Poppins"/>
              </a:rPr>
              <a:t>Make better decisions: Choose actions that match your goals.</a:t>
            </a:r>
          </a:p>
          <a:p>
            <a:pPr algn="l">
              <a:lnSpc>
                <a:spcPts val="4139"/>
              </a:lnSpc>
            </a:pPr>
            <a:r>
              <a:rPr lang="en-US" sz="2956">
                <a:solidFill>
                  <a:srgbClr val="2E377F"/>
                </a:solidFill>
                <a:latin typeface="Poppins"/>
                <a:ea typeface="Poppins"/>
                <a:cs typeface="Poppins"/>
                <a:sym typeface="Poppins"/>
              </a:rPr>
              <a:t>Real-life example: A student studies daily to achieve a good career.</a:t>
            </a:r>
          </a:p>
          <a:p>
            <a:pPr algn="l">
              <a:lnSpc>
                <a:spcPts val="4139"/>
              </a:lnSpc>
            </a:pPr>
            <a:r>
              <a:rPr lang="en-US" sz="2956">
                <a:solidFill>
                  <a:srgbClr val="2E377F"/>
                </a:solidFill>
                <a:latin typeface="Poppins"/>
                <a:ea typeface="Poppins"/>
                <a:cs typeface="Poppins"/>
                <a:sym typeface="Poppins"/>
              </a:rPr>
              <a:t>Book Line:</a:t>
            </a:r>
          </a:p>
          <a:p>
            <a:pPr marL="0" lvl="0" indent="0" algn="l">
              <a:lnSpc>
                <a:spcPts val="4139"/>
              </a:lnSpc>
              <a:spcBef>
                <a:spcPct val="0"/>
              </a:spcBef>
            </a:pPr>
            <a:r>
              <a:rPr lang="en-US" sz="2956">
                <a:solidFill>
                  <a:srgbClr val="2E377F"/>
                </a:solidFill>
                <a:latin typeface="Poppins"/>
                <a:ea typeface="Poppins"/>
                <a:cs typeface="Poppins"/>
                <a:sym typeface="Poppins"/>
              </a:rPr>
              <a:t>“All things are created twice—first in the mind, then in reality.”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4612425" cy="10287000"/>
            <a:chOff x="0" y="0"/>
            <a:chExt cx="1560252" cy="3479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60252" cy="3479800"/>
            </a:xfrm>
            <a:custGeom>
              <a:avLst/>
              <a:gdLst/>
              <a:ahLst/>
              <a:cxnLst/>
              <a:rect l="l" t="t" r="r" b="b"/>
              <a:pathLst>
                <a:path w="1560252" h="3479800">
                  <a:moveTo>
                    <a:pt x="0" y="0"/>
                  </a:moveTo>
                  <a:lnTo>
                    <a:pt x="1560252" y="0"/>
                  </a:lnTo>
                  <a:lnTo>
                    <a:pt x="1560252" y="3479800"/>
                  </a:lnTo>
                  <a:lnTo>
                    <a:pt x="0" y="3479800"/>
                  </a:lnTo>
                  <a:close/>
                </a:path>
              </a:pathLst>
            </a:custGeom>
            <a:solidFill>
              <a:srgbClr val="2A1E50"/>
            </a:solidFill>
          </p:spPr>
        </p:sp>
      </p:grpSp>
      <p:sp>
        <p:nvSpPr>
          <p:cNvPr id="5" name="Freeform 5"/>
          <p:cNvSpPr/>
          <p:nvPr/>
        </p:nvSpPr>
        <p:spPr>
          <a:xfrm>
            <a:off x="7662788" y="3476353"/>
            <a:ext cx="372394" cy="356102"/>
          </a:xfrm>
          <a:custGeom>
            <a:avLst/>
            <a:gdLst/>
            <a:ahLst/>
            <a:cxnLst/>
            <a:rect l="l" t="t" r="r" b="b"/>
            <a:pathLst>
              <a:path w="372394" h="356102">
                <a:moveTo>
                  <a:pt x="0" y="0"/>
                </a:moveTo>
                <a:lnTo>
                  <a:pt x="372394" y="0"/>
                </a:lnTo>
                <a:lnTo>
                  <a:pt x="372394" y="356102"/>
                </a:lnTo>
                <a:lnTo>
                  <a:pt x="0" y="3561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 flipH="1">
            <a:off x="16086868" y="8519188"/>
            <a:ext cx="1172432" cy="1146852"/>
          </a:xfrm>
          <a:custGeom>
            <a:avLst/>
            <a:gdLst/>
            <a:ahLst/>
            <a:cxnLst/>
            <a:rect l="l" t="t" r="r" b="b"/>
            <a:pathLst>
              <a:path w="1172432" h="1146852">
                <a:moveTo>
                  <a:pt x="1172432" y="0"/>
                </a:moveTo>
                <a:lnTo>
                  <a:pt x="0" y="0"/>
                </a:lnTo>
                <a:lnTo>
                  <a:pt x="0" y="1146852"/>
                </a:lnTo>
                <a:lnTo>
                  <a:pt x="1172432" y="1146852"/>
                </a:lnTo>
                <a:lnTo>
                  <a:pt x="117243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4447" y="3086100"/>
            <a:ext cx="4527978" cy="4114800"/>
          </a:xfrm>
          <a:custGeom>
            <a:avLst/>
            <a:gdLst/>
            <a:ahLst/>
            <a:cxnLst/>
            <a:rect l="l" t="t" r="r" b="b"/>
            <a:pathLst>
              <a:path w="4527978" h="4114800">
                <a:moveTo>
                  <a:pt x="0" y="0"/>
                </a:moveTo>
                <a:lnTo>
                  <a:pt x="4527978" y="0"/>
                </a:lnTo>
                <a:lnTo>
                  <a:pt x="45279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7124572" y="2237725"/>
            <a:ext cx="10134728" cy="796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3399">
                <a:solidFill>
                  <a:srgbClr val="574492"/>
                </a:solidFill>
                <a:latin typeface="Oilvare Base"/>
                <a:ea typeface="Oilvare Base"/>
                <a:cs typeface="Oilvare Base"/>
                <a:sym typeface="Oilvare Base"/>
              </a:rPr>
              <a:t>HABIT 2 – BEGIN WITH THE END IN MIND</a:t>
            </a:r>
          </a:p>
          <a:p>
            <a:pPr algn="l">
              <a:lnSpc>
                <a:spcPts val="3059"/>
              </a:lnSpc>
              <a:spcBef>
                <a:spcPct val="0"/>
              </a:spcBef>
            </a:pPr>
            <a:r>
              <a:rPr lang="en-US" sz="3399">
                <a:solidFill>
                  <a:srgbClr val="574492"/>
                </a:solidFill>
                <a:latin typeface="Oilvare Base"/>
                <a:ea typeface="Oilvare Base"/>
                <a:cs typeface="Oilvare Base"/>
                <a:sym typeface="Oilvare Base"/>
              </a:rPr>
              <a:t>Set clear goals: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4844" y="1336836"/>
            <a:ext cx="16304456" cy="8230467"/>
            <a:chOff x="0" y="0"/>
            <a:chExt cx="2624464" cy="13248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24464" cy="1324826"/>
            </a:xfrm>
            <a:custGeom>
              <a:avLst/>
              <a:gdLst/>
              <a:ahLst/>
              <a:cxnLst/>
              <a:rect l="l" t="t" r="r" b="b"/>
              <a:pathLst>
                <a:path w="2624464" h="1324826">
                  <a:moveTo>
                    <a:pt x="2500004" y="1324826"/>
                  </a:moveTo>
                  <a:lnTo>
                    <a:pt x="124460" y="1324826"/>
                  </a:lnTo>
                  <a:cubicBezTo>
                    <a:pt x="55880" y="1324826"/>
                    <a:pt x="0" y="1268946"/>
                    <a:pt x="0" y="1200366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500004" y="0"/>
                  </a:lnTo>
                  <a:cubicBezTo>
                    <a:pt x="2568584" y="0"/>
                    <a:pt x="2624464" y="55880"/>
                    <a:pt x="2624464" y="124460"/>
                  </a:cubicBezTo>
                  <a:lnTo>
                    <a:pt x="2624464" y="1200366"/>
                  </a:lnTo>
                  <a:cubicBezTo>
                    <a:pt x="2624464" y="1268946"/>
                    <a:pt x="2568584" y="1324826"/>
                    <a:pt x="2500004" y="132482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Freeform 4"/>
          <p:cNvSpPr/>
          <p:nvPr/>
        </p:nvSpPr>
        <p:spPr>
          <a:xfrm rot="9660371" flipH="1">
            <a:off x="15636021" y="8450090"/>
            <a:ext cx="1252602" cy="1225272"/>
          </a:xfrm>
          <a:custGeom>
            <a:avLst/>
            <a:gdLst/>
            <a:ahLst/>
            <a:cxnLst/>
            <a:rect l="l" t="t" r="r" b="b"/>
            <a:pathLst>
              <a:path w="1252602" h="1225272">
                <a:moveTo>
                  <a:pt x="1252602" y="0"/>
                </a:moveTo>
                <a:lnTo>
                  <a:pt x="0" y="0"/>
                </a:lnTo>
                <a:lnTo>
                  <a:pt x="0" y="1225272"/>
                </a:lnTo>
                <a:lnTo>
                  <a:pt x="1252602" y="1225272"/>
                </a:lnTo>
                <a:lnTo>
                  <a:pt x="125260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56257" y="3007413"/>
            <a:ext cx="7260994" cy="5536508"/>
          </a:xfrm>
          <a:custGeom>
            <a:avLst/>
            <a:gdLst/>
            <a:ahLst/>
            <a:cxnLst/>
            <a:rect l="l" t="t" r="r" b="b"/>
            <a:pathLst>
              <a:path w="7260994" h="5536508">
                <a:moveTo>
                  <a:pt x="0" y="0"/>
                </a:moveTo>
                <a:lnTo>
                  <a:pt x="7260994" y="0"/>
                </a:lnTo>
                <a:lnTo>
                  <a:pt x="7260994" y="5536508"/>
                </a:lnTo>
                <a:lnTo>
                  <a:pt x="0" y="55365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249153" y="2635938"/>
            <a:ext cx="8804763" cy="76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r>
              <a:rPr lang="en-US" sz="2499" dirty="0">
                <a:solidFill>
                  <a:srgbClr val="2E377F"/>
                </a:solidFill>
                <a:latin typeface="Oilvare Base"/>
                <a:ea typeface="Oilvare Base"/>
                <a:cs typeface="Oilvare Base"/>
                <a:sym typeface="Oilvare Base"/>
              </a:rPr>
              <a:t>‎‎Habit 3 – Put First Things First</a:t>
            </a:r>
          </a:p>
          <a:p>
            <a:pPr marL="0" lvl="0" indent="0">
              <a:lnSpc>
                <a:spcPts val="2999"/>
              </a:lnSpc>
              <a:spcBef>
                <a:spcPct val="0"/>
              </a:spcBef>
            </a:pPr>
            <a:r>
              <a:rPr lang="en-US" sz="2499" dirty="0">
                <a:solidFill>
                  <a:srgbClr val="2E377F"/>
                </a:solidFill>
                <a:latin typeface="Oilvare Base"/>
                <a:ea typeface="Oilvare Base"/>
                <a:cs typeface="Oilvare Base"/>
                <a:sym typeface="Oilvare Base"/>
              </a:rPr>
              <a:t>‎(from The 7 Habits of Highly Effective People)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249153" y="3654767"/>
            <a:ext cx="9442049" cy="424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599"/>
              </a:lnSpc>
            </a:pPr>
            <a:r>
              <a:rPr lang="en-US" sz="3200" dirty="0" smtClean="0">
                <a:solidFill>
                  <a:srgbClr val="2E377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Concept:</a:t>
            </a:r>
            <a:endParaRPr lang="en-US" sz="3200" dirty="0">
              <a:solidFill>
                <a:srgbClr val="2E377F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>
              <a:lnSpc>
                <a:spcPts val="5599"/>
              </a:lnSpc>
            </a:pPr>
            <a:r>
              <a:rPr lang="en-US" sz="3200" dirty="0">
                <a:solidFill>
                  <a:srgbClr val="2E377F"/>
                </a:solidFill>
                <a:latin typeface="Poppins Light"/>
                <a:ea typeface="Poppins Light"/>
                <a:cs typeface="Poppins Light"/>
                <a:sym typeface="Poppins Light"/>
              </a:rPr>
              <a:t>‎Focus on priorities, not just urgency</a:t>
            </a:r>
          </a:p>
          <a:p>
            <a:pPr>
              <a:lnSpc>
                <a:spcPts val="5599"/>
              </a:lnSpc>
            </a:pPr>
            <a:r>
              <a:rPr lang="en-US" sz="3200" dirty="0">
                <a:solidFill>
                  <a:srgbClr val="2E377F"/>
                </a:solidFill>
                <a:latin typeface="Poppins Light"/>
                <a:ea typeface="Poppins Light"/>
                <a:cs typeface="Poppins Light"/>
                <a:sym typeface="Poppins Light"/>
              </a:rPr>
              <a:t>‎Manage time based on importance</a:t>
            </a:r>
          </a:p>
          <a:p>
            <a:pPr>
              <a:lnSpc>
                <a:spcPts val="5599"/>
              </a:lnSpc>
            </a:pPr>
            <a:r>
              <a:rPr lang="en-US" sz="3200" dirty="0">
                <a:solidFill>
                  <a:srgbClr val="2E377F"/>
                </a:solidFill>
                <a:latin typeface="Poppins Light"/>
                <a:ea typeface="Poppins Light"/>
                <a:cs typeface="Poppins Light"/>
                <a:sym typeface="Poppins Light"/>
              </a:rPr>
              <a:t>‎Do important tasks first</a:t>
            </a:r>
          </a:p>
          <a:p>
            <a:pPr>
              <a:lnSpc>
                <a:spcPts val="5599"/>
              </a:lnSpc>
            </a:pPr>
            <a:r>
              <a:rPr lang="en-US" sz="3200" dirty="0">
                <a:solidFill>
                  <a:srgbClr val="2E377F"/>
                </a:solidFill>
                <a:latin typeface="Poppins Light"/>
                <a:ea typeface="Poppins Light"/>
                <a:cs typeface="Poppins Light"/>
                <a:sym typeface="Poppins Light"/>
              </a:rPr>
              <a:t>‎Avoid distractions and time-wasting</a:t>
            </a:r>
          </a:p>
          <a:p>
            <a:pPr marL="0" lvl="0" indent="0">
              <a:lnSpc>
                <a:spcPts val="5599"/>
              </a:lnSpc>
              <a:spcBef>
                <a:spcPct val="0"/>
              </a:spcBef>
            </a:pPr>
            <a:r>
              <a:rPr lang="en-US" sz="3200" dirty="0">
                <a:solidFill>
                  <a:srgbClr val="2E377F"/>
                </a:solidFill>
                <a:latin typeface="Poppins Light"/>
                <a:ea typeface="Poppins Light"/>
                <a:cs typeface="Poppins Light"/>
                <a:sym typeface="Poppins Light"/>
              </a:rPr>
              <a:t>‎Plan your day with clear goals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4844" y="1336836"/>
            <a:ext cx="16304456" cy="8230467"/>
            <a:chOff x="0" y="0"/>
            <a:chExt cx="2624464" cy="13248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24464" cy="1324826"/>
            </a:xfrm>
            <a:custGeom>
              <a:avLst/>
              <a:gdLst/>
              <a:ahLst/>
              <a:cxnLst/>
              <a:rect l="l" t="t" r="r" b="b"/>
              <a:pathLst>
                <a:path w="2624464" h="1324826">
                  <a:moveTo>
                    <a:pt x="2500004" y="1324826"/>
                  </a:moveTo>
                  <a:lnTo>
                    <a:pt x="124460" y="1324826"/>
                  </a:lnTo>
                  <a:cubicBezTo>
                    <a:pt x="55880" y="1324826"/>
                    <a:pt x="0" y="1268946"/>
                    <a:pt x="0" y="1200366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500004" y="0"/>
                  </a:lnTo>
                  <a:cubicBezTo>
                    <a:pt x="2568584" y="0"/>
                    <a:pt x="2624464" y="55880"/>
                    <a:pt x="2624464" y="124460"/>
                  </a:cubicBezTo>
                  <a:lnTo>
                    <a:pt x="2624464" y="1200366"/>
                  </a:lnTo>
                  <a:cubicBezTo>
                    <a:pt x="2624464" y="1268946"/>
                    <a:pt x="2568584" y="1324826"/>
                    <a:pt x="2500004" y="132482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Freeform 4"/>
          <p:cNvSpPr/>
          <p:nvPr/>
        </p:nvSpPr>
        <p:spPr>
          <a:xfrm rot="9660371" flipH="1">
            <a:off x="15636021" y="8450090"/>
            <a:ext cx="1252602" cy="1225272"/>
          </a:xfrm>
          <a:custGeom>
            <a:avLst/>
            <a:gdLst/>
            <a:ahLst/>
            <a:cxnLst/>
            <a:rect l="l" t="t" r="r" b="b"/>
            <a:pathLst>
              <a:path w="1252602" h="1225272">
                <a:moveTo>
                  <a:pt x="1252602" y="0"/>
                </a:moveTo>
                <a:lnTo>
                  <a:pt x="0" y="0"/>
                </a:lnTo>
                <a:lnTo>
                  <a:pt x="0" y="1225272"/>
                </a:lnTo>
                <a:lnTo>
                  <a:pt x="1252602" y="1225272"/>
                </a:lnTo>
                <a:lnTo>
                  <a:pt x="125260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8249153" y="2674038"/>
            <a:ext cx="8804763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>
                <a:solidFill>
                  <a:srgbClr val="2E377F"/>
                </a:solidFill>
                <a:latin typeface="Oilvare Base"/>
                <a:ea typeface="Oilvare Base"/>
                <a:cs typeface="Oilvare Base"/>
                <a:sym typeface="Oilvare Base"/>
              </a:rPr>
              <a:t>‎‎Habit 3 – Put First Things First</a:t>
            </a:r>
          </a:p>
          <a:p>
            <a:pPr marL="0" lvl="0" indent="0" algn="ctr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2E377F"/>
                </a:solidFill>
                <a:latin typeface="Oilvare Base"/>
                <a:ea typeface="Oilvare Base"/>
                <a:cs typeface="Oilvare Base"/>
                <a:sym typeface="Oilvare Base"/>
              </a:rPr>
              <a:t>‎(from The 7 Habits of Highly Effective People)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611867" y="3946548"/>
            <a:ext cx="9442049" cy="3658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dirty="0">
                <a:solidFill>
                  <a:srgbClr val="2E377F"/>
                </a:solidFill>
                <a:latin typeface="Poppins"/>
                <a:ea typeface="Poppins"/>
                <a:cs typeface="Poppins"/>
                <a:sym typeface="Poppins"/>
              </a:rPr>
              <a:t>Key Idea (by Stephen Covey)</a:t>
            </a:r>
          </a:p>
          <a:p>
            <a:pPr algn="ctr">
              <a:lnSpc>
                <a:spcPts val="3640"/>
              </a:lnSpc>
            </a:pPr>
            <a:r>
              <a:rPr lang="en-US" sz="2600" dirty="0">
                <a:solidFill>
                  <a:srgbClr val="2E377F"/>
                </a:solidFill>
                <a:latin typeface="Poppins"/>
                <a:ea typeface="Poppins"/>
                <a:cs typeface="Poppins"/>
                <a:sym typeface="Poppins"/>
              </a:rPr>
              <a:t>‎Discipline and self-management are important</a:t>
            </a:r>
          </a:p>
          <a:p>
            <a:pPr algn="ctr">
              <a:lnSpc>
                <a:spcPts val="3640"/>
              </a:lnSpc>
            </a:pPr>
            <a:r>
              <a:rPr lang="en-US" sz="2600" dirty="0">
                <a:solidFill>
                  <a:srgbClr val="2E377F"/>
                </a:solidFill>
                <a:latin typeface="Poppins"/>
                <a:ea typeface="Poppins"/>
                <a:cs typeface="Poppins"/>
                <a:sym typeface="Poppins"/>
              </a:rPr>
              <a:t>‎Balance work, study, and personal life</a:t>
            </a:r>
          </a:p>
          <a:p>
            <a:pPr algn="ctr">
              <a:lnSpc>
                <a:spcPts val="3640"/>
              </a:lnSpc>
            </a:pPr>
            <a:r>
              <a:rPr lang="en-US" sz="2600" dirty="0">
                <a:solidFill>
                  <a:srgbClr val="2E377F"/>
                </a:solidFill>
                <a:latin typeface="Poppins"/>
                <a:ea typeface="Poppins"/>
                <a:cs typeface="Poppins"/>
                <a:sym typeface="Poppins"/>
              </a:rPr>
              <a:t>‎Focus on long-term goals, not short-term comfort</a:t>
            </a:r>
          </a:p>
          <a:p>
            <a:pPr algn="ctr">
              <a:lnSpc>
                <a:spcPts val="3640"/>
              </a:lnSpc>
            </a:pPr>
            <a:r>
              <a:rPr lang="en-US" sz="2600" dirty="0">
                <a:solidFill>
                  <a:srgbClr val="2E377F"/>
                </a:solidFill>
                <a:latin typeface="Poppins"/>
                <a:ea typeface="Poppins"/>
                <a:cs typeface="Poppins"/>
                <a:sym typeface="Poppins"/>
              </a:rPr>
              <a:t>‎Say “no” to less important tasks</a:t>
            </a:r>
          </a:p>
          <a:p>
            <a:pPr algn="ctr">
              <a:lnSpc>
                <a:spcPts val="3640"/>
              </a:lnSpc>
            </a:pPr>
            <a:r>
              <a:rPr lang="en-US" sz="2600" dirty="0">
                <a:solidFill>
                  <a:srgbClr val="2E377F"/>
                </a:solidFill>
                <a:latin typeface="Poppins"/>
                <a:ea typeface="Poppins"/>
                <a:cs typeface="Poppins"/>
                <a:sym typeface="Poppins"/>
              </a:rPr>
              <a:t>‎Quote:</a:t>
            </a:r>
          </a:p>
          <a:p>
            <a:pPr marL="0" lvl="0" indent="0" algn="ctr">
              <a:lnSpc>
                <a:spcPts val="3640"/>
              </a:lnSpc>
              <a:spcBef>
                <a:spcPct val="0"/>
              </a:spcBef>
            </a:pPr>
            <a:r>
              <a:rPr lang="en-US" sz="2600" dirty="0">
                <a:solidFill>
                  <a:srgbClr val="2E377F"/>
                </a:solidFill>
                <a:latin typeface="Poppins"/>
                <a:ea typeface="Poppins"/>
                <a:cs typeface="Poppins"/>
                <a:sym typeface="Poppins"/>
              </a:rPr>
              <a:t>‎“The key is not to prioritize what’s on your schedule, but to schedule your priorities.”</a:t>
            </a:r>
          </a:p>
        </p:txBody>
      </p:sp>
      <p:sp>
        <p:nvSpPr>
          <p:cNvPr id="7" name="Freeform 7"/>
          <p:cNvSpPr/>
          <p:nvPr/>
        </p:nvSpPr>
        <p:spPr>
          <a:xfrm>
            <a:off x="556257" y="3007413"/>
            <a:ext cx="7260994" cy="5536508"/>
          </a:xfrm>
          <a:custGeom>
            <a:avLst/>
            <a:gdLst/>
            <a:ahLst/>
            <a:cxnLst/>
            <a:rect l="l" t="t" r="r" b="b"/>
            <a:pathLst>
              <a:path w="7260994" h="5536508">
                <a:moveTo>
                  <a:pt x="0" y="0"/>
                </a:moveTo>
                <a:lnTo>
                  <a:pt x="7260994" y="0"/>
                </a:lnTo>
                <a:lnTo>
                  <a:pt x="7260994" y="5536508"/>
                </a:lnTo>
                <a:lnTo>
                  <a:pt x="0" y="55365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C1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704182"/>
            <a:ext cx="6539780" cy="6293855"/>
            <a:chOff x="0" y="0"/>
            <a:chExt cx="1084478" cy="104369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84478" cy="1043697"/>
            </a:xfrm>
            <a:custGeom>
              <a:avLst/>
              <a:gdLst/>
              <a:ahLst/>
              <a:cxnLst/>
              <a:rect l="l" t="t" r="r" b="b"/>
              <a:pathLst>
                <a:path w="1084478" h="1043697">
                  <a:moveTo>
                    <a:pt x="960018" y="1043697"/>
                  </a:moveTo>
                  <a:lnTo>
                    <a:pt x="124460" y="1043697"/>
                  </a:lnTo>
                  <a:cubicBezTo>
                    <a:pt x="55880" y="1043697"/>
                    <a:pt x="0" y="987817"/>
                    <a:pt x="0" y="919237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960018" y="0"/>
                  </a:lnTo>
                  <a:cubicBezTo>
                    <a:pt x="1028598" y="0"/>
                    <a:pt x="1084478" y="55880"/>
                    <a:pt x="1084478" y="124460"/>
                  </a:cubicBezTo>
                  <a:lnTo>
                    <a:pt x="1084478" y="919237"/>
                  </a:lnTo>
                  <a:cubicBezTo>
                    <a:pt x="1084478" y="987817"/>
                    <a:pt x="1028598" y="1043697"/>
                    <a:pt x="960018" y="104369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8188626" y="1835072"/>
            <a:ext cx="9734848" cy="6425604"/>
            <a:chOff x="0" y="9525"/>
            <a:chExt cx="12979797" cy="8567472"/>
          </a:xfrm>
        </p:grpSpPr>
        <p:sp>
          <p:nvSpPr>
            <p:cNvPr id="5" name="TextBox 5"/>
            <p:cNvSpPr txBox="1"/>
            <p:nvPr/>
          </p:nvSpPr>
          <p:spPr>
            <a:xfrm>
              <a:off x="0" y="9525"/>
              <a:ext cx="10998274" cy="19335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78"/>
                </a:lnSpc>
              </a:pPr>
              <a:r>
                <a:rPr lang="en-US" sz="3231">
                  <a:solidFill>
                    <a:srgbClr val="2E377F"/>
                  </a:solidFill>
                  <a:latin typeface="Oilvare Base"/>
                  <a:ea typeface="Oilvare Base"/>
                  <a:cs typeface="Oilvare Base"/>
                  <a:sym typeface="Oilvare Base"/>
                </a:rPr>
                <a:t>‎Habit 4 – Think Win-Win</a:t>
              </a:r>
            </a:p>
            <a:p>
              <a:pPr algn="l">
                <a:lnSpc>
                  <a:spcPts val="3878"/>
                </a:lnSpc>
              </a:pPr>
              <a:r>
                <a:rPr lang="en-US" sz="3231">
                  <a:solidFill>
                    <a:srgbClr val="2E377F"/>
                  </a:solidFill>
                  <a:latin typeface="Oilvare Base"/>
                  <a:ea typeface="Oilvare Base"/>
                  <a:cs typeface="Oilvare Base"/>
                  <a:sym typeface="Oilvare Base"/>
                </a:rPr>
                <a:t>‎(from The 7 Habits of Highly Effective People)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595017"/>
              <a:ext cx="12979797" cy="59819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097"/>
                </a:lnSpc>
              </a:pPr>
              <a:r>
                <a:rPr lang="en-US" sz="2000" spc="271" dirty="0">
                  <a:solidFill>
                    <a:srgbClr val="2E377F"/>
                  </a:solidFill>
                  <a:latin typeface="Poppins"/>
                  <a:ea typeface="Poppins"/>
                  <a:cs typeface="Poppins"/>
                  <a:sym typeface="Poppins"/>
                </a:rPr>
                <a:t>Think Win-Win (Concept)</a:t>
              </a:r>
            </a:p>
            <a:p>
              <a:pPr algn="l">
                <a:lnSpc>
                  <a:spcPts val="5097"/>
                </a:lnSpc>
              </a:pPr>
              <a:r>
                <a:rPr lang="en-US" sz="2000" spc="271" dirty="0">
                  <a:solidFill>
                    <a:srgbClr val="2E377F"/>
                  </a:solidFill>
                  <a:latin typeface="Poppins"/>
                  <a:ea typeface="Poppins"/>
                  <a:cs typeface="Poppins"/>
                  <a:sym typeface="Poppins"/>
                </a:rPr>
                <a:t>‎Mutual benefit: both people win</a:t>
              </a:r>
            </a:p>
            <a:p>
              <a:pPr algn="l">
                <a:lnSpc>
                  <a:spcPts val="5097"/>
                </a:lnSpc>
              </a:pPr>
              <a:r>
                <a:rPr lang="en-US" sz="2000" spc="271" dirty="0">
                  <a:solidFill>
                    <a:srgbClr val="2E377F"/>
                  </a:solidFill>
                  <a:latin typeface="Poppins"/>
                  <a:ea typeface="Poppins"/>
                  <a:cs typeface="Poppins"/>
                  <a:sym typeface="Poppins"/>
                </a:rPr>
                <a:t>‎Life is cooperation, not competition</a:t>
              </a:r>
            </a:p>
            <a:p>
              <a:pPr algn="l">
                <a:lnSpc>
                  <a:spcPts val="5097"/>
                </a:lnSpc>
              </a:pPr>
              <a:r>
                <a:rPr lang="en-US" sz="2000" spc="271" dirty="0">
                  <a:solidFill>
                    <a:srgbClr val="2E377F"/>
                  </a:solidFill>
                  <a:latin typeface="Poppins"/>
                  <a:ea typeface="Poppins"/>
                  <a:cs typeface="Poppins"/>
                  <a:sym typeface="Poppins"/>
                </a:rPr>
                <a:t>‎Aim for solutions where both are satisfied</a:t>
              </a:r>
            </a:p>
            <a:p>
              <a:pPr algn="l">
                <a:lnSpc>
                  <a:spcPts val="5097"/>
                </a:lnSpc>
              </a:pPr>
              <a:r>
                <a:rPr lang="en-US" sz="2000" spc="271" dirty="0">
                  <a:solidFill>
                    <a:srgbClr val="2E377F"/>
                  </a:solidFill>
                  <a:latin typeface="Poppins"/>
                  <a:ea typeface="Poppins"/>
                  <a:cs typeface="Poppins"/>
                  <a:sym typeface="Poppins"/>
                </a:rPr>
                <a:t>‎Not “your way or my way,” but a better third solution</a:t>
              </a:r>
            </a:p>
            <a:p>
              <a:pPr marL="0" lvl="0" indent="0" algn="l">
                <a:lnSpc>
                  <a:spcPts val="5097"/>
                </a:lnSpc>
              </a:pPr>
              <a:r>
                <a:rPr lang="en-US" sz="2000" spc="271" dirty="0">
                  <a:solidFill>
                    <a:srgbClr val="2E377F"/>
                  </a:solidFill>
                  <a:latin typeface="Poppins"/>
                  <a:ea typeface="Poppins"/>
                  <a:cs typeface="Poppins"/>
                  <a:sym typeface="Poppins"/>
                </a:rPr>
                <a:t>‎Based on abundance mentality (there is enough for everyone)</a:t>
              </a:r>
            </a:p>
          </p:txBody>
        </p:sp>
      </p:grpSp>
      <p:sp>
        <p:nvSpPr>
          <p:cNvPr id="7" name="Freeform 7"/>
          <p:cNvSpPr/>
          <p:nvPr/>
        </p:nvSpPr>
        <p:spPr>
          <a:xfrm rot="3131007">
            <a:off x="707858" y="8032983"/>
            <a:ext cx="2573358" cy="1534365"/>
          </a:xfrm>
          <a:custGeom>
            <a:avLst/>
            <a:gdLst/>
            <a:ahLst/>
            <a:cxnLst/>
            <a:rect l="l" t="t" r="r" b="b"/>
            <a:pathLst>
              <a:path w="2573358" h="1534365">
                <a:moveTo>
                  <a:pt x="0" y="0"/>
                </a:moveTo>
                <a:lnTo>
                  <a:pt x="2573358" y="0"/>
                </a:lnTo>
                <a:lnTo>
                  <a:pt x="2573358" y="1534365"/>
                </a:lnTo>
                <a:lnTo>
                  <a:pt x="0" y="15343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781053" y="1490919"/>
            <a:ext cx="5035075" cy="4720382"/>
          </a:xfrm>
          <a:custGeom>
            <a:avLst/>
            <a:gdLst/>
            <a:ahLst/>
            <a:cxnLst/>
            <a:rect l="l" t="t" r="r" b="b"/>
            <a:pathLst>
              <a:path w="5035075" h="4720382">
                <a:moveTo>
                  <a:pt x="0" y="0"/>
                </a:moveTo>
                <a:lnTo>
                  <a:pt x="5035074" y="0"/>
                </a:lnTo>
                <a:lnTo>
                  <a:pt x="5035074" y="4720382"/>
                </a:lnTo>
                <a:lnTo>
                  <a:pt x="0" y="47203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C1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99572" y="704182"/>
            <a:ext cx="13179921" cy="9073819"/>
            <a:chOff x="0" y="0"/>
            <a:chExt cx="1258983" cy="8667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8983" cy="866757"/>
            </a:xfrm>
            <a:custGeom>
              <a:avLst/>
              <a:gdLst/>
              <a:ahLst/>
              <a:cxnLst/>
              <a:rect l="l" t="t" r="r" b="b"/>
              <a:pathLst>
                <a:path w="1258983" h="866757">
                  <a:moveTo>
                    <a:pt x="1134523" y="866756"/>
                  </a:moveTo>
                  <a:lnTo>
                    <a:pt x="124460" y="866756"/>
                  </a:lnTo>
                  <a:cubicBezTo>
                    <a:pt x="55880" y="866756"/>
                    <a:pt x="0" y="810876"/>
                    <a:pt x="0" y="742296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134523" y="0"/>
                  </a:lnTo>
                  <a:cubicBezTo>
                    <a:pt x="1203103" y="0"/>
                    <a:pt x="1258983" y="55880"/>
                    <a:pt x="1258983" y="124460"/>
                  </a:cubicBezTo>
                  <a:lnTo>
                    <a:pt x="1258983" y="742297"/>
                  </a:lnTo>
                  <a:cubicBezTo>
                    <a:pt x="1258983" y="810876"/>
                    <a:pt x="1203103" y="866757"/>
                    <a:pt x="1134523" y="8667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963329" y="2181857"/>
            <a:ext cx="12234106" cy="4957194"/>
            <a:chOff x="406252" y="1968725"/>
            <a:chExt cx="16312142" cy="6609591"/>
          </a:xfrm>
        </p:grpSpPr>
        <p:sp>
          <p:nvSpPr>
            <p:cNvPr id="5" name="TextBox 5"/>
            <p:cNvSpPr txBox="1"/>
            <p:nvPr/>
          </p:nvSpPr>
          <p:spPr>
            <a:xfrm>
              <a:off x="406252" y="1968725"/>
              <a:ext cx="14620770" cy="12592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45"/>
                </a:lnSpc>
              </a:pPr>
              <a:r>
                <a:rPr lang="en-US" sz="3121" dirty="0">
                  <a:solidFill>
                    <a:srgbClr val="2E377F"/>
                  </a:solidFill>
                  <a:latin typeface="Oilvare Base"/>
                  <a:ea typeface="Oilvare Base"/>
                  <a:cs typeface="Oilvare Base"/>
                  <a:sym typeface="Oilvare Base"/>
                </a:rPr>
                <a:t>‎Habit 4 – Think Win-Win</a:t>
              </a:r>
            </a:p>
            <a:p>
              <a:pPr marL="0" lvl="0" indent="0" algn="l">
                <a:lnSpc>
                  <a:spcPts val="3745"/>
                </a:lnSpc>
                <a:spcBef>
                  <a:spcPct val="0"/>
                </a:spcBef>
              </a:pPr>
              <a:r>
                <a:rPr lang="en-US" sz="3121" dirty="0">
                  <a:solidFill>
                    <a:srgbClr val="2E377F"/>
                  </a:solidFill>
                  <a:latin typeface="Oilvare Base"/>
                  <a:ea typeface="Oilvare Base"/>
                  <a:cs typeface="Oilvare Base"/>
                  <a:sym typeface="Oilvare Base"/>
                </a:rPr>
                <a:t>‎(from The 7 Habits of Highly Effective People)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87639" y="3517102"/>
              <a:ext cx="16030755" cy="50612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74"/>
                </a:lnSpc>
              </a:pPr>
              <a:r>
                <a:rPr lang="en-US" sz="2000" spc="195" dirty="0" smtClean="0">
                  <a:solidFill>
                    <a:srgbClr val="2E377F"/>
                  </a:solidFill>
                  <a:latin typeface="Poppins"/>
                  <a:ea typeface="Poppins"/>
                  <a:cs typeface="Poppins"/>
                  <a:sym typeface="Poppins"/>
                </a:rPr>
                <a:t>‎Character matters:</a:t>
              </a:r>
            </a:p>
            <a:p>
              <a:pPr algn="l">
                <a:lnSpc>
                  <a:spcPts val="3674"/>
                </a:lnSpc>
              </a:pPr>
              <a:r>
                <a:rPr lang="en-US" sz="2000" spc="195" dirty="0" smtClean="0">
                  <a:solidFill>
                    <a:srgbClr val="2E377F"/>
                  </a:solidFill>
                  <a:latin typeface="Poppins"/>
                  <a:ea typeface="Poppins"/>
                  <a:cs typeface="Poppins"/>
                  <a:sym typeface="Poppins"/>
                </a:rPr>
                <a:t>‎</a:t>
              </a:r>
              <a:r>
                <a:rPr lang="en-US" sz="2000" spc="195" dirty="0">
                  <a:solidFill>
                    <a:srgbClr val="2E377F"/>
                  </a:solidFill>
                  <a:latin typeface="Poppins"/>
                  <a:ea typeface="Poppins"/>
                  <a:cs typeface="Poppins"/>
                  <a:sym typeface="Poppins"/>
                </a:rPr>
                <a:t>Integrity (clear values)</a:t>
              </a:r>
            </a:p>
            <a:p>
              <a:pPr algn="l">
                <a:lnSpc>
                  <a:spcPts val="3674"/>
                </a:lnSpc>
              </a:pPr>
              <a:r>
                <a:rPr lang="en-US" sz="2000" spc="195" dirty="0">
                  <a:solidFill>
                    <a:srgbClr val="2E377F"/>
                  </a:solidFill>
                  <a:latin typeface="Poppins"/>
                  <a:ea typeface="Poppins"/>
                  <a:cs typeface="Poppins"/>
                  <a:sym typeface="Poppins"/>
                </a:rPr>
                <a:t>‎Maturity (courage + respect)</a:t>
              </a:r>
            </a:p>
            <a:p>
              <a:pPr algn="l">
                <a:lnSpc>
                  <a:spcPts val="3674"/>
                </a:lnSpc>
              </a:pPr>
              <a:r>
                <a:rPr lang="en-US" sz="2000" spc="195" dirty="0">
                  <a:solidFill>
                    <a:srgbClr val="2E377F"/>
                  </a:solidFill>
                  <a:latin typeface="Poppins"/>
                  <a:ea typeface="Poppins"/>
                  <a:cs typeface="Poppins"/>
                  <a:sym typeface="Poppins"/>
                </a:rPr>
                <a:t>‎Build strong relationships: trust is essential</a:t>
              </a:r>
            </a:p>
            <a:p>
              <a:pPr algn="l">
                <a:lnSpc>
                  <a:spcPts val="3674"/>
                </a:lnSpc>
              </a:pPr>
              <a:r>
                <a:rPr lang="en-US" sz="2000" spc="195" dirty="0">
                  <a:solidFill>
                    <a:srgbClr val="2E377F"/>
                  </a:solidFill>
                  <a:latin typeface="Poppins"/>
                  <a:ea typeface="Poppins"/>
                  <a:cs typeface="Poppins"/>
                  <a:sym typeface="Poppins"/>
                </a:rPr>
                <a:t>‎Understand both sides’ needs</a:t>
              </a:r>
            </a:p>
            <a:p>
              <a:pPr algn="l">
                <a:lnSpc>
                  <a:spcPts val="3674"/>
                </a:lnSpc>
              </a:pPr>
              <a:r>
                <a:rPr lang="en-US" sz="2000" spc="195" dirty="0">
                  <a:solidFill>
                    <a:srgbClr val="2E377F"/>
                  </a:solidFill>
                  <a:latin typeface="Poppins"/>
                  <a:ea typeface="Poppins"/>
                  <a:cs typeface="Poppins"/>
                  <a:sym typeface="Poppins"/>
                </a:rPr>
                <a:t>‎Find mutual solutions</a:t>
              </a:r>
            </a:p>
            <a:p>
              <a:pPr algn="l">
                <a:lnSpc>
                  <a:spcPts val="3674"/>
                </a:lnSpc>
              </a:pPr>
              <a:r>
                <a:rPr lang="en-US" sz="2000" spc="195" dirty="0">
                  <a:solidFill>
                    <a:srgbClr val="2E377F"/>
                  </a:solidFill>
                  <a:latin typeface="Poppins"/>
                  <a:ea typeface="Poppins"/>
                  <a:cs typeface="Poppins"/>
                  <a:sym typeface="Poppins"/>
                </a:rPr>
                <a:t>‎Focus on long-term relationships</a:t>
              </a:r>
            </a:p>
            <a:p>
              <a:pPr algn="l">
                <a:lnSpc>
                  <a:spcPts val="3674"/>
                </a:lnSpc>
              </a:pPr>
              <a:r>
                <a:rPr lang="en-US" sz="2000" spc="195" dirty="0">
                  <a:solidFill>
                    <a:srgbClr val="2E377F"/>
                  </a:solidFill>
                  <a:latin typeface="Poppins"/>
                  <a:ea typeface="Poppins"/>
                  <a:cs typeface="Poppins"/>
                  <a:sym typeface="Poppins"/>
                </a:rPr>
                <a:t>‎Win-Lose or Lose-Win → both lose in the long </a:t>
              </a:r>
              <a:r>
                <a:rPr lang="en-US" sz="2000" spc="195" dirty="0" smtClean="0">
                  <a:solidFill>
                    <a:srgbClr val="2E377F"/>
                  </a:solidFill>
                  <a:latin typeface="Poppins"/>
                  <a:ea typeface="Poppins"/>
                  <a:cs typeface="Poppins"/>
                  <a:sym typeface="Poppins"/>
                </a:rPr>
                <a:t>run</a:t>
              </a:r>
              <a:endParaRPr lang="en-US" sz="2000" spc="195" dirty="0">
                <a:solidFill>
                  <a:srgbClr val="2E377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7" name="Freeform 7"/>
          <p:cNvSpPr/>
          <p:nvPr/>
        </p:nvSpPr>
        <p:spPr>
          <a:xfrm rot="3131007">
            <a:off x="371961" y="8491118"/>
            <a:ext cx="2573358" cy="1534365"/>
          </a:xfrm>
          <a:custGeom>
            <a:avLst/>
            <a:gdLst/>
            <a:ahLst/>
            <a:cxnLst/>
            <a:rect l="l" t="t" r="r" b="b"/>
            <a:pathLst>
              <a:path w="2573358" h="1534365">
                <a:moveTo>
                  <a:pt x="0" y="0"/>
                </a:moveTo>
                <a:lnTo>
                  <a:pt x="2573358" y="0"/>
                </a:lnTo>
                <a:lnTo>
                  <a:pt x="2573358" y="1534364"/>
                </a:lnTo>
                <a:lnTo>
                  <a:pt x="0" y="15343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5400000">
            <a:off x="12924557" y="3456004"/>
            <a:ext cx="6115930" cy="3570174"/>
          </a:xfrm>
          <a:custGeom>
            <a:avLst/>
            <a:gdLst/>
            <a:ahLst/>
            <a:cxnLst/>
            <a:rect l="l" t="t" r="r" b="b"/>
            <a:pathLst>
              <a:path w="6115930" h="3570174">
                <a:moveTo>
                  <a:pt x="0" y="0"/>
                </a:moveTo>
                <a:lnTo>
                  <a:pt x="6115930" y="0"/>
                </a:lnTo>
                <a:lnTo>
                  <a:pt x="6115930" y="3570175"/>
                </a:lnTo>
                <a:lnTo>
                  <a:pt x="0" y="35701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78397" y="0"/>
            <a:ext cx="20268907" cy="2848990"/>
            <a:chOff x="0" y="0"/>
            <a:chExt cx="6856396" cy="9637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856396" cy="963732"/>
            </a:xfrm>
            <a:custGeom>
              <a:avLst/>
              <a:gdLst/>
              <a:ahLst/>
              <a:cxnLst/>
              <a:rect l="l" t="t" r="r" b="b"/>
              <a:pathLst>
                <a:path w="6856396" h="963732">
                  <a:moveTo>
                    <a:pt x="6731936" y="963732"/>
                  </a:moveTo>
                  <a:lnTo>
                    <a:pt x="124460" y="963732"/>
                  </a:lnTo>
                  <a:cubicBezTo>
                    <a:pt x="55880" y="963732"/>
                    <a:pt x="0" y="907852"/>
                    <a:pt x="0" y="839272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6731936" y="0"/>
                  </a:lnTo>
                  <a:cubicBezTo>
                    <a:pt x="6800516" y="0"/>
                    <a:pt x="6856396" y="55880"/>
                    <a:pt x="6856396" y="124460"/>
                  </a:cubicBezTo>
                  <a:lnTo>
                    <a:pt x="6856396" y="839272"/>
                  </a:lnTo>
                  <a:cubicBezTo>
                    <a:pt x="6856396" y="907852"/>
                    <a:pt x="6800516" y="963732"/>
                    <a:pt x="6731936" y="963732"/>
                  </a:cubicBezTo>
                  <a:close/>
                </a:path>
              </a:pathLst>
            </a:custGeom>
            <a:solidFill>
              <a:srgbClr val="DBC1E5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3979503" y="3082052"/>
            <a:ext cx="9245274" cy="6868417"/>
          </a:xfrm>
          <a:custGeom>
            <a:avLst/>
            <a:gdLst/>
            <a:ahLst/>
            <a:cxnLst/>
            <a:rect l="l" t="t" r="r" b="b"/>
            <a:pathLst>
              <a:path w="9245274" h="6868417">
                <a:moveTo>
                  <a:pt x="0" y="0"/>
                </a:moveTo>
                <a:lnTo>
                  <a:pt x="9245274" y="0"/>
                </a:lnTo>
                <a:lnTo>
                  <a:pt x="9245274" y="6868417"/>
                </a:lnTo>
                <a:lnTo>
                  <a:pt x="0" y="68684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928487"/>
            <a:ext cx="16230600" cy="1529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29"/>
              </a:lnSpc>
            </a:pPr>
            <a:r>
              <a:rPr lang="en-US" sz="2699">
                <a:solidFill>
                  <a:srgbClr val="2B3372"/>
                </a:solidFill>
                <a:latin typeface="Oilvare Base"/>
                <a:ea typeface="Oilvare Base"/>
                <a:cs typeface="Oilvare Base"/>
                <a:sym typeface="Oilvare Base"/>
              </a:rPr>
              <a:t>HABIT 5 – SEEK FIRST TO UNDERSTAND, THEN TO BE UNDERSTOOD</a:t>
            </a:r>
          </a:p>
          <a:p>
            <a:pPr algn="ctr">
              <a:lnSpc>
                <a:spcPts val="2429"/>
              </a:lnSpc>
            </a:pPr>
            <a:endParaRPr lang="en-US" sz="2699">
              <a:solidFill>
                <a:srgbClr val="2B3372"/>
              </a:solidFill>
              <a:latin typeface="Oilvare Base"/>
              <a:ea typeface="Oilvare Base"/>
              <a:cs typeface="Oilvare Base"/>
              <a:sym typeface="Oilvare Base"/>
            </a:endParaRPr>
          </a:p>
          <a:p>
            <a:pPr algn="l">
              <a:lnSpc>
                <a:spcPts val="2429"/>
              </a:lnSpc>
            </a:pPr>
            <a:r>
              <a:rPr lang="en-US" sz="2699">
                <a:solidFill>
                  <a:srgbClr val="2B3372"/>
                </a:solidFill>
                <a:latin typeface="Oilvare Base"/>
                <a:ea typeface="Oilvare Base"/>
                <a:cs typeface="Oilvare Base"/>
                <a:sym typeface="Oilvare Base"/>
              </a:rPr>
              <a:t>CORE IDEA:</a:t>
            </a:r>
          </a:p>
          <a:p>
            <a:pPr algn="l">
              <a:lnSpc>
                <a:spcPts val="2339"/>
              </a:lnSpc>
            </a:pPr>
            <a:r>
              <a:rPr lang="en-US" sz="2599">
                <a:solidFill>
                  <a:srgbClr val="2B3372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EFFECTIVE COMMUNICATION BEGINS WITH UNDERSTANDING OTHERS BEFORE      </a:t>
            </a:r>
          </a:p>
          <a:p>
            <a:pPr algn="l">
              <a:lnSpc>
                <a:spcPts val="2339"/>
              </a:lnSpc>
              <a:spcBef>
                <a:spcPct val="0"/>
              </a:spcBef>
            </a:pPr>
            <a:r>
              <a:rPr lang="en-US" sz="2599">
                <a:solidFill>
                  <a:srgbClr val="2B3372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EXPRESSING YOUR OWN POINT OF VIEW.</a:t>
            </a:r>
          </a:p>
        </p:txBody>
      </p:sp>
      <p:sp>
        <p:nvSpPr>
          <p:cNvPr id="6" name="Freeform 6"/>
          <p:cNvSpPr/>
          <p:nvPr/>
        </p:nvSpPr>
        <p:spPr>
          <a:xfrm rot="10702575" flipH="1">
            <a:off x="16041196" y="8280872"/>
            <a:ext cx="1998459" cy="1954856"/>
          </a:xfrm>
          <a:custGeom>
            <a:avLst/>
            <a:gdLst/>
            <a:ahLst/>
            <a:cxnLst/>
            <a:rect l="l" t="t" r="r" b="b"/>
            <a:pathLst>
              <a:path w="1998459" h="1954856">
                <a:moveTo>
                  <a:pt x="1998459" y="0"/>
                </a:moveTo>
                <a:lnTo>
                  <a:pt x="0" y="0"/>
                </a:lnTo>
                <a:lnTo>
                  <a:pt x="0" y="1954856"/>
                </a:lnTo>
                <a:lnTo>
                  <a:pt x="1998459" y="1954856"/>
                </a:lnTo>
                <a:lnTo>
                  <a:pt x="199845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78397" y="0"/>
            <a:ext cx="20268907" cy="2848990"/>
            <a:chOff x="0" y="0"/>
            <a:chExt cx="6856396" cy="9637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856396" cy="963732"/>
            </a:xfrm>
            <a:custGeom>
              <a:avLst/>
              <a:gdLst/>
              <a:ahLst/>
              <a:cxnLst/>
              <a:rect l="l" t="t" r="r" b="b"/>
              <a:pathLst>
                <a:path w="6856396" h="963732">
                  <a:moveTo>
                    <a:pt x="6731936" y="963732"/>
                  </a:moveTo>
                  <a:lnTo>
                    <a:pt x="124460" y="963732"/>
                  </a:lnTo>
                  <a:cubicBezTo>
                    <a:pt x="55880" y="963732"/>
                    <a:pt x="0" y="907852"/>
                    <a:pt x="0" y="839272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6731936" y="0"/>
                  </a:lnTo>
                  <a:cubicBezTo>
                    <a:pt x="6800516" y="0"/>
                    <a:pt x="6856396" y="55880"/>
                    <a:pt x="6856396" y="124460"/>
                  </a:cubicBezTo>
                  <a:lnTo>
                    <a:pt x="6856396" y="839272"/>
                  </a:lnTo>
                  <a:cubicBezTo>
                    <a:pt x="6856396" y="907852"/>
                    <a:pt x="6800516" y="963732"/>
                    <a:pt x="6731936" y="963732"/>
                  </a:cubicBezTo>
                  <a:close/>
                </a:path>
              </a:pathLst>
            </a:custGeom>
            <a:solidFill>
              <a:srgbClr val="DBC1E5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13494865" y="2255429"/>
            <a:ext cx="5481873" cy="8031571"/>
          </a:xfrm>
          <a:custGeom>
            <a:avLst/>
            <a:gdLst/>
            <a:ahLst/>
            <a:cxnLst/>
            <a:rect l="l" t="t" r="r" b="b"/>
            <a:pathLst>
              <a:path w="5481873" h="8031571">
                <a:moveTo>
                  <a:pt x="0" y="0"/>
                </a:moveTo>
                <a:lnTo>
                  <a:pt x="5481873" y="0"/>
                </a:lnTo>
                <a:lnTo>
                  <a:pt x="5481873" y="8031571"/>
                </a:lnTo>
                <a:lnTo>
                  <a:pt x="0" y="80315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016" r="-5016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928487"/>
            <a:ext cx="16230600" cy="636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29"/>
              </a:lnSpc>
            </a:pPr>
            <a:r>
              <a:rPr lang="en-US" sz="2699">
                <a:solidFill>
                  <a:srgbClr val="2B3372"/>
                </a:solidFill>
                <a:latin typeface="Oilvare Base"/>
                <a:ea typeface="Oilvare Base"/>
                <a:cs typeface="Oilvare Base"/>
                <a:sym typeface="Oilvare Base"/>
              </a:rPr>
              <a:t>HABIT 5 – SEEK FIRST TO UNDERSTAND, THEN TO BE UNDERSTOOD</a:t>
            </a:r>
          </a:p>
          <a:p>
            <a:pPr algn="l">
              <a:lnSpc>
                <a:spcPts val="2429"/>
              </a:lnSpc>
              <a:spcBef>
                <a:spcPct val="0"/>
              </a:spcBef>
            </a:pPr>
            <a:endParaRPr lang="en-US" sz="2699">
              <a:solidFill>
                <a:srgbClr val="2B3372"/>
              </a:solidFill>
              <a:latin typeface="Oilvare Base"/>
              <a:ea typeface="Oilvare Base"/>
              <a:cs typeface="Oilvare Base"/>
              <a:sym typeface="Oilvare Base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0" y="2196791"/>
            <a:ext cx="6999135" cy="652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67"/>
              </a:lnSpc>
              <a:spcBef>
                <a:spcPct val="0"/>
              </a:spcBef>
            </a:pPr>
            <a:r>
              <a:rPr lang="en-US" sz="4305">
                <a:solidFill>
                  <a:srgbClr val="2E377F"/>
                </a:solidFill>
                <a:latin typeface="Oilvare Base"/>
                <a:ea typeface="Oilvare Base"/>
                <a:cs typeface="Oilvare Base"/>
                <a:sym typeface="Oilvare Base"/>
              </a:rPr>
              <a:t>Key Principles: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095096"/>
            <a:ext cx="10486488" cy="5924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8"/>
              </a:lnSpc>
            </a:pPr>
            <a:r>
              <a:rPr lang="en-US" sz="2391">
                <a:solidFill>
                  <a:srgbClr val="2E377F"/>
                </a:solidFill>
                <a:latin typeface="Poppins Light"/>
                <a:ea typeface="Poppins Light"/>
                <a:cs typeface="Poppins Light"/>
                <a:sym typeface="Poppins Light"/>
              </a:rPr>
              <a:t>Most people listen to reply, not to understand.</a:t>
            </a:r>
          </a:p>
          <a:p>
            <a:pPr algn="l">
              <a:lnSpc>
                <a:spcPts val="3348"/>
              </a:lnSpc>
            </a:pPr>
            <a:endParaRPr lang="en-US" sz="2391">
              <a:solidFill>
                <a:srgbClr val="2E377F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algn="l">
              <a:lnSpc>
                <a:spcPts val="3348"/>
              </a:lnSpc>
            </a:pPr>
            <a:r>
              <a:rPr lang="en-US" sz="2391">
                <a:solidFill>
                  <a:srgbClr val="2E377F"/>
                </a:solidFill>
                <a:latin typeface="Poppins Light"/>
                <a:ea typeface="Poppins Light"/>
                <a:cs typeface="Poppins Light"/>
                <a:sym typeface="Poppins Light"/>
              </a:rPr>
              <a:t>Real communication requires empathic listening.</a:t>
            </a:r>
          </a:p>
          <a:p>
            <a:pPr algn="l">
              <a:lnSpc>
                <a:spcPts val="3348"/>
              </a:lnSpc>
            </a:pPr>
            <a:endParaRPr lang="en-US" sz="2391">
              <a:solidFill>
                <a:srgbClr val="2E377F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>
              <a:lnSpc>
                <a:spcPts val="3348"/>
              </a:lnSpc>
              <a:spcBef>
                <a:spcPct val="0"/>
              </a:spcBef>
            </a:pPr>
            <a:r>
              <a:rPr lang="en-US" sz="2391">
                <a:solidFill>
                  <a:srgbClr val="2E377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Empathic listening means listening with the intent to truly understand another person’s feelings, thoughts, and perspective.</a:t>
            </a:r>
          </a:p>
          <a:p>
            <a:pPr marL="0" lvl="0" indent="0" algn="l">
              <a:lnSpc>
                <a:spcPts val="3348"/>
              </a:lnSpc>
              <a:spcBef>
                <a:spcPct val="0"/>
              </a:spcBef>
            </a:pPr>
            <a:endParaRPr lang="en-US" sz="2391">
              <a:solidFill>
                <a:srgbClr val="2E377F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>
              <a:lnSpc>
                <a:spcPts val="3348"/>
              </a:lnSpc>
              <a:spcBef>
                <a:spcPct val="0"/>
              </a:spcBef>
            </a:pPr>
            <a:r>
              <a:rPr lang="en-US" sz="2391" u="none">
                <a:solidFill>
                  <a:srgbClr val="2E377F"/>
                </a:solidFill>
                <a:latin typeface="Poppins Light"/>
                <a:ea typeface="Poppins Light"/>
                <a:cs typeface="Poppins Light"/>
                <a:sym typeface="Poppins Light"/>
              </a:rPr>
              <a:t>We should diagnose before we prescribe.</a:t>
            </a:r>
          </a:p>
          <a:p>
            <a:pPr marL="0" lvl="0" indent="0" algn="l">
              <a:lnSpc>
                <a:spcPts val="3348"/>
              </a:lnSpc>
              <a:spcBef>
                <a:spcPct val="0"/>
              </a:spcBef>
            </a:pPr>
            <a:endParaRPr lang="en-US" sz="2391" u="none">
              <a:solidFill>
                <a:srgbClr val="2E377F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>
              <a:lnSpc>
                <a:spcPts val="3348"/>
              </a:lnSpc>
              <a:spcBef>
                <a:spcPct val="0"/>
              </a:spcBef>
            </a:pPr>
            <a:r>
              <a:rPr lang="en-US" sz="2391" u="none">
                <a:solidFill>
                  <a:srgbClr val="2E377F"/>
                </a:solidFill>
                <a:latin typeface="Poppins Light"/>
                <a:ea typeface="Poppins Light"/>
                <a:cs typeface="Poppins Light"/>
                <a:sym typeface="Poppins Light"/>
              </a:rPr>
              <a:t>Trust and understanding are the foundation of influence.</a:t>
            </a:r>
          </a:p>
          <a:p>
            <a:pPr marL="0" lvl="0" indent="0" algn="l">
              <a:lnSpc>
                <a:spcPts val="3348"/>
              </a:lnSpc>
              <a:spcBef>
                <a:spcPct val="0"/>
              </a:spcBef>
            </a:pPr>
            <a:endParaRPr lang="en-US" sz="2391" u="none">
              <a:solidFill>
                <a:srgbClr val="2E377F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>
              <a:lnSpc>
                <a:spcPts val="3348"/>
              </a:lnSpc>
              <a:spcBef>
                <a:spcPct val="0"/>
              </a:spcBef>
            </a:pPr>
            <a:r>
              <a:rPr lang="en-US" sz="2391" u="none">
                <a:solidFill>
                  <a:srgbClr val="2E377F"/>
                </a:solidFill>
                <a:latin typeface="Poppins Light"/>
                <a:ea typeface="Poppins Light"/>
                <a:cs typeface="Poppins Light"/>
                <a:sym typeface="Poppins Light"/>
              </a:rPr>
              <a:t>Important Message:</a:t>
            </a:r>
          </a:p>
          <a:p>
            <a:pPr marL="0" lvl="0" indent="0" algn="l">
              <a:lnSpc>
                <a:spcPts val="3348"/>
              </a:lnSpc>
              <a:spcBef>
                <a:spcPct val="0"/>
              </a:spcBef>
            </a:pPr>
            <a:r>
              <a:rPr lang="en-US" sz="2391" u="none">
                <a:solidFill>
                  <a:srgbClr val="2E377F"/>
                </a:solidFill>
                <a:latin typeface="Poppins Light"/>
                <a:ea typeface="Poppins Light"/>
                <a:cs typeface="Poppins Light"/>
                <a:sym typeface="Poppins Light"/>
              </a:rPr>
              <a:t>People do not want immediate advice first — they want to feel understood first.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78397" y="0"/>
            <a:ext cx="20268907" cy="2848990"/>
            <a:chOff x="0" y="0"/>
            <a:chExt cx="6856396" cy="9637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856396" cy="963732"/>
            </a:xfrm>
            <a:custGeom>
              <a:avLst/>
              <a:gdLst/>
              <a:ahLst/>
              <a:cxnLst/>
              <a:rect l="l" t="t" r="r" b="b"/>
              <a:pathLst>
                <a:path w="6856396" h="963732">
                  <a:moveTo>
                    <a:pt x="6731936" y="963732"/>
                  </a:moveTo>
                  <a:lnTo>
                    <a:pt x="124460" y="963732"/>
                  </a:lnTo>
                  <a:cubicBezTo>
                    <a:pt x="55880" y="963732"/>
                    <a:pt x="0" y="907852"/>
                    <a:pt x="0" y="839272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6731936" y="0"/>
                  </a:lnTo>
                  <a:cubicBezTo>
                    <a:pt x="6800516" y="0"/>
                    <a:pt x="6856396" y="55880"/>
                    <a:pt x="6856396" y="124460"/>
                  </a:cubicBezTo>
                  <a:lnTo>
                    <a:pt x="6856396" y="839272"/>
                  </a:lnTo>
                  <a:cubicBezTo>
                    <a:pt x="6856396" y="907852"/>
                    <a:pt x="6800516" y="963732"/>
                    <a:pt x="6731936" y="963732"/>
                  </a:cubicBezTo>
                  <a:close/>
                </a:path>
              </a:pathLst>
            </a:custGeom>
            <a:solidFill>
              <a:srgbClr val="DBC1E5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1028700" y="3045768"/>
            <a:ext cx="11001425" cy="4709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2"/>
              </a:lnSpc>
            </a:pPr>
            <a:endParaRPr/>
          </a:p>
          <a:p>
            <a:pPr marL="609666" lvl="1" indent="-304833" algn="l">
              <a:lnSpc>
                <a:spcPts val="3953"/>
              </a:lnSpc>
              <a:buFont typeface="Arial"/>
              <a:buChar char="•"/>
            </a:pPr>
            <a:r>
              <a:rPr lang="en-US" sz="2823">
                <a:solidFill>
                  <a:srgbClr val="2E377F"/>
                </a:solidFill>
                <a:latin typeface="Poppins Light"/>
                <a:ea typeface="Poppins Light"/>
                <a:cs typeface="Poppins Light"/>
                <a:sym typeface="Poppins Light"/>
              </a:rPr>
              <a:t>Builds trust and stronger relationships</a:t>
            </a:r>
          </a:p>
          <a:p>
            <a:pPr marL="609666" lvl="1" indent="-304833" algn="l">
              <a:lnSpc>
                <a:spcPts val="3953"/>
              </a:lnSpc>
              <a:buFont typeface="Arial"/>
              <a:buChar char="•"/>
            </a:pPr>
            <a:r>
              <a:rPr lang="en-US" sz="2823">
                <a:solidFill>
                  <a:srgbClr val="2E377F"/>
                </a:solidFill>
                <a:latin typeface="Poppins Light"/>
                <a:ea typeface="Poppins Light"/>
                <a:cs typeface="Poppins Light"/>
                <a:sym typeface="Poppins Light"/>
              </a:rPr>
              <a:t>Reduces misunderstandings and conflict</a:t>
            </a:r>
          </a:p>
          <a:p>
            <a:pPr marL="609666" lvl="1" indent="-304833" algn="l">
              <a:lnSpc>
                <a:spcPts val="3953"/>
              </a:lnSpc>
              <a:buFont typeface="Arial"/>
              <a:buChar char="•"/>
            </a:pPr>
            <a:r>
              <a:rPr lang="en-US" sz="2823">
                <a:solidFill>
                  <a:srgbClr val="2E377F"/>
                </a:solidFill>
                <a:latin typeface="Poppins Light"/>
                <a:ea typeface="Poppins Light"/>
                <a:cs typeface="Poppins Light"/>
                <a:sym typeface="Poppins Light"/>
              </a:rPr>
              <a:t>Helps uncover the real problem</a:t>
            </a:r>
          </a:p>
          <a:p>
            <a:pPr marL="609666" lvl="1" indent="-304833" algn="l">
              <a:lnSpc>
                <a:spcPts val="3953"/>
              </a:lnSpc>
              <a:buFont typeface="Arial"/>
              <a:buChar char="•"/>
            </a:pPr>
            <a:r>
              <a:rPr lang="en-US" sz="2823">
                <a:solidFill>
                  <a:srgbClr val="2E377F"/>
                </a:solidFill>
                <a:latin typeface="Poppins Light"/>
                <a:ea typeface="Poppins Light"/>
                <a:cs typeface="Poppins Light"/>
                <a:sym typeface="Poppins Light"/>
              </a:rPr>
              <a:t>Creates emotional safety and openness</a:t>
            </a:r>
          </a:p>
          <a:p>
            <a:pPr marL="609666" lvl="1" indent="-304833" algn="l">
              <a:lnSpc>
                <a:spcPts val="3953"/>
              </a:lnSpc>
              <a:buFont typeface="Arial"/>
              <a:buChar char="•"/>
            </a:pPr>
            <a:r>
              <a:rPr lang="en-US" sz="2823">
                <a:solidFill>
                  <a:srgbClr val="2E377F"/>
                </a:solidFill>
                <a:latin typeface="Poppins Light"/>
                <a:ea typeface="Poppins Light"/>
                <a:cs typeface="Poppins Light"/>
                <a:sym typeface="Poppins Light"/>
              </a:rPr>
              <a:t>Makes problem-solving more effective</a:t>
            </a:r>
          </a:p>
          <a:p>
            <a:pPr marL="0" lvl="0" indent="0" algn="l">
              <a:lnSpc>
                <a:spcPts val="3512"/>
              </a:lnSpc>
              <a:spcBef>
                <a:spcPct val="0"/>
              </a:spcBef>
            </a:pPr>
            <a:endParaRPr lang="en-US" sz="2823">
              <a:solidFill>
                <a:srgbClr val="2E377F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>
              <a:lnSpc>
                <a:spcPts val="3512"/>
              </a:lnSpc>
              <a:spcBef>
                <a:spcPct val="0"/>
              </a:spcBef>
            </a:pPr>
            <a:r>
              <a:rPr lang="en-US" sz="2509" b="1" u="none">
                <a:solidFill>
                  <a:srgbClr val="2E377F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  <a:r>
              <a:rPr lang="en-US" sz="2509" u="none">
                <a:solidFill>
                  <a:srgbClr val="2E377F"/>
                </a:solidFill>
                <a:latin typeface="Poppins Light"/>
                <a:ea typeface="Poppins Light"/>
                <a:cs typeface="Poppins Light"/>
                <a:sym typeface="Poppins Light"/>
              </a:rPr>
              <a:t>:</a:t>
            </a:r>
          </a:p>
          <a:p>
            <a:pPr marL="0" lvl="0" indent="0" algn="l">
              <a:lnSpc>
                <a:spcPts val="3512"/>
              </a:lnSpc>
              <a:spcBef>
                <a:spcPct val="0"/>
              </a:spcBef>
            </a:pPr>
            <a:r>
              <a:rPr lang="en-US" sz="2509" u="none">
                <a:solidFill>
                  <a:srgbClr val="2E377F"/>
                </a:solidFill>
                <a:latin typeface="Poppins Light"/>
                <a:ea typeface="Poppins Light"/>
                <a:cs typeface="Poppins Light"/>
                <a:sym typeface="Poppins Light"/>
              </a:rPr>
              <a:t>When we listen with empathy, we create connection, improve communication, and open the door to better solutions</a:t>
            </a:r>
          </a:p>
        </p:txBody>
      </p:sp>
      <p:sp>
        <p:nvSpPr>
          <p:cNvPr id="5" name="Freeform 5"/>
          <p:cNvSpPr/>
          <p:nvPr/>
        </p:nvSpPr>
        <p:spPr>
          <a:xfrm>
            <a:off x="11200765" y="2855682"/>
            <a:ext cx="7087235" cy="6402618"/>
          </a:xfrm>
          <a:custGeom>
            <a:avLst/>
            <a:gdLst/>
            <a:ahLst/>
            <a:cxnLst/>
            <a:rect l="l" t="t" r="r" b="b"/>
            <a:pathLst>
              <a:path w="7087235" h="6402618">
                <a:moveTo>
                  <a:pt x="0" y="0"/>
                </a:moveTo>
                <a:lnTo>
                  <a:pt x="7087235" y="0"/>
                </a:lnTo>
                <a:lnTo>
                  <a:pt x="7087235" y="6402618"/>
                </a:lnTo>
                <a:lnTo>
                  <a:pt x="0" y="64026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947537"/>
            <a:ext cx="16230600" cy="685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99"/>
              </a:lnSpc>
            </a:pPr>
            <a:r>
              <a:rPr lang="en-US" sz="2999">
                <a:solidFill>
                  <a:srgbClr val="2B3372"/>
                </a:solidFill>
                <a:latin typeface="Oilvare Base"/>
                <a:ea typeface="Oilvare Base"/>
                <a:cs typeface="Oilvare Base"/>
                <a:sym typeface="Oilvare Base"/>
              </a:rPr>
              <a:t>HABIT 5 – SEEK FIRST TO UNDERSTAND, THEN TO BE UNDERSTOOD</a:t>
            </a:r>
          </a:p>
          <a:p>
            <a:pPr algn="l">
              <a:lnSpc>
                <a:spcPts val="2699"/>
              </a:lnSpc>
              <a:spcBef>
                <a:spcPct val="0"/>
              </a:spcBef>
            </a:pPr>
            <a:endParaRPr lang="en-US" sz="2999">
              <a:solidFill>
                <a:srgbClr val="2B3372"/>
              </a:solidFill>
              <a:latin typeface="Oilvare Base"/>
              <a:ea typeface="Oilvare Base"/>
              <a:cs typeface="Oilvare Base"/>
              <a:sym typeface="Oilvare Base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-9525" y="2346678"/>
            <a:ext cx="8503898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19"/>
              </a:lnSpc>
              <a:spcBef>
                <a:spcPct val="0"/>
              </a:spcBef>
            </a:pPr>
            <a:r>
              <a:rPr lang="en-US" sz="2599">
                <a:solidFill>
                  <a:srgbClr val="2E377F"/>
                </a:solidFill>
                <a:latin typeface="Oilvare Base"/>
                <a:ea typeface="Oilvare Base"/>
                <a:cs typeface="Oilvare Base"/>
                <a:sym typeface="Oilvare Base"/>
              </a:rPr>
              <a:t>Benefits of Practicing Habit 5: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C1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6617125" flipV="1">
            <a:off x="-1593380" y="2023040"/>
            <a:ext cx="8489789" cy="5995914"/>
          </a:xfrm>
          <a:custGeom>
            <a:avLst/>
            <a:gdLst/>
            <a:ahLst/>
            <a:cxnLst/>
            <a:rect l="l" t="t" r="r" b="b"/>
            <a:pathLst>
              <a:path w="8489789" h="5995914">
                <a:moveTo>
                  <a:pt x="0" y="5995914"/>
                </a:moveTo>
                <a:lnTo>
                  <a:pt x="8489789" y="5995914"/>
                </a:lnTo>
                <a:lnTo>
                  <a:pt x="8489789" y="0"/>
                </a:lnTo>
                <a:lnTo>
                  <a:pt x="0" y="0"/>
                </a:lnTo>
                <a:lnTo>
                  <a:pt x="0" y="599591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749141" y="1597343"/>
            <a:ext cx="11538859" cy="908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2600">
                <a:solidFill>
                  <a:srgbClr val="574492"/>
                </a:solidFill>
                <a:latin typeface="Oilvare Base"/>
                <a:ea typeface="Oilvare Base"/>
                <a:cs typeface="Oilvare Base"/>
                <a:sym typeface="Oilvare Base"/>
              </a:rPr>
              <a:t>‎HABIT 6 – SYNERGIZE (TEAMWORK)</a:t>
            </a:r>
          </a:p>
          <a:p>
            <a:pPr algn="l">
              <a:lnSpc>
                <a:spcPts val="2340"/>
              </a:lnSpc>
            </a:pPr>
            <a:r>
              <a:rPr lang="en-US" sz="2600">
                <a:solidFill>
                  <a:srgbClr val="574492"/>
                </a:solidFill>
                <a:latin typeface="Oilvare Base"/>
                <a:ea typeface="Oilvare Base"/>
                <a:cs typeface="Oilvare Base"/>
                <a:sym typeface="Oilvare Base"/>
              </a:rPr>
              <a:t>‎(FROM THE 7 HABITS OF HIGHLY EFFECTIVE PEOPLE)</a:t>
            </a:r>
          </a:p>
          <a:p>
            <a:pPr algn="l">
              <a:lnSpc>
                <a:spcPts val="2340"/>
              </a:lnSpc>
              <a:spcBef>
                <a:spcPct val="0"/>
              </a:spcBef>
            </a:pPr>
            <a:endParaRPr lang="en-US" sz="2600">
              <a:solidFill>
                <a:srgbClr val="574492"/>
              </a:solidFill>
              <a:latin typeface="Oilvare Base"/>
              <a:ea typeface="Oilvare Base"/>
              <a:cs typeface="Oilvare Base"/>
              <a:sym typeface="Oilvare Base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935223" y="2401253"/>
            <a:ext cx="9672016" cy="5972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73"/>
              </a:lnSpc>
            </a:pPr>
            <a:r>
              <a:rPr lang="en-US" sz="3409">
                <a:solidFill>
                  <a:srgbClr val="2E377F"/>
                </a:solidFill>
                <a:latin typeface="Poppins"/>
                <a:ea typeface="Poppins"/>
                <a:cs typeface="Poppins"/>
                <a:sym typeface="Poppins"/>
              </a:rPr>
              <a:t>Definition &amp; Key Points</a:t>
            </a:r>
          </a:p>
          <a:p>
            <a:pPr algn="l">
              <a:lnSpc>
                <a:spcPts val="4773"/>
              </a:lnSpc>
            </a:pPr>
            <a:r>
              <a:rPr lang="en-US" sz="3409">
                <a:solidFill>
                  <a:srgbClr val="2E377F"/>
                </a:solidFill>
                <a:latin typeface="Poppins"/>
                <a:ea typeface="Poppins"/>
                <a:cs typeface="Poppins"/>
                <a:sym typeface="Poppins"/>
              </a:rPr>
              <a:t>‎Synergy means working together for better results</a:t>
            </a:r>
          </a:p>
          <a:p>
            <a:pPr algn="l">
              <a:lnSpc>
                <a:spcPts val="4773"/>
              </a:lnSpc>
            </a:pPr>
            <a:r>
              <a:rPr lang="en-US" sz="3409">
                <a:solidFill>
                  <a:srgbClr val="2E377F"/>
                </a:solidFill>
                <a:latin typeface="Poppins"/>
                <a:ea typeface="Poppins"/>
                <a:cs typeface="Poppins"/>
                <a:sym typeface="Poppins"/>
              </a:rPr>
              <a:t>‎“Together we are stronger”</a:t>
            </a:r>
          </a:p>
          <a:p>
            <a:pPr algn="l">
              <a:lnSpc>
                <a:spcPts val="4773"/>
              </a:lnSpc>
            </a:pPr>
            <a:r>
              <a:rPr lang="en-US" sz="3409">
                <a:solidFill>
                  <a:srgbClr val="2E377F"/>
                </a:solidFill>
                <a:latin typeface="Poppins"/>
                <a:ea typeface="Poppins"/>
                <a:cs typeface="Poppins"/>
                <a:sym typeface="Poppins"/>
              </a:rPr>
              <a:t>‎Everyone has different ideas and perspectives</a:t>
            </a:r>
          </a:p>
          <a:p>
            <a:pPr algn="l">
              <a:lnSpc>
                <a:spcPts val="4773"/>
              </a:lnSpc>
            </a:pPr>
            <a:r>
              <a:rPr lang="en-US" sz="3409">
                <a:solidFill>
                  <a:srgbClr val="2E377F"/>
                </a:solidFill>
                <a:latin typeface="Poppins"/>
                <a:ea typeface="Poppins"/>
                <a:cs typeface="Poppins"/>
                <a:sym typeface="Poppins"/>
              </a:rPr>
              <a:t>‎Respect differences</a:t>
            </a:r>
          </a:p>
          <a:p>
            <a:pPr algn="l">
              <a:lnSpc>
                <a:spcPts val="4773"/>
              </a:lnSpc>
            </a:pPr>
            <a:r>
              <a:rPr lang="en-US" sz="3409">
                <a:solidFill>
                  <a:srgbClr val="2E377F"/>
                </a:solidFill>
                <a:latin typeface="Poppins"/>
                <a:ea typeface="Poppins"/>
                <a:cs typeface="Poppins"/>
                <a:sym typeface="Poppins"/>
              </a:rPr>
              <a:t>‎Open communication leads to better solutions</a:t>
            </a:r>
          </a:p>
          <a:p>
            <a:pPr marL="0" lvl="0" indent="0" algn="l">
              <a:lnSpc>
                <a:spcPts val="4773"/>
              </a:lnSpc>
              <a:spcBef>
                <a:spcPct val="0"/>
              </a:spcBef>
            </a:pPr>
            <a:endParaRPr lang="en-US" sz="3409">
              <a:solidFill>
                <a:srgbClr val="2E377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028700" y="2963597"/>
            <a:ext cx="3842194" cy="4114800"/>
          </a:xfrm>
          <a:custGeom>
            <a:avLst/>
            <a:gdLst/>
            <a:ahLst/>
            <a:cxnLst/>
            <a:rect l="l" t="t" r="r" b="b"/>
            <a:pathLst>
              <a:path w="3842194" h="4114800">
                <a:moveTo>
                  <a:pt x="0" y="0"/>
                </a:moveTo>
                <a:lnTo>
                  <a:pt x="3842194" y="0"/>
                </a:lnTo>
                <a:lnTo>
                  <a:pt x="38421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C1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6617125" flipV="1">
            <a:off x="-1593380" y="2023040"/>
            <a:ext cx="8489789" cy="5995914"/>
          </a:xfrm>
          <a:custGeom>
            <a:avLst/>
            <a:gdLst/>
            <a:ahLst/>
            <a:cxnLst/>
            <a:rect l="l" t="t" r="r" b="b"/>
            <a:pathLst>
              <a:path w="8489789" h="5995914">
                <a:moveTo>
                  <a:pt x="0" y="5995914"/>
                </a:moveTo>
                <a:lnTo>
                  <a:pt x="8489789" y="5995914"/>
                </a:lnTo>
                <a:lnTo>
                  <a:pt x="8489789" y="0"/>
                </a:lnTo>
                <a:lnTo>
                  <a:pt x="0" y="0"/>
                </a:lnTo>
                <a:lnTo>
                  <a:pt x="0" y="599591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935223" y="2698956"/>
            <a:ext cx="10324077" cy="5376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73"/>
              </a:lnSpc>
            </a:pPr>
            <a:r>
              <a:rPr lang="en-US" sz="3409">
                <a:solidFill>
                  <a:srgbClr val="2E377F"/>
                </a:solidFill>
                <a:latin typeface="Poppins"/>
                <a:ea typeface="Poppins"/>
                <a:cs typeface="Poppins"/>
                <a:sym typeface="Poppins"/>
              </a:rPr>
              <a:t>Example &amp; Conclusion (by Stephen Covey)</a:t>
            </a:r>
          </a:p>
          <a:p>
            <a:pPr algn="l">
              <a:lnSpc>
                <a:spcPts val="4773"/>
              </a:lnSpc>
            </a:pPr>
            <a:r>
              <a:rPr lang="en-US" sz="3409">
                <a:solidFill>
                  <a:srgbClr val="2E377F"/>
                </a:solidFill>
                <a:latin typeface="Poppins"/>
                <a:ea typeface="Poppins"/>
                <a:cs typeface="Poppins"/>
                <a:sym typeface="Poppins"/>
              </a:rPr>
              <a:t>‎Group assignments improve when all members share ideas</a:t>
            </a:r>
          </a:p>
          <a:p>
            <a:pPr algn="l">
              <a:lnSpc>
                <a:spcPts val="4773"/>
              </a:lnSpc>
            </a:pPr>
            <a:r>
              <a:rPr lang="en-US" sz="3409">
                <a:solidFill>
                  <a:srgbClr val="2E377F"/>
                </a:solidFill>
                <a:latin typeface="Poppins"/>
                <a:ea typeface="Poppins"/>
                <a:cs typeface="Poppins"/>
                <a:sym typeface="Poppins"/>
              </a:rPr>
              <a:t>‎Sports teams win through coordination and teamwork</a:t>
            </a:r>
          </a:p>
          <a:p>
            <a:pPr algn="l">
              <a:lnSpc>
                <a:spcPts val="4773"/>
              </a:lnSpc>
            </a:pPr>
            <a:r>
              <a:rPr lang="en-US" sz="3409">
                <a:solidFill>
                  <a:srgbClr val="2E377F"/>
                </a:solidFill>
                <a:latin typeface="Poppins"/>
                <a:ea typeface="Poppins"/>
                <a:cs typeface="Poppins"/>
                <a:sym typeface="Poppins"/>
              </a:rPr>
              <a:t>‎Teamwork creates stronger outcomes than individual effort</a:t>
            </a:r>
          </a:p>
          <a:p>
            <a:pPr algn="l">
              <a:lnSpc>
                <a:spcPts val="4773"/>
              </a:lnSpc>
            </a:pPr>
            <a:r>
              <a:rPr lang="en-US" sz="3409">
                <a:solidFill>
                  <a:srgbClr val="2E377F"/>
                </a:solidFill>
                <a:latin typeface="Poppins"/>
                <a:ea typeface="Poppins"/>
                <a:cs typeface="Poppins"/>
                <a:sym typeface="Poppins"/>
              </a:rPr>
              <a:t>‎Quote:</a:t>
            </a:r>
          </a:p>
          <a:p>
            <a:pPr marL="0" lvl="0" indent="0" algn="l">
              <a:lnSpc>
                <a:spcPts val="4773"/>
              </a:lnSpc>
              <a:spcBef>
                <a:spcPct val="0"/>
              </a:spcBef>
            </a:pPr>
            <a:r>
              <a:rPr lang="en-US" sz="3409">
                <a:solidFill>
                  <a:srgbClr val="2E377F"/>
                </a:solidFill>
                <a:latin typeface="Poppins"/>
                <a:ea typeface="Poppins"/>
                <a:cs typeface="Poppins"/>
                <a:sym typeface="Poppins"/>
              </a:rPr>
              <a:t>‎“The whole is greater than the sum of its parts.”</a:t>
            </a:r>
          </a:p>
        </p:txBody>
      </p:sp>
      <p:sp>
        <p:nvSpPr>
          <p:cNvPr id="4" name="Freeform 4"/>
          <p:cNvSpPr/>
          <p:nvPr/>
        </p:nvSpPr>
        <p:spPr>
          <a:xfrm>
            <a:off x="730418" y="2963597"/>
            <a:ext cx="3842194" cy="4114800"/>
          </a:xfrm>
          <a:custGeom>
            <a:avLst/>
            <a:gdLst/>
            <a:ahLst/>
            <a:cxnLst/>
            <a:rect l="l" t="t" r="r" b="b"/>
            <a:pathLst>
              <a:path w="3842194" h="4114800">
                <a:moveTo>
                  <a:pt x="0" y="0"/>
                </a:moveTo>
                <a:lnTo>
                  <a:pt x="3842194" y="0"/>
                </a:lnTo>
                <a:lnTo>
                  <a:pt x="38421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749141" y="1597343"/>
            <a:ext cx="11538859" cy="908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2600">
                <a:solidFill>
                  <a:srgbClr val="574492"/>
                </a:solidFill>
                <a:latin typeface="Oilvare Base"/>
                <a:ea typeface="Oilvare Base"/>
                <a:cs typeface="Oilvare Base"/>
                <a:sym typeface="Oilvare Base"/>
              </a:rPr>
              <a:t>‎HABIT 6 – SYNERGIZE (TEAMWORK)</a:t>
            </a:r>
          </a:p>
          <a:p>
            <a:pPr algn="l">
              <a:lnSpc>
                <a:spcPts val="2340"/>
              </a:lnSpc>
            </a:pPr>
            <a:r>
              <a:rPr lang="en-US" sz="2600">
                <a:solidFill>
                  <a:srgbClr val="574492"/>
                </a:solidFill>
                <a:latin typeface="Oilvare Base"/>
                <a:ea typeface="Oilvare Base"/>
                <a:cs typeface="Oilvare Base"/>
                <a:sym typeface="Oilvare Base"/>
              </a:rPr>
              <a:t>‎(FROM THE 7 HABITS OF HIGHLY EFFECTIVE PEOPLE)</a:t>
            </a:r>
          </a:p>
          <a:p>
            <a:pPr algn="l">
              <a:lnSpc>
                <a:spcPts val="2340"/>
              </a:lnSpc>
              <a:spcBef>
                <a:spcPct val="0"/>
              </a:spcBef>
            </a:pPr>
            <a:endParaRPr lang="en-US" sz="2600">
              <a:solidFill>
                <a:srgbClr val="574492"/>
              </a:solidFill>
              <a:latin typeface="Oilvare Base"/>
              <a:ea typeface="Oilvare Base"/>
              <a:cs typeface="Oilvare Base"/>
              <a:sym typeface="Oilvare Bas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176035" y="1610017"/>
            <a:ext cx="10083265" cy="6413149"/>
            <a:chOff x="0" y="0"/>
            <a:chExt cx="13444354" cy="8550865"/>
          </a:xfrm>
        </p:grpSpPr>
        <p:sp>
          <p:nvSpPr>
            <p:cNvPr id="3" name="TextBox 3"/>
            <p:cNvSpPr txBox="1"/>
            <p:nvPr/>
          </p:nvSpPr>
          <p:spPr>
            <a:xfrm>
              <a:off x="0" y="0"/>
              <a:ext cx="13444354" cy="15087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509"/>
                </a:lnSpc>
                <a:spcBef>
                  <a:spcPct val="0"/>
                </a:spcBef>
              </a:pPr>
              <a:r>
                <a:rPr lang="en-US" sz="3757">
                  <a:solidFill>
                    <a:srgbClr val="2E377F"/>
                  </a:solidFill>
                  <a:latin typeface="Oilvare Base"/>
                  <a:ea typeface="Oilvare Base"/>
                  <a:cs typeface="Oilvare Base"/>
                  <a:sym typeface="Oilvare Base"/>
                </a:rPr>
                <a:t>‎Habit 7 – Sharpen the Saw (Self-Improvement)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004925"/>
              <a:ext cx="12133243" cy="65459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864"/>
                </a:lnSpc>
              </a:pPr>
              <a:r>
                <a:rPr lang="en-US" sz="3474">
                  <a:solidFill>
                    <a:srgbClr val="2E377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Definition</a:t>
              </a:r>
            </a:p>
            <a:p>
              <a:pPr algn="l">
                <a:lnSpc>
                  <a:spcPts val="4864"/>
                </a:lnSpc>
              </a:pPr>
              <a:r>
                <a:rPr lang="en-US" sz="3474">
                  <a:solidFill>
                    <a:srgbClr val="2E377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‎Continuous self-improvement to stay effective</a:t>
              </a:r>
            </a:p>
            <a:p>
              <a:pPr algn="l">
                <a:lnSpc>
                  <a:spcPts val="4864"/>
                </a:lnSpc>
              </a:pPr>
              <a:r>
                <a:rPr lang="en-US" sz="3474">
                  <a:solidFill>
                    <a:srgbClr val="2E377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‎Physical → Exercise, health</a:t>
              </a:r>
            </a:p>
            <a:p>
              <a:pPr algn="l">
                <a:lnSpc>
                  <a:spcPts val="4864"/>
                </a:lnSpc>
              </a:pPr>
              <a:r>
                <a:rPr lang="en-US" sz="3474">
                  <a:solidFill>
                    <a:srgbClr val="2E377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‎Mental → Learning, reading</a:t>
              </a:r>
            </a:p>
            <a:p>
              <a:pPr algn="l">
                <a:lnSpc>
                  <a:spcPts val="4864"/>
                </a:lnSpc>
              </a:pPr>
              <a:r>
                <a:rPr lang="en-US" sz="3474">
                  <a:solidFill>
                    <a:srgbClr val="2E377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‎Social → Relationships, communication</a:t>
              </a:r>
            </a:p>
            <a:p>
              <a:pPr algn="l">
                <a:lnSpc>
                  <a:spcPts val="4864"/>
                </a:lnSpc>
              </a:pPr>
              <a:r>
                <a:rPr lang="en-US" sz="3474">
                  <a:solidFill>
                    <a:srgbClr val="2E377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‎Spiritual → Inner peace, values</a:t>
              </a:r>
            </a:p>
            <a:p>
              <a:pPr marL="0" lvl="0" indent="0" algn="l">
                <a:lnSpc>
                  <a:spcPts val="4864"/>
                </a:lnSpc>
                <a:spcBef>
                  <a:spcPct val="0"/>
                </a:spcBef>
              </a:pPr>
              <a:endParaRPr lang="en-US" sz="3474">
                <a:solidFill>
                  <a:srgbClr val="2E377F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 rot="5400000" flipV="1">
            <a:off x="-2146258" y="1581210"/>
            <a:ext cx="10087902" cy="7124581"/>
          </a:xfrm>
          <a:custGeom>
            <a:avLst/>
            <a:gdLst/>
            <a:ahLst/>
            <a:cxnLst/>
            <a:rect l="l" t="t" r="r" b="b"/>
            <a:pathLst>
              <a:path w="10087902" h="7124581">
                <a:moveTo>
                  <a:pt x="0" y="7124580"/>
                </a:moveTo>
                <a:lnTo>
                  <a:pt x="10087901" y="7124580"/>
                </a:lnTo>
                <a:lnTo>
                  <a:pt x="10087901" y="0"/>
                </a:lnTo>
                <a:lnTo>
                  <a:pt x="0" y="0"/>
                </a:lnTo>
                <a:lnTo>
                  <a:pt x="0" y="712458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3500" y="2035446"/>
            <a:ext cx="5548385" cy="5562291"/>
          </a:xfrm>
          <a:custGeom>
            <a:avLst/>
            <a:gdLst/>
            <a:ahLst/>
            <a:cxnLst/>
            <a:rect l="l" t="t" r="r" b="b"/>
            <a:pathLst>
              <a:path w="5548385" h="5562291">
                <a:moveTo>
                  <a:pt x="0" y="0"/>
                </a:moveTo>
                <a:lnTo>
                  <a:pt x="5548385" y="0"/>
                </a:lnTo>
                <a:lnTo>
                  <a:pt x="5548385" y="5562291"/>
                </a:lnTo>
                <a:lnTo>
                  <a:pt x="0" y="55622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176035" y="1610017"/>
            <a:ext cx="10083265" cy="6854669"/>
            <a:chOff x="0" y="0"/>
            <a:chExt cx="13444354" cy="9139559"/>
          </a:xfrm>
        </p:grpSpPr>
        <p:sp>
          <p:nvSpPr>
            <p:cNvPr id="3" name="TextBox 3"/>
            <p:cNvSpPr txBox="1"/>
            <p:nvPr/>
          </p:nvSpPr>
          <p:spPr>
            <a:xfrm>
              <a:off x="0" y="0"/>
              <a:ext cx="13444354" cy="13528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043"/>
                </a:lnSpc>
                <a:spcBef>
                  <a:spcPct val="0"/>
                </a:spcBef>
              </a:pPr>
              <a:r>
                <a:rPr lang="en-US" sz="3369">
                  <a:solidFill>
                    <a:srgbClr val="2E377F"/>
                  </a:solidFill>
                  <a:latin typeface="Oilvare Base"/>
                  <a:ea typeface="Oilvare Base"/>
                  <a:cs typeface="Oilvare Base"/>
                  <a:sym typeface="Oilvare Base"/>
                </a:rPr>
                <a:t>‎Habit 7 – Sharpen the Saw (Self-Improvement)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787881"/>
              <a:ext cx="12133243" cy="73516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361"/>
                </a:lnSpc>
              </a:pPr>
              <a:r>
                <a:rPr lang="en-US" sz="3115">
                  <a:solidFill>
                    <a:srgbClr val="2E377F"/>
                  </a:solidFill>
                  <a:latin typeface="Poppins"/>
                  <a:ea typeface="Poppins"/>
                  <a:cs typeface="Poppins"/>
                  <a:sym typeface="Poppins"/>
                </a:rPr>
                <a:t>Example &amp; Conclusion (by Stephen Covey)</a:t>
              </a:r>
            </a:p>
            <a:p>
              <a:pPr algn="l">
                <a:lnSpc>
                  <a:spcPts val="4361"/>
                </a:lnSpc>
              </a:pPr>
              <a:r>
                <a:rPr lang="en-US" sz="3115">
                  <a:solidFill>
                    <a:srgbClr val="2E377F"/>
                  </a:solidFill>
                  <a:latin typeface="Poppins"/>
                  <a:ea typeface="Poppins"/>
                  <a:cs typeface="Poppins"/>
                  <a:sym typeface="Poppins"/>
                </a:rPr>
                <a:t>‎Only studying leads to burnout and low productivity</a:t>
              </a:r>
            </a:p>
            <a:p>
              <a:pPr algn="l">
                <a:lnSpc>
                  <a:spcPts val="4361"/>
                </a:lnSpc>
              </a:pPr>
              <a:r>
                <a:rPr lang="en-US" sz="3115">
                  <a:solidFill>
                    <a:srgbClr val="2E377F"/>
                  </a:solidFill>
                  <a:latin typeface="Poppins"/>
                  <a:ea typeface="Poppins"/>
                  <a:cs typeface="Poppins"/>
                  <a:sym typeface="Poppins"/>
                </a:rPr>
                <a:t>‎Balanced routine (study + rest + exercise) improves performance</a:t>
              </a:r>
            </a:p>
            <a:p>
              <a:pPr algn="l">
                <a:lnSpc>
                  <a:spcPts val="4361"/>
                </a:lnSpc>
              </a:pPr>
              <a:r>
                <a:rPr lang="en-US" sz="3115">
                  <a:solidFill>
                    <a:srgbClr val="2E377F"/>
                  </a:solidFill>
                  <a:latin typeface="Poppins"/>
                  <a:ea typeface="Poppins"/>
                  <a:cs typeface="Poppins"/>
                  <a:sym typeface="Poppins"/>
                </a:rPr>
                <a:t>‎Balance leads to long-term success</a:t>
              </a:r>
            </a:p>
            <a:p>
              <a:pPr algn="l">
                <a:lnSpc>
                  <a:spcPts val="4361"/>
                </a:lnSpc>
              </a:pPr>
              <a:r>
                <a:rPr lang="en-US" sz="3115">
                  <a:solidFill>
                    <a:srgbClr val="2E377F"/>
                  </a:solidFill>
                  <a:latin typeface="Poppins"/>
                  <a:ea typeface="Poppins"/>
                  <a:cs typeface="Poppins"/>
                  <a:sym typeface="Poppins"/>
                </a:rPr>
                <a:t>‎Quote:</a:t>
              </a:r>
            </a:p>
            <a:p>
              <a:pPr algn="l">
                <a:lnSpc>
                  <a:spcPts val="4361"/>
                </a:lnSpc>
              </a:pPr>
              <a:r>
                <a:rPr lang="en-US" sz="3115">
                  <a:solidFill>
                    <a:srgbClr val="2E377F"/>
                  </a:solidFill>
                  <a:latin typeface="Poppins"/>
                  <a:ea typeface="Poppins"/>
                  <a:cs typeface="Poppins"/>
                  <a:sym typeface="Poppins"/>
                </a:rPr>
                <a:t>‎“Sharpen the saw means preserving and enhancing the greatest asset you have—you.”</a:t>
              </a:r>
            </a:p>
            <a:p>
              <a:pPr marL="0" lvl="0" indent="0" algn="l">
                <a:lnSpc>
                  <a:spcPts val="4361"/>
                </a:lnSpc>
                <a:spcBef>
                  <a:spcPct val="0"/>
                </a:spcBef>
              </a:pPr>
              <a:endParaRPr lang="en-US" sz="3115">
                <a:solidFill>
                  <a:srgbClr val="2E377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 rot="5400000" flipV="1">
            <a:off x="-2146258" y="1581210"/>
            <a:ext cx="10087902" cy="7124581"/>
          </a:xfrm>
          <a:custGeom>
            <a:avLst/>
            <a:gdLst/>
            <a:ahLst/>
            <a:cxnLst/>
            <a:rect l="l" t="t" r="r" b="b"/>
            <a:pathLst>
              <a:path w="10087902" h="7124581">
                <a:moveTo>
                  <a:pt x="0" y="7124580"/>
                </a:moveTo>
                <a:lnTo>
                  <a:pt x="10087901" y="7124580"/>
                </a:lnTo>
                <a:lnTo>
                  <a:pt x="10087901" y="0"/>
                </a:lnTo>
                <a:lnTo>
                  <a:pt x="0" y="0"/>
                </a:lnTo>
                <a:lnTo>
                  <a:pt x="0" y="712458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3500" y="2035446"/>
            <a:ext cx="5548385" cy="5562291"/>
          </a:xfrm>
          <a:custGeom>
            <a:avLst/>
            <a:gdLst/>
            <a:ahLst/>
            <a:cxnLst/>
            <a:rect l="l" t="t" r="r" b="b"/>
            <a:pathLst>
              <a:path w="5548385" h="5562291">
                <a:moveTo>
                  <a:pt x="0" y="0"/>
                </a:moveTo>
                <a:lnTo>
                  <a:pt x="5548385" y="0"/>
                </a:lnTo>
                <a:lnTo>
                  <a:pt x="5548385" y="5562291"/>
                </a:lnTo>
                <a:lnTo>
                  <a:pt x="0" y="55622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143500"/>
            <a:ext cx="18288000" cy="5143500"/>
            <a:chOff x="0" y="0"/>
            <a:chExt cx="6186311" cy="17399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186311" cy="1739900"/>
            </a:xfrm>
            <a:custGeom>
              <a:avLst/>
              <a:gdLst/>
              <a:ahLst/>
              <a:cxnLst/>
              <a:rect l="l" t="t" r="r" b="b"/>
              <a:pathLst>
                <a:path w="6186311" h="1739900">
                  <a:moveTo>
                    <a:pt x="0" y="0"/>
                  </a:moveTo>
                  <a:lnTo>
                    <a:pt x="6186311" y="0"/>
                  </a:lnTo>
                  <a:lnTo>
                    <a:pt x="6186311" y="1739900"/>
                  </a:lnTo>
                  <a:lnTo>
                    <a:pt x="0" y="1739900"/>
                  </a:lnTo>
                  <a:close/>
                </a:path>
              </a:pathLst>
            </a:custGeom>
            <a:solidFill>
              <a:srgbClr val="DBC1E5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1028700" y="2110315"/>
            <a:ext cx="6092155" cy="5947467"/>
          </a:xfrm>
          <a:custGeom>
            <a:avLst/>
            <a:gdLst/>
            <a:ahLst/>
            <a:cxnLst/>
            <a:rect l="l" t="t" r="r" b="b"/>
            <a:pathLst>
              <a:path w="6092155" h="5947467">
                <a:moveTo>
                  <a:pt x="0" y="0"/>
                </a:moveTo>
                <a:lnTo>
                  <a:pt x="6092155" y="0"/>
                </a:lnTo>
                <a:lnTo>
                  <a:pt x="6092155" y="5947467"/>
                </a:lnTo>
                <a:lnTo>
                  <a:pt x="0" y="5947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977735" y="3413726"/>
            <a:ext cx="9611132" cy="1965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55"/>
              </a:lnSpc>
              <a:spcBef>
                <a:spcPct val="0"/>
              </a:spcBef>
            </a:pPr>
            <a:r>
              <a:rPr lang="en-US" sz="15950">
                <a:solidFill>
                  <a:srgbClr val="574492"/>
                </a:solidFill>
                <a:latin typeface="Oilvare Base"/>
                <a:ea typeface="Oilvare Base"/>
                <a:cs typeface="Oilvare Base"/>
                <a:sym typeface="Oilvare Base"/>
              </a:rPr>
              <a:t>THANK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977735" y="5591175"/>
            <a:ext cx="8735309" cy="198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0"/>
              </a:lnSpc>
              <a:spcBef>
                <a:spcPct val="0"/>
              </a:spcBef>
            </a:pPr>
            <a:r>
              <a:rPr lang="en-US" sz="16000">
                <a:solidFill>
                  <a:srgbClr val="574492"/>
                </a:solidFill>
                <a:latin typeface="Oilvare Base"/>
                <a:ea typeface="Oilvare Base"/>
                <a:cs typeface="Oilvare Base"/>
                <a:sym typeface="Oilvare Base"/>
              </a:rPr>
              <a:t>YOU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995</Words>
  <Application>Microsoft Office PowerPoint</Application>
  <PresentationFormat>Custom</PresentationFormat>
  <Paragraphs>149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Poppins Light</vt:lpstr>
      <vt:lpstr>Poppins Bold</vt:lpstr>
      <vt:lpstr>Oilvare Base</vt:lpstr>
      <vt:lpstr>Calibri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Take responsibility for your life Focus on things you can control Choose your response, not your reaction Act based on values, not emotions Take initiative in every situation Slide 2: Habit 1 – Key Idea &amp; Quote (by Stephen Covey) Focus on solutions, not</dc:title>
  <cp:lastModifiedBy>Admin</cp:lastModifiedBy>
  <cp:revision>2</cp:revision>
  <dcterms:created xsi:type="dcterms:W3CDTF">2006-08-16T00:00:00Z</dcterms:created>
  <dcterms:modified xsi:type="dcterms:W3CDTF">2026-04-21T19:39:52Z</dcterms:modified>
  <dc:identifier>DAHHfreTJYw</dc:identifier>
</cp:coreProperties>
</file>